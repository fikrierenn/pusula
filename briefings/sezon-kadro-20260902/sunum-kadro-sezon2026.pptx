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71.83742911999416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122.60138084999467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5578.70462962963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30.5442513521349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57.55862375816305</c:v>
                </c:pt>
                <c:pt idx="1">
                  <c:v>96.12850541161306</c:v>
                </c:pt>
                <c:pt idx="2">
                  <c:v>62.2675266100448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458.50870000000003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483.65855000000005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617.2970044317599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Relationship Id="rId5" Type="http://schemas.openxmlformats.org/officeDocument/2006/relationships/image" Target="../media/image9.png"/><Relationship Id="rId6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chart" Target="../charts/char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Kapsam ve İçerik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569" y="1692097"/>
            <a:ext cx="291693" cy="2916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gelişimi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Taban 30.06 · sezon içi hareket · sezonluk kadro.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329" y="1692097"/>
            <a:ext cx="291693" cy="29169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İş hacmi gelişimi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Elleçlenen ürün adedi ve ciro, aynı dönemde.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37160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66760" y="157276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6089" y="1692097"/>
            <a:ext cx="291693" cy="29169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219456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Personel başına iş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54203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Kadro büyümesiyle iş büyümesinin karşılaştırması.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724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569" y="3658057"/>
            <a:ext cx="291693" cy="29169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Kadro dağılımı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Bölüm ve mağaza bazında artışın dağılımı.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7200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1329" y="3658057"/>
            <a:ext cx="291693" cy="29169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7200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Yöntem ve açıklamalar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Enflasyon · kurumsal kanal · sistem geçişi · takvim.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3337560"/>
            <a:ext cx="35661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0" y="3337560"/>
            <a:ext cx="68580" cy="17830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66760" y="3538728"/>
            <a:ext cx="530352" cy="530352"/>
          </a:xfrm>
          <a:prstGeom prst="ellipse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alert-triangl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089" y="3658057"/>
            <a:ext cx="291693" cy="29169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366760" y="41605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B2B2B"/>
                </a:solidFill>
                <a:latin typeface="Calibri"/>
              </a:rPr>
              <a:t>İyileştirme alanı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50799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E6E6E"/>
                </a:solidFill>
                <a:latin typeface="Calibri"/>
              </a:rPr>
              <a:t>Yeni alınan personelin ilk iki haftada kalma oranı.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49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TABAN FARKI · 30.06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139 → 153 kişi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3831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İÇİ KADROLU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1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30622"/>
                </a:solidFill>
                <a:latin typeface="Calibri"/>
              </a:rPr>
              <a:t>-4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1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153 → 149 · geçen yıl -4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75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251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ÜRÜN ADEDİ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400" y="1371600"/>
            <a:ext cx="2651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154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171432" y="1536192"/>
            <a:ext cx="17830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KİŞİ BAŞI ÜRÜN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1975104"/>
            <a:ext cx="22402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+%20,6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2688336"/>
            <a:ext cx="22402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4.019 → 4.845 adet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429000"/>
            <a:ext cx="11018520" cy="8686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429000"/>
            <a:ext cx="105156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farkı sezon öncesinde oluşmuştur; sezon döneminde kadro azalırken iş hacmi %34,9 artmıştır.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434840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434840"/>
            <a:ext cx="68580" cy="100584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 · ÜÇ POS MAĞAZASI (SEZONLUK DAHİL)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B2B2B"/>
                </a:solidFill>
                <a:latin typeface="Calibri"/>
              </a:rPr>
              <a:t>143 → 160 kişi  (+%11,9)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4434840"/>
            <a:ext cx="53949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4434840"/>
            <a:ext cx="68580" cy="100584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4526280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İŞ HACMİ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8006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30622"/>
                </a:solidFill>
                <a:latin typeface="Calibri"/>
              </a:rPr>
              <a:t>iş hacmi, kadronun 2,9 katı oranında artmıştır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Kadro: beş mağaza (FSM · Özlüce · İst. Yolu · Heykel · Şura), ölçüm noktaları 30.06 ve 31.08 · İş hacmi ve personel başına: üç POS mağazası (FSM · Özlüce · İst. Yolu), dönem 01.07 – 25.08.2025 (2025) · 07.07 – 31.08.2026 (2026), her iki yıl 56 gün, okul açılışına hizalı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9776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68580" cy="17373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68580" cy="17373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20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05840"/>
                <a:gridCol w="1005840"/>
                <a:gridCol w="1005840"/>
                <a:gridCol w="1005840"/>
                <a:gridCol w="841248"/>
                <a:gridCol w="841248"/>
                <a:gridCol w="1005840"/>
                <a:gridCol w="1005840"/>
                <a:gridCol w="941832"/>
                <a:gridCol w="9418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6583680" y="160020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78892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977639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başı = 31 Ağustos'ta o mağazada fiilen çalışan TÜM personel (sezonluk dahil). Kadrosu en çok büyüyen mağazada dahi kişi başı iş artmıştır (İst. Yolu 50 → 61).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6002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68580" cy="109728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68580" cy="10972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0690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68580" cy="10972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Kadro = 31.08 itibarıyla kadrolu (sezonluk hariç;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68580" cy="16002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3200400"/>
            <a:ext cx="4160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68580" cy="15544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× Bölüm Kadro Değişimi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508760"/>
                <a:gridCol w="1371600"/>
                <a:gridCol w="1234440"/>
                <a:gridCol w="1417320"/>
                <a:gridCol w="12344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248656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'—' ilgili mağazada o bölüm yoktur · Yönetim, Mal Kabul ve İdari İşler satırları tüm mağazalarda sıfır veya negatiftir.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5733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00200"/>
                <a:gridCol w="2148840"/>
                <a:gridCol w="1097280"/>
                <a:gridCol w="1051560"/>
                <a:gridCol w="1143000"/>
                <a:gridCol w="105156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+%46,2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+%37,5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+%152,9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+%176,9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+%16,7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+%49,2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+%45,3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+%66,6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+%57,7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224528"/>
          <a:ext cx="6766560" cy="12984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68496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41648"/>
            <a:ext cx="4069080" cy="148132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SEZON kolonları okul-hizalı pencereyi, OCA-AĞU kolonları yılın tamamını (01.01–31.08) gösterir; sıralama iki pencerede de aynıdır.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 · OCA-AĞU kolonları: 01.01 – 31.08 kümülatif (her iki yıl)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458.509 → 483.659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617.297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102,9 M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133.638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24,7 M TL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27.08 - 07.09.2025 aralığındaydı: 431.358 adet · 56,9 M TL. Aynı dalga 2026'da 02.09 - 13.09.2026 aralığına denk geliyor; hizalı büyüme oranıyla 580.744 adet · 95,5 M TL beklenmektedir.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26.08.2025 ile 07.08 – 01.09.2026 (26 gün; bugün hariç, son tam gün 01.09.2026) · Tahmin yöntemi: hizalı büyüme +%34,6, talep kaybı olmadığı varsayımıyla.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Kadro Karşılaştırması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KADRO · SEZON DIŞI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145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11.08.2026 tarihli norm · dört mağaza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GERÇEK KADROLU · 31.08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137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30.06 tabanında 143 kişi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FARKI · 31.08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-8 kişi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 normun ALTINDA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429000"/>
          <a:ext cx="69494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463040"/>
                <a:gridCol w="1325880"/>
                <a:gridCol w="1325880"/>
                <a:gridCol w="118872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Norm (sezon dışı)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Norm farkı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726679" y="3520440"/>
            <a:ext cx="384048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3630168"/>
            <a:ext cx="3429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31 Ağustos'ta kadrolu personel norm kadronun 8 kişi altındadır (30.06 tabanında -2). Normun üzerinde olan tek mağaza İst. Yolu (+3) ve iş hacmi en çok büyüyen mağaza da odur.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SEZON DIŞI kadroyu tanımlar; sezonluk personel norma dahil değildir, kıyas yalnız kadrolu ile yapılır · Norm kaynağı: norm-kadro-20260811.json (11.08.2026), yönetim parametresi · Kapsam dışı: Şura norm tablosunda yok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Sezonluk Alım Zamanlaması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ORTALAMA ALIM GÜNÜ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A9A9A"/>
                </a:solidFill>
                <a:latin typeface="Calibri"/>
              </a:rPr>
              <a:t>2,5 gün geç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takvim ölçüsü · 225. → 228. gün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TEMMUZ VE ÖNCESİ ALIM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6 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gerçek erken alım azaldı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1–14 AĞUSTOS İŞ HACMİ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+%25,1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137.483 → 171.963 adet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429000"/>
          <a:ext cx="11018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  <a:gridCol w="4251960"/>
              </a:tblGrid>
              <a:tr h="1752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Yorum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75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Ortalama alım günü (takvim)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225.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228.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2026 alımı ortalama 2,5 gün DAHA GEÇ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5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Temmuz ve öncesi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6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erken alım azaldı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75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Açılıştan 45+ gün önce alınan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çok erken alım azaldı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5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30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artış bu iki haftada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75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ürün adedi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137.483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171.963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büyüdü — alım işi takip etti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5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15–31 Ağustos ürün adedi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321.026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311.695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−%2,9 — dalga Eylül'e kaydı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75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31.08'de çalışan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65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62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kesimde 3 kişi DAHA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5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   — Temmuz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erken alım payı düştü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75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   — 1–14 Ağustos alımı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27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büyüyen dönem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75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   — 15–31 Ağustos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49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32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iş −%2,9 → alım azaltıldı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752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   — önceki yıldan devreden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0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Calibri"/>
                        </a:rPr>
                        <a:t>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A6001A"/>
                          </a:solidFill>
                          <a:latin typeface="Calibri"/>
                        </a:rPr>
                        <a:t>2025 alımı, hâlâ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 (FSM · Özlüce · İst. Yolu · Heykel · Şura) · Kohortlar okul açılışına göre AYNI ofsette kesildi (T−12: 27.08.2025 ve 02.09.2026) · İş hacmi üç POS mağazası · ⚠ "açılıştan kaç gün önce" ölçüsü açılış 6 gün kaydığı için 2026'yı mekanik olarak erken gösterir, takvim ölçüsü esastır.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53895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1389888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73352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57984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57984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86000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2221991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05456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7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7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18103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3054095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37559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22191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22191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0207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43000" y="3886200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Sezonluk personel erken mi alındı?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69663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Hayır: takvim ölçüsünde 2026 alımı ortalama 2,5 gün DAHA GEÇ; Temmuz ve öncesi alım 6 kişiden 2'ye indi. Artış 1–14 Ağustos'ta ve o iki haftada ürün adedi +%25,1 büyüdü — alım işi takip etti.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54296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654296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82312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4718304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001768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22860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68580" cy="22860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Kadrolu −4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