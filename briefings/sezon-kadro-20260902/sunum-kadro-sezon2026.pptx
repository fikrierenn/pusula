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4"/>
    <p:sldId id="257" r:id="rId3"/>
    <p:sldId id="258" r:id="rId2"/>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2000" cy="6858000"/>
  <p:notesSz cx="6858000" cy="9144000"/>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E7433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87737" autoAdjust="0"/>
  </p:normalViewPr>
  <p:slideViewPr>
    <p:cSldViewPr snapToGrid="0" snapToObjects="1">
      <p:cViewPr varScale="1">
        <p:scale>
          <a:sx n="83" d="100"/>
          <a:sy n="83" d="100"/>
        </p:scale>
        <p:origin x="658" y="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xml"/><Relationship Id="rId3" Type="http://schemas.openxmlformats.org/officeDocument/2006/relationships/slide" Target="slides/slide2.xml"/><Relationship Id="rId4"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Sheet1!$A$2:$A$3</c:f>
              <c:strCache>
                <c:ptCount val="2"/>
                <c:pt idx="0">
                  <c:v>Taban 30.06</c:v>
                </c:pt>
                <c:pt idx="1">
                  <c:v>Kesim 31.08</c:v>
                </c:pt>
              </c:strCache>
            </c:strRef>
          </c:cat>
          <c:val>
            <c:numRef>
              <c:f>Sheet1!$B$2:$B$3</c:f>
              <c:numCache>
                <c:formatCode>General</c:formatCode>
                <c:ptCount val="2"/>
                <c:pt idx="0">
                  <c:v>139</c:v>
                </c:pt>
                <c:pt idx="1">
                  <c:v>135</c:v>
                </c:pt>
              </c:numCache>
            </c:numRef>
          </c:val>
        </c:ser>
        <c:ser>
          <c:idx val="1"/>
          <c:order val="1"/>
          <c:tx>
            <c:strRef>
              <c:f>Sheet1!$C$1</c:f>
              <c:strCache>
                <c:ptCount val="1"/>
                <c:pt idx="0">
                  <c:v>2026</c:v>
                </c:pt>
              </c:strCache>
            </c:strRef>
          </c:tx>
          <c:spPr>
            <a:solidFill>
              <a:srgbClr val="E30622"/>
            </a:solidFill>
          </c:spPr>
          <c:cat>
            <c:strRef>
              <c:f>Sheet1!$A$2:$A$3</c:f>
              <c:strCache>
                <c:ptCount val="2"/>
                <c:pt idx="0">
                  <c:v>Taban 30.06</c:v>
                </c:pt>
                <c:pt idx="1">
                  <c:v>Kesim 31.08</c:v>
                </c:pt>
              </c:strCache>
            </c:strRef>
          </c:cat>
          <c:val>
            <c:numRef>
              <c:f>Sheet1!$C$2:$C$3</c:f>
              <c:numCache>
                <c:formatCode>General</c:formatCode>
                <c:ptCount val="2"/>
                <c:pt idx="0">
                  <c:v>153</c:v>
                </c:pt>
                <c:pt idx="1">
                  <c:v>149</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in val="0.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Ürün adedi (bin)</c:v>
                </c:pt>
                <c:pt idx="1">
                  <c:v>Ciro (milyon TL)</c:v>
                </c:pt>
                <c:pt idx="2">
                  <c:v>Kadro (kişi)</c:v>
                </c:pt>
              </c:strCache>
            </c:strRef>
          </c:cat>
          <c:val>
            <c:numRef>
              <c:f>Sheet1!$B$2:$B$4</c:f>
              <c:numCache>
                <c:formatCode>General</c:formatCode>
                <c:ptCount val="3"/>
                <c:pt idx="0">
                  <c:v>574.6556999999999</c:v>
                </c:pt>
                <c:pt idx="1">
                  <c:v>71.8170457700001</c:v>
                </c:pt>
                <c:pt idx="2">
                  <c:v>143</c:v>
                </c:pt>
              </c:numCache>
            </c:numRef>
          </c:val>
        </c:ser>
        <c:ser>
          <c:idx val="1"/>
          <c:order val="1"/>
          <c:tx>
            <c:strRef>
              <c:f>Sheet1!$C$1</c:f>
              <c:strCache>
                <c:ptCount val="1"/>
                <c:pt idx="0">
                  <c:v>2026</c:v>
                </c:pt>
              </c:strCache>
            </c:strRef>
          </c:tx>
          <c:spPr>
            <a:solidFill>
              <a:srgbClr val="E30622"/>
            </a:solidFill>
          </c:spPr>
          <c:cat>
            <c:strRef>
              <c:f>Sheet1!$A$2:$A$4</c:f>
              <c:strCache>
                <c:ptCount val="3"/>
                <c:pt idx="0">
                  <c:v>Ürün adedi (bin)</c:v>
                </c:pt>
                <c:pt idx="1">
                  <c:v>Ciro (milyon TL)</c:v>
                </c:pt>
                <c:pt idx="2">
                  <c:v>Kadro (kişi)</c:v>
                </c:pt>
              </c:strCache>
            </c:strRef>
          </c:cat>
          <c:val>
            <c:numRef>
              <c:f>Sheet1!$C$2:$C$4</c:f>
              <c:numCache>
                <c:formatCode>General</c:formatCode>
                <c:ptCount val="3"/>
                <c:pt idx="0">
                  <c:v>775.03155</c:v>
                </c:pt>
                <c:pt idx="1">
                  <c:v>122.53417561000008</c:v>
                </c:pt>
                <c:pt idx="2">
                  <c:v>160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4524.798039215687</c:v>
                </c:pt>
                <c:pt idx="1">
                  <c:v>3466.72</c:v>
                </c:pt>
                <c:pt idx="2">
                  <c:v>4060.8333333333335</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5578.704629629629</c:v>
                </c:pt>
                <c:pt idx="1">
                  <c:v>4229.647540983607</c:v>
                </c:pt>
                <c:pt idx="2">
                  <c:v>4794.955555555555</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Oca-Ağu adet ÷ kadrolu</c:v>
                </c:pt>
              </c:strCache>
            </c:strRef>
          </c:tx>
          <c:spPr>
            <a:ln w="31750">
              <a:solidFill>
                <a:srgbClr val="E30622"/>
              </a:solidFill>
            </a:ln>
          </c:spPr>
          <c:marker>
            <c:symbol val="circle"/>
            <c:size val="7"/>
            <c:spPr>
              <a:solidFill>
                <a:srgbClr val="E30622"/>
              </a:solidFill>
              <a:ln>
                <a:solidFill>
                  <a:srgbClr val="FFFFFF"/>
                </a:solidFill>
              </a:ln>
            </c:spPr>
          </c:marker>
          <c:cat>
            <c:strRef>
              <c:f>Sheet1!$A$2:$A$5</c:f>
              <c:strCache>
                <c:ptCount val="4"/>
                <c:pt idx="0">
                  <c:v>2023</c:v>
                </c:pt>
                <c:pt idx="1">
                  <c:v>2024</c:v>
                </c:pt>
                <c:pt idx="2">
                  <c:v>2025</c:v>
                </c:pt>
                <c:pt idx="3">
                  <c:v>2026</c:v>
                </c:pt>
              </c:strCache>
            </c:strRef>
          </c:cat>
          <c:val>
            <c:numRef>
              <c:f>Sheet1!$B$2:$B$5</c:f>
              <c:numCache>
                <c:formatCode>General</c:formatCode>
                <c:ptCount val="4"/>
                <c:pt idx="0">
                  <c:v>34377.72383333333</c:v>
                </c:pt>
                <c:pt idx="1">
                  <c:v>25227.68604395604</c:v>
                </c:pt>
                <c:pt idx="2">
                  <c:v>28668.031666666666</c:v>
                </c:pt>
                <c:pt idx="3">
                  <c:v>32496.782972972975</c:v>
                </c:pt>
              </c:numCache>
            </c:numRef>
          </c:val>
          <c:smooth val="0"/>
        </c:ser>
        <c:dLbls>
          <c:numFmt sourceLinked="0" formatCode="#,##0"/>
          <c:txPr>
            <a:bodyPr/>
            <a:lstStyle/>
            <a:p>
              <a:pPr>
                <a:defRPr sz="1000"/>
              </a:pPr>
            </a:p>
          </c:txPr>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plotVisOnly val="1"/>
    <c:dispBlanksAs val="gap"/>
    <c:showDLblsOverMax val="0"/>
  </c:chart>
  <c:txPr>
    <a:bodyPr/>
    <a:lstStyle/>
    <a:p>
      <a:pPr>
        <a:defRPr sz="1100">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kadrolu değişim (kişi)</c:v>
                </c:pt>
              </c:strCache>
            </c:strRef>
          </c:tx>
          <c:spPr>
            <a:solidFill>
              <a:srgbClr val="E30622"/>
            </a:solidFill>
          </c:spPr>
          <c:cat>
            <c:strRef>
              <c:f>Sheet1!$A$2:$A$9</c:f>
              <c:strCache>
                <c:ptCount val="8"/>
                <c:pt idx="0">
                  <c:v>Yardımcı Kitap</c:v>
                </c:pt>
                <c:pt idx="1">
                  <c:v>Kırtasiye</c:v>
                </c:pt>
                <c:pt idx="2">
                  <c:v>Kasa</c:v>
                </c:pt>
                <c:pt idx="3">
                  <c:v>Akademi</c:v>
                </c:pt>
                <c:pt idx="4">
                  <c:v>Şura</c:v>
                </c:pt>
                <c:pt idx="5">
                  <c:v>Mağaza</c:v>
                </c:pt>
                <c:pt idx="6">
                  <c:v>Mal Kabul</c:v>
                </c:pt>
                <c:pt idx="7">
                  <c:v>İdari İşler</c:v>
                </c:pt>
              </c:strCache>
            </c:strRef>
          </c:cat>
          <c:val>
            <c:numRef>
              <c:f>Sheet1!$B$2:$B$9</c:f>
              <c:numCache>
                <c:formatCode>General</c:formatCode>
                <c:ptCount val="8"/>
                <c:pt idx="0">
                  <c:v>6</c:v>
                </c:pt>
                <c:pt idx="1">
                  <c:v>3</c:v>
                </c:pt>
                <c:pt idx="2">
                  <c:v>2</c:v>
                </c:pt>
                <c:pt idx="3">
                  <c:v>2</c:v>
                </c:pt>
                <c:pt idx="4">
                  <c:v>2</c:v>
                </c:pt>
                <c:pt idx="5">
                  <c:v>0</c:v>
                </c:pt>
                <c:pt idx="6">
                  <c:v>0</c:v>
                </c:pt>
                <c:pt idx="7">
                  <c:v>0</c:v>
                </c:pt>
              </c:numCache>
            </c:numRef>
          </c:val>
        </c:ser>
        <c:dLbls>
          <c:numFmt sourceLinked="0" formatCode="+0;-0;0"/>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050">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0.0</c:v>
                </c:pt>
                <c:pt idx="1">
                  <c:v>0.0</c:v>
                </c:pt>
                <c:pt idx="2">
                  <c:v>0.0</c:v>
                </c:pt>
              </c:numCache>
            </c:numRef>
          </c:val>
        </c:ser>
        <c:ser>
          <c:idx val="1"/>
          <c:order val="1"/>
          <c:tx>
            <c:strRef>
              <c:f>Sheet1!$C$1</c:f>
              <c:strCache>
                <c:ptCount val="1"/>
                <c:pt idx="0">
                  <c:v>2026</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0.0</c:v>
                </c:pt>
                <c:pt idx="1">
                  <c:v>0.0</c:v>
                </c:pt>
                <c:pt idx="2">
                  <c:v>0.0</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1000">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kadro Δ%</c:v>
                </c:pt>
              </c:strCache>
            </c:strRef>
          </c:tx>
          <c:spPr>
            <a:solidFill>
              <a:srgbClr val="9A9A9A"/>
            </a:solidFill>
          </c:spPr>
          <c:cat>
            <c:strRef>
              <c:f>Sheet1!$A$2:$A$4</c:f>
              <c:strCache>
                <c:ptCount val="3"/>
                <c:pt idx="0">
                  <c:v>Özlüce</c:v>
                </c:pt>
                <c:pt idx="1">
                  <c:v>İst. Yolu</c:v>
                </c:pt>
                <c:pt idx="2">
                  <c:v>FSM</c:v>
                </c:pt>
              </c:strCache>
            </c:strRef>
          </c:cat>
          <c:val>
            <c:numRef>
              <c:f>Sheet1!$B$2:$B$4</c:f>
              <c:numCache>
                <c:formatCode>General</c:formatCode>
                <c:ptCount val="3"/>
                <c:pt idx="0">
                  <c:v>5.882352941176472</c:v>
                </c:pt>
                <c:pt idx="1">
                  <c:v>21.999999999999996</c:v>
                </c:pt>
                <c:pt idx="2">
                  <c:v>7.14285714285714</c:v>
                </c:pt>
              </c:numCache>
            </c:numRef>
          </c:val>
        </c:ser>
        <c:ser>
          <c:idx val="1"/>
          <c:order val="1"/>
          <c:tx>
            <c:strRef>
              <c:f>Sheet1!$C$1</c:f>
              <c:strCache>
                <c:ptCount val="1"/>
                <c:pt idx="0">
                  <c:v>ürün adedi Δ%</c:v>
                </c:pt>
              </c:strCache>
            </c:strRef>
          </c:tx>
          <c:spPr>
            <a:solidFill>
              <a:srgbClr val="E30622"/>
            </a:solidFill>
          </c:spPr>
          <c:cat>
            <c:strRef>
              <c:f>Sheet1!$A$2:$A$4</c:f>
              <c:strCache>
                <c:ptCount val="3"/>
                <c:pt idx="0">
                  <c:v>Özlüce</c:v>
                </c:pt>
                <c:pt idx="1">
                  <c:v>İst. Yolu</c:v>
                </c:pt>
                <c:pt idx="2">
                  <c:v>FSM</c:v>
                </c:pt>
              </c:strCache>
            </c:strRef>
          </c:cat>
          <c:val>
            <c:numRef>
              <c:f>Sheet1!$C$2:$C$4</c:f>
              <c:numCache>
                <c:formatCode>General</c:formatCode>
                <c:ptCount val="3"/>
                <c:pt idx="0">
                  <c:v>30.54425135213488</c:v>
                </c:pt>
                <c:pt idx="1">
                  <c:v>48.848767711265985</c:v>
                </c:pt>
                <c:pt idx="2">
                  <c:v>26.512268769605107</c:v>
                </c:pt>
              </c:numCache>
            </c:numRef>
          </c:val>
        </c:ser>
        <c:ser>
          <c:idx val="2"/>
          <c:order val="2"/>
          <c:tx>
            <c:strRef>
              <c:f>Sheet1!$D$1</c:f>
              <c:strCache>
                <c:ptCount val="1"/>
                <c:pt idx="0">
                  <c:v>ciro Δ%</c:v>
                </c:pt>
              </c:strCache>
            </c:strRef>
          </c:tx>
          <c:spPr>
            <a:solidFill>
              <a:srgbClr val="7A1020"/>
            </a:solidFill>
          </c:spPr>
          <c:cat>
            <c:strRef>
              <c:f>Sheet1!$A$2:$A$4</c:f>
              <c:strCache>
                <c:ptCount val="3"/>
                <c:pt idx="0">
                  <c:v>Özlüce</c:v>
                </c:pt>
                <c:pt idx="1">
                  <c:v>İst. Yolu</c:v>
                </c:pt>
                <c:pt idx="2">
                  <c:v>FSM</c:v>
                </c:pt>
              </c:strCache>
            </c:strRef>
          </c:cat>
          <c:val>
            <c:numRef>
              <c:f>Sheet1!$D$2:$D$4</c:f>
              <c:numCache>
                <c:formatCode>General</c:formatCode>
                <c:ptCount val="3"/>
                <c:pt idx="0">
                  <c:v>57.55862375814167</c:v>
                </c:pt>
                <c:pt idx="1">
                  <c:v>96.00493094594296</c:v>
                </c:pt>
                <c:pt idx="2">
                  <c:v>62.267526610057345</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ürün adedi Δ%</c:v>
                </c:pt>
              </c:strCache>
            </c:strRef>
          </c:tx>
          <c:spPr>
            <a:solidFill>
              <a:srgbClr val="E30622"/>
            </a:solidFill>
          </c:spPr>
          <c:cat>
            <c:strRef>
              <c:f>Sheet1!$A$2:$A$7</c:f>
              <c:strCache>
                <c:ptCount val="6"/>
                <c:pt idx="0">
                  <c:v>Hazırlık Kitapları</c:v>
                </c:pt>
                <c:pt idx="1">
                  <c:v>Kırtasiye</c:v>
                </c:pt>
                <c:pt idx="2">
                  <c:v>Akademi</c:v>
                </c:pt>
                <c:pt idx="3">
                  <c:v>Kitap</c:v>
                </c:pt>
                <c:pt idx="4">
                  <c:v>Oyuncak</c:v>
                </c:pt>
                <c:pt idx="5">
                  <c:v>Çocuk Kitabı</c:v>
                </c:pt>
              </c:strCache>
            </c:strRef>
          </c:cat>
          <c:val>
            <c:numRef>
              <c:f>Sheet1!$B$2:$B$7</c:f>
              <c:numCache>
                <c:formatCode>General</c:formatCode>
                <c:ptCount val="6"/>
                <c:pt idx="0">
                  <c:v>38.89905891452881</c:v>
                </c:pt>
                <c:pt idx="1">
                  <c:v>33.552172719623094</c:v>
                </c:pt>
                <c:pt idx="2">
                  <c:v>238.98744541484714</c:v>
                </c:pt>
                <c:pt idx="3">
                  <c:v>25.988343197939724</c:v>
                </c:pt>
                <c:pt idx="4">
                  <c:v>57.96957048606437</c:v>
                </c:pt>
                <c:pt idx="5">
                  <c:v>16.995917921553104</c:v>
                </c:pt>
              </c:numCache>
            </c:numRef>
          </c:val>
        </c:ser>
        <c:dLbls>
          <c:numFmt sourceLinked="0" formatCode="0&quot;%&quot;"/>
          <c:txPr>
            <a:bodyPr/>
            <a:lstStyle/>
            <a:p>
              <a:pPr>
                <a:defRPr sz="850"/>
              </a:pPr>
            </a:p>
          </c:txPr>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900">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2025 gerçekleşen</c:v>
                </c:pt>
              </c:strCache>
            </c:strRef>
          </c:tx>
          <c:spPr>
            <a:solidFill>
              <a:srgbClr val="9A9A9A"/>
            </a:solidFill>
          </c:spPr>
          <c:cat>
            <c:strRef>
              <c:f>Sheet1!$A$2:$A$2</c:f>
              <c:strCache>
                <c:ptCount val="1"/>
                <c:pt idx="0">
                  <c:v>Ağustos (adet, bin)</c:v>
                </c:pt>
              </c:strCache>
            </c:strRef>
          </c:cat>
          <c:val>
            <c:numRef>
              <c:f>Sheet1!$B$2:$B$2</c:f>
              <c:numCache>
                <c:formatCode>General</c:formatCode>
                <c:ptCount val="1"/>
                <c:pt idx="0">
                  <c:v>458.25870000000003</c:v>
                </c:pt>
              </c:numCache>
            </c:numRef>
          </c:val>
        </c:ser>
        <c:ser>
          <c:idx val="1"/>
          <c:order val="1"/>
          <c:tx>
            <c:strRef>
              <c:f>Sheet1!$C$1</c:f>
              <c:strCache>
                <c:ptCount val="1"/>
                <c:pt idx="0">
                  <c:v>2026 gerçekleşen</c:v>
                </c:pt>
              </c:strCache>
            </c:strRef>
          </c:tx>
          <c:spPr>
            <a:solidFill>
              <a:srgbClr val="E30622"/>
            </a:solidFill>
          </c:spPr>
          <c:cat>
            <c:strRef>
              <c:f>Sheet1!$A$2:$A$2</c:f>
              <c:strCache>
                <c:ptCount val="1"/>
                <c:pt idx="0">
                  <c:v>Ağustos (adet, bin)</c:v>
                </c:pt>
              </c:strCache>
            </c:strRef>
          </c:cat>
          <c:val>
            <c:numRef>
              <c:f>Sheet1!$C$2:$C$2</c:f>
              <c:numCache>
                <c:formatCode>General</c:formatCode>
                <c:ptCount val="1"/>
                <c:pt idx="0">
                  <c:v>483.49955000000006</c:v>
                </c:pt>
              </c:numCache>
            </c:numRef>
          </c:val>
        </c:ser>
        <c:ser>
          <c:idx val="2"/>
          <c:order val="2"/>
          <c:tx>
            <c:strRef>
              <c:f>Sheet1!$D$1</c:f>
              <c:strCache>
                <c:ptCount val="1"/>
                <c:pt idx="0">
                  <c:v>2026 kayma olmasaydı</c:v>
                </c:pt>
              </c:strCache>
            </c:strRef>
          </c:tx>
          <c:spPr>
            <a:solidFill>
              <a:srgbClr val="7A1020"/>
            </a:solidFill>
          </c:spPr>
          <c:cat>
            <c:strRef>
              <c:f>Sheet1!$A$2:$A$2</c:f>
              <c:strCache>
                <c:ptCount val="1"/>
                <c:pt idx="0">
                  <c:v>Ağustos (adet, bin)</c:v>
                </c:pt>
              </c:strCache>
            </c:strRef>
          </c:cat>
          <c:val>
            <c:numRef>
              <c:f>Sheet1!$D$2:$D$2</c:f>
              <c:numCache>
                <c:formatCode>General</c:formatCode>
                <c:ptCount val="1"/>
                <c:pt idx="0">
                  <c:v>614.955640162407</c:v>
                </c:pt>
              </c:numCache>
            </c:numRef>
          </c:val>
        </c:ser>
        <c:dLbls>
          <c:numFmt sourceLinked="0" formatCode="#,##0"/>
          <c:txPr>
            <a:bodyPr/>
            <a:lstStyle/>
            <a:p>
              <a:pPr>
                <a:defRPr sz="900"/>
              </a:pPr>
            </a:p>
          </c:txPr>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t"/>
      <c:overlay val="0"/>
    </c:legend>
    <c:dispBlanksAs val="gap"/>
  </c:chart>
  <c:txPr>
    <a:bodyPr/>
    <a:lstStyle/>
    <a:p>
      <a:pPr>
        <a:defRPr sz="95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 Bilgi Yer Tutucusu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300641-7B70-43EC-9136-1D81371FEE47}" type="datetimeFigureOut">
              <a:rPr lang="tr-TR" smtClean="0"/>
              <a:t>4.06.2026</a:t>
            </a:fld>
            <a:endParaRPr lang="tr-TR"/>
          </a:p>
        </p:txBody>
      </p:sp>
      <p:sp>
        <p:nvSpPr>
          <p:cNvPr id="4" name="Slayt Resmi Yer Tutucusu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 Bilgi Yer Tutucusu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D3DCFB-12CD-4DAE-BBD4-16A1DFAADA0C}" type="slidenum">
              <a:rPr lang="tr-TR" smtClean="0"/>
              <a:t>‹#›</a:t>
            </a:fld>
            <a:endParaRPr lang="tr-TR"/>
          </a:p>
        </p:txBody>
      </p:sp>
    </p:spTree>
    <p:extLst>
      <p:ext uri="{BB962C8B-B14F-4D97-AF65-F5344CB8AC3E}">
        <p14:creationId xmlns:p14="http://schemas.microsoft.com/office/powerpoint/2010/main" val="574109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A12A0B8-7CD9-B74F-AD7D-AA5C00691952}"/>
              </a:ext>
            </a:extLst>
          </p:cNvPr>
          <p:cNvSpPr>
            <a:spLocks noGrp="1"/>
          </p:cNvSpPr>
          <p:nvPr>
            <p:ph type="ctrTitle"/>
          </p:nvPr>
        </p:nvSpPr>
        <p:spPr>
          <a:xfrm>
            <a:off x="1524000" y="1122363"/>
            <a:ext cx="9144000" cy="2387600"/>
          </a:xfrm>
        </p:spPr>
        <p:txBody>
          <a:bodyPr anchor="b"/>
          <a:lstStyle>
            <a:lvl1pPr algn="ctr">
              <a:defRPr sz="6000"/>
            </a:lvl1pPr>
          </a:lstStyle>
          <a:p>
            <a:r>
              <a:rPr lang="tr-TR"/>
              <a:t>Asıl başlık stilini düzenlemek için tıklayın</a:t>
            </a:r>
          </a:p>
        </p:txBody>
      </p:sp>
      <p:sp>
        <p:nvSpPr>
          <p:cNvPr id="3" name="Alt Başlık 2">
            <a:extLst>
              <a:ext uri="{FF2B5EF4-FFF2-40B4-BE49-F238E27FC236}">
                <a16:creationId xmlns:a16="http://schemas.microsoft.com/office/drawing/2014/main" id="{1E65EBCF-2F36-CF46-9DD1-6FFE1AA5AA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tıklayın</a:t>
            </a:r>
          </a:p>
        </p:txBody>
      </p:sp>
      <p:sp>
        <p:nvSpPr>
          <p:cNvPr id="4" name="Veri Yer Tutucusu 3">
            <a:extLst>
              <a:ext uri="{FF2B5EF4-FFF2-40B4-BE49-F238E27FC236}">
                <a16:creationId xmlns:a16="http://schemas.microsoft.com/office/drawing/2014/main" id="{0488EE4F-7D91-234B-8366-AA898561528F}"/>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09D6E736-D18C-C440-B2A3-19ECC784936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7A482C50-33CE-4643-B22A-C50A02C7E634}"/>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3548739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6312382-F59E-E44D-94A0-09384B0F9AF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976D9B72-D3A8-E240-AEF8-FE471ED664B6}"/>
              </a:ext>
            </a:extLst>
          </p:cNvPr>
          <p:cNvSpPr>
            <a:spLocks noGrp="1"/>
          </p:cNvSpPr>
          <p:nvPr>
            <p:ph idx="1"/>
          </p:nvPr>
        </p:nvSpPr>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85B1322A-D814-E643-B637-F0282443BBF9}"/>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C2582D07-6D20-5949-950C-B5A20A0F4D88}"/>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8D4B1F6-7694-B744-8AAA-4BECF121D4D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086541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 Bilgisi">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6EBB9133-18E9-7041-99FE-48C21A3B0ABD}"/>
              </a:ext>
            </a:extLst>
          </p:cNvPr>
          <p:cNvSpPr>
            <a:spLocks noGrp="1"/>
          </p:cNvSpPr>
          <p:nvPr>
            <p:ph type="title"/>
          </p:nvPr>
        </p:nvSpPr>
        <p:spPr>
          <a:xfrm>
            <a:off x="831850" y="1709738"/>
            <a:ext cx="10515600" cy="2852737"/>
          </a:xfrm>
        </p:spPr>
        <p:txBody>
          <a:bodyPr anchor="b"/>
          <a:lstStyle>
            <a:lvl1pPr>
              <a:defRPr sz="6000"/>
            </a:lvl1pPr>
          </a:lstStyle>
          <a:p>
            <a:r>
              <a:rPr lang="tr-TR"/>
              <a:t>Asıl başlık stilini düzenlemek için tıklayın</a:t>
            </a:r>
          </a:p>
        </p:txBody>
      </p:sp>
      <p:sp>
        <p:nvSpPr>
          <p:cNvPr id="3" name="Metin Yer Tutucusu 2">
            <a:extLst>
              <a:ext uri="{FF2B5EF4-FFF2-40B4-BE49-F238E27FC236}">
                <a16:creationId xmlns:a16="http://schemas.microsoft.com/office/drawing/2014/main" id="{D142A014-6DBE-244A-8639-0EE92109B3B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tıklayın</a:t>
            </a:r>
          </a:p>
        </p:txBody>
      </p:sp>
      <p:sp>
        <p:nvSpPr>
          <p:cNvPr id="4" name="Veri Yer Tutucusu 3">
            <a:extLst>
              <a:ext uri="{FF2B5EF4-FFF2-40B4-BE49-F238E27FC236}">
                <a16:creationId xmlns:a16="http://schemas.microsoft.com/office/drawing/2014/main" id="{DA43E15A-394F-0044-AF14-DF4A8E99FA7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B36113B3-E6C6-874A-90AD-FD4D22C5E42C}"/>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F4E3EE12-20EA-8E44-9CBB-3793CBA50C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4588173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B9DE5D64-D6D9-1B4C-880B-F020BD5B74A9}"/>
              </a:ext>
            </a:extLst>
          </p:cNvPr>
          <p:cNvSpPr>
            <a:spLocks noGrp="1"/>
          </p:cNvSpPr>
          <p:nvPr>
            <p:ph type="title"/>
          </p:nvPr>
        </p:nvSpPr>
        <p:spPr/>
        <p:txBody>
          <a:bodyPr/>
          <a:lstStyle/>
          <a:p>
            <a:r>
              <a:rPr lang="tr-TR"/>
              <a:t>Asıl başlık stilini düzenlemek için tıklayın</a:t>
            </a:r>
          </a:p>
        </p:txBody>
      </p:sp>
      <p:sp>
        <p:nvSpPr>
          <p:cNvPr id="3" name="İçerik Yer Tutucusu 2">
            <a:extLst>
              <a:ext uri="{FF2B5EF4-FFF2-40B4-BE49-F238E27FC236}">
                <a16:creationId xmlns:a16="http://schemas.microsoft.com/office/drawing/2014/main" id="{DA614EDC-B75D-FD4A-913F-EB03DAD50350}"/>
              </a:ext>
            </a:extLst>
          </p:cNvPr>
          <p:cNvSpPr>
            <a:spLocks noGrp="1"/>
          </p:cNvSpPr>
          <p:nvPr>
            <p:ph sz="half" idx="1"/>
          </p:nvPr>
        </p:nvSpPr>
        <p:spPr>
          <a:xfrm>
            <a:off x="838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a:extLst>
              <a:ext uri="{FF2B5EF4-FFF2-40B4-BE49-F238E27FC236}">
                <a16:creationId xmlns:a16="http://schemas.microsoft.com/office/drawing/2014/main" id="{E9E8DC66-2F12-BF45-BDF1-EB4DE2DCF416}"/>
              </a:ext>
            </a:extLst>
          </p:cNvPr>
          <p:cNvSpPr>
            <a:spLocks noGrp="1"/>
          </p:cNvSpPr>
          <p:nvPr>
            <p:ph sz="half" idx="2"/>
          </p:nvPr>
        </p:nvSpPr>
        <p:spPr>
          <a:xfrm>
            <a:off x="6172200" y="1825625"/>
            <a:ext cx="5181600" cy="435133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a:extLst>
              <a:ext uri="{FF2B5EF4-FFF2-40B4-BE49-F238E27FC236}">
                <a16:creationId xmlns:a16="http://schemas.microsoft.com/office/drawing/2014/main" id="{50EB4623-12A7-9540-B93C-840D6334EFF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EBF5A08-683B-A041-B5AF-469F3D01EED1}"/>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47AF5A4F-3422-8D4C-B532-C19D5521D63E}"/>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186722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085C4E5-E52A-DF43-85E4-57E96D05DB2A}"/>
              </a:ext>
            </a:extLst>
          </p:cNvPr>
          <p:cNvSpPr>
            <a:spLocks noGrp="1"/>
          </p:cNvSpPr>
          <p:nvPr>
            <p:ph type="title"/>
          </p:nvPr>
        </p:nvSpPr>
        <p:spPr>
          <a:xfrm>
            <a:off x="839788" y="365125"/>
            <a:ext cx="10515600" cy="1325563"/>
          </a:xfrm>
        </p:spPr>
        <p:txBody>
          <a:bodyPr/>
          <a:lstStyle/>
          <a:p>
            <a:r>
              <a:rPr lang="tr-TR"/>
              <a:t>Asıl başlık stilini düzenlemek için tıklayın</a:t>
            </a:r>
          </a:p>
        </p:txBody>
      </p:sp>
      <p:sp>
        <p:nvSpPr>
          <p:cNvPr id="3" name="Metin Yer Tutucusu 2">
            <a:extLst>
              <a:ext uri="{FF2B5EF4-FFF2-40B4-BE49-F238E27FC236}">
                <a16:creationId xmlns:a16="http://schemas.microsoft.com/office/drawing/2014/main" id="{F46582EA-A382-1A41-AA8F-C0DD08B5855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4" name="İçerik Yer Tutucusu 3">
            <a:extLst>
              <a:ext uri="{FF2B5EF4-FFF2-40B4-BE49-F238E27FC236}">
                <a16:creationId xmlns:a16="http://schemas.microsoft.com/office/drawing/2014/main" id="{B1AAA910-32F1-1540-8CA3-526201D04658}"/>
              </a:ext>
            </a:extLst>
          </p:cNvPr>
          <p:cNvSpPr>
            <a:spLocks noGrp="1"/>
          </p:cNvSpPr>
          <p:nvPr>
            <p:ph sz="half" idx="2"/>
          </p:nvPr>
        </p:nvSpPr>
        <p:spPr>
          <a:xfrm>
            <a:off x="839788" y="2505075"/>
            <a:ext cx="5157787"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a:extLst>
              <a:ext uri="{FF2B5EF4-FFF2-40B4-BE49-F238E27FC236}">
                <a16:creationId xmlns:a16="http://schemas.microsoft.com/office/drawing/2014/main" id="{BBDC8A26-902D-E743-9638-6203DB67245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tıklayın</a:t>
            </a:r>
          </a:p>
        </p:txBody>
      </p:sp>
      <p:sp>
        <p:nvSpPr>
          <p:cNvPr id="6" name="İçerik Yer Tutucusu 5">
            <a:extLst>
              <a:ext uri="{FF2B5EF4-FFF2-40B4-BE49-F238E27FC236}">
                <a16:creationId xmlns:a16="http://schemas.microsoft.com/office/drawing/2014/main" id="{BF5DAED4-7A45-A34F-956E-DACEA7541685}"/>
              </a:ext>
            </a:extLst>
          </p:cNvPr>
          <p:cNvSpPr>
            <a:spLocks noGrp="1"/>
          </p:cNvSpPr>
          <p:nvPr>
            <p:ph sz="quarter" idx="4"/>
          </p:nvPr>
        </p:nvSpPr>
        <p:spPr>
          <a:xfrm>
            <a:off x="6172200" y="2505075"/>
            <a:ext cx="5183188" cy="3684588"/>
          </a:xfrm>
        </p:spPr>
        <p:txBody>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a:extLst>
              <a:ext uri="{FF2B5EF4-FFF2-40B4-BE49-F238E27FC236}">
                <a16:creationId xmlns:a16="http://schemas.microsoft.com/office/drawing/2014/main" id="{C5ACEEAF-4684-F04E-80D2-76BE8988457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8" name="Alt Bilgi Yer Tutucusu 7">
            <a:extLst>
              <a:ext uri="{FF2B5EF4-FFF2-40B4-BE49-F238E27FC236}">
                <a16:creationId xmlns:a16="http://schemas.microsoft.com/office/drawing/2014/main" id="{5B223AD2-9BE0-0A4D-B738-5296F04B1D46}"/>
              </a:ext>
            </a:extLst>
          </p:cNvPr>
          <p:cNvSpPr>
            <a:spLocks noGrp="1"/>
          </p:cNvSpPr>
          <p:nvPr>
            <p:ph type="ftr" sz="quarter" idx="11"/>
          </p:nvPr>
        </p:nvSpPr>
        <p:spPr/>
        <p:txBody>
          <a:bodyPr/>
          <a:lstStyle/>
          <a:p>
            <a:endParaRPr lang="tr-TR"/>
          </a:p>
        </p:txBody>
      </p:sp>
      <p:sp>
        <p:nvSpPr>
          <p:cNvPr id="9" name="Slayt Numarası Yer Tutucusu 8">
            <a:extLst>
              <a:ext uri="{FF2B5EF4-FFF2-40B4-BE49-F238E27FC236}">
                <a16:creationId xmlns:a16="http://schemas.microsoft.com/office/drawing/2014/main" id="{BBEB5DF6-944F-E94C-A1BA-10A5A661D28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497544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ED3F0FF1-32E6-FD40-8A9C-E85D7C194BAA}"/>
              </a:ext>
            </a:extLst>
          </p:cNvPr>
          <p:cNvSpPr>
            <a:spLocks noGrp="1"/>
          </p:cNvSpPr>
          <p:nvPr>
            <p:ph type="title"/>
          </p:nvPr>
        </p:nvSpPr>
        <p:spPr/>
        <p:txBody>
          <a:bodyPr/>
          <a:lstStyle/>
          <a:p>
            <a:r>
              <a:rPr lang="tr-TR"/>
              <a:t>Asıl başlık stilini düzenlemek için tıklayın</a:t>
            </a:r>
          </a:p>
        </p:txBody>
      </p:sp>
      <p:sp>
        <p:nvSpPr>
          <p:cNvPr id="3" name="Veri Yer Tutucusu 2">
            <a:extLst>
              <a:ext uri="{FF2B5EF4-FFF2-40B4-BE49-F238E27FC236}">
                <a16:creationId xmlns:a16="http://schemas.microsoft.com/office/drawing/2014/main" id="{6D2C6123-FE18-C44A-A357-D8B6B0B53E18}"/>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4" name="Alt Bilgi Yer Tutucusu 3">
            <a:extLst>
              <a:ext uri="{FF2B5EF4-FFF2-40B4-BE49-F238E27FC236}">
                <a16:creationId xmlns:a16="http://schemas.microsoft.com/office/drawing/2014/main" id="{18C92C8A-24FE-B446-8032-DED13B381AE5}"/>
              </a:ext>
            </a:extLst>
          </p:cNvPr>
          <p:cNvSpPr>
            <a:spLocks noGrp="1"/>
          </p:cNvSpPr>
          <p:nvPr>
            <p:ph type="ftr" sz="quarter" idx="11"/>
          </p:nvPr>
        </p:nvSpPr>
        <p:spPr/>
        <p:txBody>
          <a:bodyPr/>
          <a:lstStyle/>
          <a:p>
            <a:endParaRPr lang="tr-TR"/>
          </a:p>
        </p:txBody>
      </p:sp>
      <p:sp>
        <p:nvSpPr>
          <p:cNvPr id="5" name="Slayt Numarası Yer Tutucusu 4">
            <a:extLst>
              <a:ext uri="{FF2B5EF4-FFF2-40B4-BE49-F238E27FC236}">
                <a16:creationId xmlns:a16="http://schemas.microsoft.com/office/drawing/2014/main" id="{DB36637B-5E7C-0847-BC64-C447140609F6}"/>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559690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a:extLst>
              <a:ext uri="{FF2B5EF4-FFF2-40B4-BE49-F238E27FC236}">
                <a16:creationId xmlns:a16="http://schemas.microsoft.com/office/drawing/2014/main" id="{EA6A8CB8-EFDA-1841-AB52-284AC13EB04C}"/>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3" name="Alt Bilgi Yer Tutucusu 2">
            <a:extLst>
              <a:ext uri="{FF2B5EF4-FFF2-40B4-BE49-F238E27FC236}">
                <a16:creationId xmlns:a16="http://schemas.microsoft.com/office/drawing/2014/main" id="{518FACD0-1C0C-F844-A6D9-6990A191D4C8}"/>
              </a:ext>
            </a:extLst>
          </p:cNvPr>
          <p:cNvSpPr>
            <a:spLocks noGrp="1"/>
          </p:cNvSpPr>
          <p:nvPr>
            <p:ph type="ftr" sz="quarter" idx="11"/>
          </p:nvPr>
        </p:nvSpPr>
        <p:spPr/>
        <p:txBody>
          <a:bodyPr/>
          <a:lstStyle/>
          <a:p>
            <a:endParaRPr lang="tr-TR"/>
          </a:p>
        </p:txBody>
      </p:sp>
      <p:sp>
        <p:nvSpPr>
          <p:cNvPr id="4" name="Slayt Numarası Yer Tutucusu 3">
            <a:extLst>
              <a:ext uri="{FF2B5EF4-FFF2-40B4-BE49-F238E27FC236}">
                <a16:creationId xmlns:a16="http://schemas.microsoft.com/office/drawing/2014/main" id="{536F959D-05A5-F54F-866D-1FC89F6DD263}"/>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737328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753FE235-85E2-1A43-BF30-191677246E17}"/>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İçerik Yer Tutucusu 2">
            <a:extLst>
              <a:ext uri="{FF2B5EF4-FFF2-40B4-BE49-F238E27FC236}">
                <a16:creationId xmlns:a16="http://schemas.microsoft.com/office/drawing/2014/main" id="{E8CC76E4-8C64-B342-B4EC-44F7600841F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a:extLst>
              <a:ext uri="{FF2B5EF4-FFF2-40B4-BE49-F238E27FC236}">
                <a16:creationId xmlns:a16="http://schemas.microsoft.com/office/drawing/2014/main" id="{0C9758BE-896D-4443-9F29-4E18D53FB0A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65AB6F4E-2BB2-9542-83B0-174B6AC191AD}"/>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98C1D8FA-7F1B-BE43-BC85-4673B367B427}"/>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F695DCC4-1DAA-064E-8320-65BC1EBE6479}"/>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24003492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CF589E15-52F3-DB45-A42D-3F61DE42DCA9}"/>
              </a:ext>
            </a:extLst>
          </p:cNvPr>
          <p:cNvSpPr>
            <a:spLocks noGrp="1"/>
          </p:cNvSpPr>
          <p:nvPr>
            <p:ph type="title"/>
          </p:nvPr>
        </p:nvSpPr>
        <p:spPr>
          <a:xfrm>
            <a:off x="839788" y="457200"/>
            <a:ext cx="3932237" cy="1600200"/>
          </a:xfrm>
        </p:spPr>
        <p:txBody>
          <a:bodyPr anchor="b"/>
          <a:lstStyle>
            <a:lvl1pPr>
              <a:defRPr sz="3200"/>
            </a:lvl1pPr>
          </a:lstStyle>
          <a:p>
            <a:r>
              <a:rPr lang="tr-TR"/>
              <a:t>Asıl başlık stilini düzenlemek için tıklayın</a:t>
            </a:r>
          </a:p>
        </p:txBody>
      </p:sp>
      <p:sp>
        <p:nvSpPr>
          <p:cNvPr id="3" name="Resim Yer Tutucusu 2">
            <a:extLst>
              <a:ext uri="{FF2B5EF4-FFF2-40B4-BE49-F238E27FC236}">
                <a16:creationId xmlns:a16="http://schemas.microsoft.com/office/drawing/2014/main" id="{087BD87E-B3E7-DF45-95D0-286AFA3AB38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a:p>
        </p:txBody>
      </p:sp>
      <p:sp>
        <p:nvSpPr>
          <p:cNvPr id="4" name="Metin Yer Tutucusu 3">
            <a:extLst>
              <a:ext uri="{FF2B5EF4-FFF2-40B4-BE49-F238E27FC236}">
                <a16:creationId xmlns:a16="http://schemas.microsoft.com/office/drawing/2014/main" id="{CB831928-3F51-F445-ADB5-05183485EB3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tıklayın</a:t>
            </a:r>
          </a:p>
        </p:txBody>
      </p:sp>
      <p:sp>
        <p:nvSpPr>
          <p:cNvPr id="5" name="Veri Yer Tutucusu 4">
            <a:extLst>
              <a:ext uri="{FF2B5EF4-FFF2-40B4-BE49-F238E27FC236}">
                <a16:creationId xmlns:a16="http://schemas.microsoft.com/office/drawing/2014/main" id="{ADB8D77B-5A0A-F64D-B935-6497FC341E0A}"/>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6" name="Alt Bilgi Yer Tutucusu 5">
            <a:extLst>
              <a:ext uri="{FF2B5EF4-FFF2-40B4-BE49-F238E27FC236}">
                <a16:creationId xmlns:a16="http://schemas.microsoft.com/office/drawing/2014/main" id="{50606790-016F-E54D-85B0-4B1E659B4C02}"/>
              </a:ext>
            </a:extLst>
          </p:cNvPr>
          <p:cNvSpPr>
            <a:spLocks noGrp="1"/>
          </p:cNvSpPr>
          <p:nvPr>
            <p:ph type="ftr" sz="quarter" idx="11"/>
          </p:nvPr>
        </p:nvSpPr>
        <p:spPr/>
        <p:txBody>
          <a:bodyPr/>
          <a:lstStyle/>
          <a:p>
            <a:endParaRPr lang="tr-TR"/>
          </a:p>
        </p:txBody>
      </p:sp>
      <p:sp>
        <p:nvSpPr>
          <p:cNvPr id="7" name="Slayt Numarası Yer Tutucusu 6">
            <a:extLst>
              <a:ext uri="{FF2B5EF4-FFF2-40B4-BE49-F238E27FC236}">
                <a16:creationId xmlns:a16="http://schemas.microsoft.com/office/drawing/2014/main" id="{2CED7389-4408-AA49-B7D2-C64C665284FD}"/>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41349623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ve Dikey Metin">
    <p:spTree>
      <p:nvGrpSpPr>
        <p:cNvPr id="1" name=""/>
        <p:cNvGrpSpPr/>
        <p:nvPr/>
      </p:nvGrpSpPr>
      <p:grpSpPr>
        <a:xfrm>
          <a:off x="0" y="0"/>
          <a:ext cx="0" cy="0"/>
          <a:chOff x="0" y="0"/>
          <a:chExt cx="0" cy="0"/>
        </a:xfrm>
      </p:grpSpPr>
      <p:sp>
        <p:nvSpPr>
          <p:cNvPr id="2" name="Başlık 1">
            <a:extLst>
              <a:ext uri="{FF2B5EF4-FFF2-40B4-BE49-F238E27FC236}">
                <a16:creationId xmlns:a16="http://schemas.microsoft.com/office/drawing/2014/main" id="{3823ABBF-61CE-2343-B786-F51900E187EB}"/>
              </a:ext>
            </a:extLst>
          </p:cNvPr>
          <p:cNvSpPr>
            <a:spLocks noGrp="1"/>
          </p:cNvSpPr>
          <p:nvPr>
            <p:ph type="title"/>
          </p:nvPr>
        </p:nvSpPr>
        <p:spPr/>
        <p:txBody>
          <a:bodyPr/>
          <a:lstStyle/>
          <a:p>
            <a:r>
              <a:rPr lang="tr-TR"/>
              <a:t>Asıl başlık stilini düzenlemek için tıklayın</a:t>
            </a:r>
          </a:p>
        </p:txBody>
      </p:sp>
      <p:sp>
        <p:nvSpPr>
          <p:cNvPr id="3" name="Dikey Metin Yer Tutucusu 2">
            <a:extLst>
              <a:ext uri="{FF2B5EF4-FFF2-40B4-BE49-F238E27FC236}">
                <a16:creationId xmlns:a16="http://schemas.microsoft.com/office/drawing/2014/main" id="{AE49DC93-9DC1-4049-A045-E6FBD9BEDA44}"/>
              </a:ext>
            </a:extLst>
          </p:cNvPr>
          <p:cNvSpPr>
            <a:spLocks noGrp="1"/>
          </p:cNvSpPr>
          <p:nvPr>
            <p:ph type="body" orient="vert" idx="1"/>
          </p:nvPr>
        </p:nvSpPr>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296BD782-94F5-5941-B929-871FD5683692}"/>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725E8FD7-FD2E-E44E-8873-B0F5664F608F}"/>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B0F22D4D-9D52-8947-9398-81B831C5AC17}"/>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31473469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a:extLst>
              <a:ext uri="{FF2B5EF4-FFF2-40B4-BE49-F238E27FC236}">
                <a16:creationId xmlns:a16="http://schemas.microsoft.com/office/drawing/2014/main" id="{9D8B94DF-9C10-F744-84AC-2D788A9B69A8}"/>
              </a:ext>
            </a:extLst>
          </p:cNvPr>
          <p:cNvSpPr>
            <a:spLocks noGrp="1"/>
          </p:cNvSpPr>
          <p:nvPr>
            <p:ph type="title" orient="vert"/>
          </p:nvPr>
        </p:nvSpPr>
        <p:spPr>
          <a:xfrm>
            <a:off x="8724900" y="365125"/>
            <a:ext cx="2628900" cy="5811838"/>
          </a:xfrm>
        </p:spPr>
        <p:txBody>
          <a:bodyPr vert="eaVert"/>
          <a:lstStyle/>
          <a:p>
            <a:r>
              <a:rPr lang="tr-TR"/>
              <a:t>Asıl başlık stilini düzenlemek için tıklayın</a:t>
            </a:r>
          </a:p>
        </p:txBody>
      </p:sp>
      <p:sp>
        <p:nvSpPr>
          <p:cNvPr id="3" name="Dikey Metin Yer Tutucusu 2">
            <a:extLst>
              <a:ext uri="{FF2B5EF4-FFF2-40B4-BE49-F238E27FC236}">
                <a16:creationId xmlns:a16="http://schemas.microsoft.com/office/drawing/2014/main" id="{EEE070A1-AF86-9443-AEFA-9B376AB8FEE0}"/>
              </a:ext>
            </a:extLst>
          </p:cNvPr>
          <p:cNvSpPr>
            <a:spLocks noGrp="1"/>
          </p:cNvSpPr>
          <p:nvPr>
            <p:ph type="body" orient="vert" idx="1"/>
          </p:nvPr>
        </p:nvSpPr>
        <p:spPr>
          <a:xfrm>
            <a:off x="838200" y="365125"/>
            <a:ext cx="7734300" cy="5811838"/>
          </a:xfrm>
        </p:spPr>
        <p:txBody>
          <a:bodyPr vert="eaVert"/>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C693308C-5B7C-B949-A2F9-F004509B35F4}"/>
              </a:ext>
            </a:extLst>
          </p:cNvPr>
          <p:cNvSpPr>
            <a:spLocks noGrp="1"/>
          </p:cNvSpPr>
          <p:nvPr>
            <p:ph type="dt" sz="half" idx="10"/>
          </p:nvPr>
        </p:nvSpPr>
        <p:spPr/>
        <p:txBody>
          <a:body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0646E30-46C7-B14D-9F74-F28EF8347E46}"/>
              </a:ext>
            </a:extLst>
          </p:cNvPr>
          <p:cNvSpPr>
            <a:spLocks noGrp="1"/>
          </p:cNvSpPr>
          <p:nvPr>
            <p:ph type="ftr" sz="quarter" idx="11"/>
          </p:nvPr>
        </p:nvSpPr>
        <p:spPr/>
        <p:txBody>
          <a:bodyPr/>
          <a:lstStyle/>
          <a:p>
            <a:endParaRPr lang="tr-TR"/>
          </a:p>
        </p:txBody>
      </p:sp>
      <p:sp>
        <p:nvSpPr>
          <p:cNvPr id="6" name="Slayt Numarası Yer Tutucusu 5">
            <a:extLst>
              <a:ext uri="{FF2B5EF4-FFF2-40B4-BE49-F238E27FC236}">
                <a16:creationId xmlns:a16="http://schemas.microsoft.com/office/drawing/2014/main" id="{6943329E-064A-C547-89FC-FB32F8117705}"/>
              </a:ext>
            </a:extLst>
          </p:cNvPr>
          <p:cNvSpPr>
            <a:spLocks noGrp="1"/>
          </p:cNvSpPr>
          <p:nvPr>
            <p:ph type="sldNum" sz="quarter" idx="12"/>
          </p:nvPr>
        </p:nvSpPr>
        <p:spPr/>
        <p:txBody>
          <a:bodyPr/>
          <a:lstStyle/>
          <a:p>
            <a:fld id="{C7B0F883-CC7D-2543-97CB-E121364E9FB5}" type="slidenum">
              <a:rPr lang="tr-TR" smtClean="0"/>
              <a:t>‹#›</a:t>
            </a:fld>
            <a:endParaRPr lang="tr-TR"/>
          </a:p>
        </p:txBody>
      </p:sp>
    </p:spTree>
    <p:extLst>
      <p:ext uri="{BB962C8B-B14F-4D97-AF65-F5344CB8AC3E}">
        <p14:creationId xmlns:p14="http://schemas.microsoft.com/office/powerpoint/2010/main" val="176482103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Başlık Yer Tutucusu 1">
            <a:extLst>
              <a:ext uri="{FF2B5EF4-FFF2-40B4-BE49-F238E27FC236}">
                <a16:creationId xmlns:a16="http://schemas.microsoft.com/office/drawing/2014/main" id="{1F91565E-1330-4B41-9057-C6551F413C8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stilini düzenlemek için tıklayın</a:t>
            </a:r>
          </a:p>
        </p:txBody>
      </p:sp>
      <p:sp>
        <p:nvSpPr>
          <p:cNvPr id="3" name="Metin Yer Tutucusu 2">
            <a:extLst>
              <a:ext uri="{FF2B5EF4-FFF2-40B4-BE49-F238E27FC236}">
                <a16:creationId xmlns:a16="http://schemas.microsoft.com/office/drawing/2014/main" id="{704A2AE8-5086-4F49-AEF5-F297986E21A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tıklayın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a:extLst>
              <a:ext uri="{FF2B5EF4-FFF2-40B4-BE49-F238E27FC236}">
                <a16:creationId xmlns:a16="http://schemas.microsoft.com/office/drawing/2014/main" id="{AA47F096-3E19-C541-9264-4ADD4AFAB6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162EC1A-E248-0345-9930-A1AA535348D4}" type="datetimeFigureOut">
              <a:rPr lang="tr-TR" smtClean="0"/>
              <a:t>4.06.2026</a:t>
            </a:fld>
            <a:endParaRPr lang="tr-TR"/>
          </a:p>
        </p:txBody>
      </p:sp>
      <p:sp>
        <p:nvSpPr>
          <p:cNvPr id="5" name="Alt Bilgi Yer Tutucusu 4">
            <a:extLst>
              <a:ext uri="{FF2B5EF4-FFF2-40B4-BE49-F238E27FC236}">
                <a16:creationId xmlns:a16="http://schemas.microsoft.com/office/drawing/2014/main" id="{13A27738-D8F5-9F47-8FC7-84CD34D5D7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a:p>
        </p:txBody>
      </p:sp>
      <p:sp>
        <p:nvSpPr>
          <p:cNvPr id="6" name="Slayt Numarası Yer Tutucusu 5">
            <a:extLst>
              <a:ext uri="{FF2B5EF4-FFF2-40B4-BE49-F238E27FC236}">
                <a16:creationId xmlns:a16="http://schemas.microsoft.com/office/drawing/2014/main" id="{33EFD96A-A9C0-114E-84B0-21F7E892BF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7B0F883-CC7D-2543-97CB-E121364E9FB5}" type="slidenum">
              <a:rPr lang="tr-TR" smtClean="0"/>
              <a:t>‹#›</a:t>
            </a:fld>
            <a:endParaRPr lang="tr-TR"/>
          </a:p>
        </p:txBody>
      </p:sp>
    </p:spTree>
    <p:extLst>
      <p:ext uri="{BB962C8B-B14F-4D97-AF65-F5344CB8AC3E}">
        <p14:creationId xmlns:p14="http://schemas.microsoft.com/office/powerpoint/2010/main" val="11067886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6.xml"/><Relationship Id="rId4" Type="http://schemas.openxmlformats.org/officeDocument/2006/relationships/chart" Target="../charts/char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chart" Target="../charts/char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3.png"/><Relationship Id="rId5"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Kadro ve İş Hacmi Değerlendirmesi</a:t>
            </a:r>
          </a:p>
        </p:txBody>
      </p:sp>
      <p:sp>
        <p:nvSpPr>
          <p:cNvPr id="3" name="Subtitle 2"/>
          <p:cNvSpPr>
            <a:spLocks noGrp="1"/>
          </p:cNvSpPr>
          <p:nvPr>
            <p:ph type="subTitle" idx="1"/>
          </p:nvPr>
        </p:nvSpPr>
        <p:spPr/>
        <p:txBody>
          <a:bodyPr/>
          <a:lstStyle/>
          <a:p>
            <a:r>
              <a:t>Sezon 2026 · Mağazalar · kadro 30.06 ve 31.08 · iş hacmi 01.07.2025 – 25.08.2025 ile 07.07.2026 – 31.08.2026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Yönetici Özeti — Norma Göre Durum</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 · KADRO + SEZON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217</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145 + sezonluk 72 · 11.08.2026 tarihli norm</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3"/>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GERÇEK · 31 AĞUSTOS (OPERASYONEL)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400" b="1">
                <a:solidFill>
                  <a:srgbClr val="9A9A9A"/>
                </a:solidFill>
                <a:latin typeface="Calibri"/>
              </a:rPr>
              <a:t>189</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engelli ve etkinlik norm dışı tutuldu</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lert-triangle.png"/>
          <p:cNvPicPr>
            <a:picLocks noChangeAspect="1"/>
          </p:cNvPicPr>
          <p:nvPr/>
        </p:nvPicPr>
        <p:blipFill>
          <a:blip r:embed="rId4"/>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NORMA GÖRE</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800" b="1">
                <a:solidFill>
                  <a:srgbClr val="A6001A"/>
                </a:solidFill>
                <a:latin typeface="Calibri"/>
              </a:rPr>
              <a:t>-28 kişi</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kadrolu -14 · sezonluk -14 (engelli/etkinlik norm dışı)</a:t>
            </a:r>
          </a:p>
        </p:txBody>
      </p:sp>
      <p:sp>
        <p:nvSpPr>
          <p:cNvPr id="21" name="Rounded Rectangle 20"/>
          <p:cNvSpPr/>
          <p:nvPr/>
        </p:nvSpPr>
        <p:spPr>
          <a:xfrm>
            <a:off x="548640" y="3310128"/>
            <a:ext cx="11018520" cy="749808"/>
          </a:xfrm>
          <a:prstGeom prst="roundRect">
            <a:avLst/>
          </a:prstGeom>
          <a:solidFill>
            <a:srgbClr val="F2F2F2"/>
          </a:solidFill>
          <a:ln w="2540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310128"/>
            <a:ext cx="10515600" cy="749808"/>
          </a:xfrm>
          <a:prstGeom prst="rect">
            <a:avLst/>
          </a:prstGeom>
          <a:noFill/>
        </p:spPr>
        <p:txBody>
          <a:bodyPr wrap="square" anchor="ctr">
            <a:spAutoFit/>
          </a:bodyPr>
          <a:lstStyle/>
          <a:p>
            <a:pPr algn="ctr">
              <a:lnSpc>
                <a:spcPct val="100000"/>
              </a:lnSpc>
            </a:pPr>
            <a:r>
              <a:rPr sz="1500" b="1">
                <a:solidFill>
                  <a:srgbClr val="A6001A"/>
                </a:solidFill>
                <a:latin typeface="Calibri"/>
              </a:rPr>
              <a:t>Kadro fazlası yok: 31 Ağustos'ta toplam personel şirketin kendi norm tablosunun 28 KİŞİ ALTINDADIR.</a:t>
            </a:r>
          </a:p>
        </p:txBody>
      </p:sp>
      <p:sp>
        <p:nvSpPr>
          <p:cNvPr id="23" name="Rectangle 22"/>
          <p:cNvSpPr/>
          <p:nvPr/>
        </p:nvSpPr>
        <p:spPr>
          <a:xfrm>
            <a:off x="548640" y="4133087"/>
            <a:ext cx="11018520" cy="1115568"/>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133087"/>
            <a:ext cx="68580" cy="1115568"/>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ackage.png"/>
          <p:cNvPicPr>
            <a:picLocks noChangeAspect="1"/>
          </p:cNvPicPr>
          <p:nvPr/>
        </p:nvPicPr>
        <p:blipFill>
          <a:blip r:embed="rId5"/>
          <a:stretch>
            <a:fillRect/>
          </a:stretch>
        </p:blipFill>
        <p:spPr>
          <a:xfrm>
            <a:off x="11091672" y="4297679"/>
            <a:ext cx="274320" cy="274320"/>
          </a:xfrm>
          <a:prstGeom prst="rect">
            <a:avLst/>
          </a:prstGeom>
        </p:spPr>
      </p:pic>
      <p:sp>
        <p:nvSpPr>
          <p:cNvPr id="26" name="TextBox 25"/>
          <p:cNvSpPr txBox="1"/>
          <p:nvPr/>
        </p:nvSpPr>
        <p:spPr>
          <a:xfrm>
            <a:off x="868680" y="4242816"/>
            <a:ext cx="5486400" cy="274320"/>
          </a:xfrm>
          <a:prstGeom prst="rect">
            <a:avLst/>
          </a:prstGeom>
          <a:noFill/>
        </p:spPr>
        <p:txBody>
          <a:bodyPr wrap="square" anchor="t">
            <a:spAutoFit/>
          </a:bodyPr>
          <a:lstStyle/>
          <a:p>
            <a:pPr algn="l">
              <a:lnSpc>
                <a:spcPct val="100000"/>
              </a:lnSpc>
            </a:pPr>
            <a:r>
              <a:rPr sz="950" b="1">
                <a:solidFill>
                  <a:srgbClr val="6E6E6E"/>
                </a:solidFill>
                <a:latin typeface="Calibri"/>
              </a:rPr>
              <a:t>AYNI DÖNEMDE İŞ HACMİ · ÜÇ POS MAĞAZASI</a:t>
            </a:r>
          </a:p>
        </p:txBody>
      </p:sp>
      <p:sp>
        <p:nvSpPr>
          <p:cNvPr id="27" name="TextBox 26"/>
          <p:cNvSpPr txBox="1"/>
          <p:nvPr/>
        </p:nvSpPr>
        <p:spPr>
          <a:xfrm>
            <a:off x="868680" y="4553712"/>
            <a:ext cx="10241280" cy="621792"/>
          </a:xfrm>
          <a:prstGeom prst="rect">
            <a:avLst/>
          </a:prstGeom>
          <a:noFill/>
        </p:spPr>
        <p:txBody>
          <a:bodyPr wrap="square" anchor="t">
            <a:spAutoFit/>
          </a:bodyPr>
          <a:lstStyle/>
          <a:p>
            <a:pPr algn="l">
              <a:lnSpc>
                <a:spcPct val="100000"/>
              </a:lnSpc>
            </a:pPr>
            <a:r>
              <a:rPr sz="1400" b="1">
                <a:solidFill>
                  <a:srgbClr val="A6001A"/>
                </a:solidFill>
                <a:latin typeface="Calibri"/>
              </a:rPr>
              <a:t>ürün adedi +%34,9 (574.656 → 775.032) · ciro +%70,6 — eksik kadroyla üretildi</a:t>
            </a:r>
          </a:p>
        </p:txBody>
      </p:sp>
      <p:sp>
        <p:nvSpPr>
          <p:cNvPr id="28" name="TextBox 27"/>
          <p:cNvSpPr txBox="1"/>
          <p:nvPr/>
        </p:nvSpPr>
        <p:spPr>
          <a:xfrm>
            <a:off x="548640" y="5321808"/>
            <a:ext cx="11018520" cy="237744"/>
          </a:xfrm>
          <a:prstGeom prst="rect">
            <a:avLst/>
          </a:prstGeom>
          <a:noFill/>
        </p:spPr>
        <p:txBody>
          <a:bodyPr wrap="square" anchor="t">
            <a:spAutoFit/>
          </a:bodyPr>
          <a:lstStyle/>
          <a:p>
            <a:pPr algn="l">
              <a:lnSpc>
                <a:spcPct val="100000"/>
              </a:lnSpc>
            </a:pPr>
            <a:r>
              <a:rPr sz="950" b="0">
                <a:solidFill>
                  <a:srgbClr val="6E6E6E"/>
                </a:solidFill>
                <a:latin typeface="Calibri"/>
              </a:rPr>
              <a:t>Kadro farkı sezon ÖNCESİNDE oluştu (taban 30.06: 139 → 153, +14) · sezon içinde kadrolu -4 · personel başına iş +%20,5 · mağaza ve grup kırılımı detay slaytlarında.</a:t>
            </a:r>
          </a:p>
        </p:txBody>
      </p:sp>
      <p:sp>
        <p:nvSpPr>
          <p:cNvPr id="29" name="TextBox 28"/>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kadrosu da norm dışı — gerçek rakamdan düşüldü (engelli 3 · etkinlik 3 kişi). İK'nın kayıt toplamı kadrolu 137 + sezonluk 58 = 195 · Norm kaynağı: BKMKİTAP Mağaza Kadro ve Sezon Takip Tablosu, 11.08.2026 · Kapsam: dört mağaza (Şura norm tablosunda yok) · İş hacmi üç POS mağazası.</a:t>
            </a:r>
          </a:p>
        </p:txBody>
      </p:sp>
      <p:sp>
        <p:nvSpPr>
          <p:cNvPr id="30" name="TextBox 29"/>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Kadro Farkının Oluşum Dönemi</a:t>
            </a:r>
          </a:p>
        </p:txBody>
      </p:sp>
      <p:sp>
        <p:nvSpPr>
          <p:cNvPr id="3" name="Rectangle 2"/>
          <p:cNvSpPr/>
          <p:nvPr/>
        </p:nvSpPr>
        <p:spPr>
          <a:xfrm>
            <a:off x="548640"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94944"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2025 tabanı</a:t>
            </a:r>
          </a:p>
        </p:txBody>
      </p:sp>
      <p:sp>
        <p:nvSpPr>
          <p:cNvPr id="6" name="TextBox 5"/>
          <p:cNvSpPr txBox="1"/>
          <p:nvPr/>
        </p:nvSpPr>
        <p:spPr>
          <a:xfrm>
            <a:off x="694944"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139</a:t>
            </a:r>
          </a:p>
        </p:txBody>
      </p:sp>
      <p:sp>
        <p:nvSpPr>
          <p:cNvPr id="7" name="TextBox 6"/>
          <p:cNvSpPr txBox="1"/>
          <p:nvPr/>
        </p:nvSpPr>
        <p:spPr>
          <a:xfrm>
            <a:off x="694944"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2025</a:t>
            </a:r>
          </a:p>
        </p:txBody>
      </p:sp>
      <p:sp>
        <p:nvSpPr>
          <p:cNvPr id="8" name="TextBox 7"/>
          <p:cNvSpPr txBox="1"/>
          <p:nvPr/>
        </p:nvSpPr>
        <p:spPr>
          <a:xfrm>
            <a:off x="2633472"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9" name="Rectangle 8"/>
          <p:cNvSpPr/>
          <p:nvPr/>
        </p:nvSpPr>
        <p:spPr>
          <a:xfrm>
            <a:off x="2779776"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79776" y="1417320"/>
            <a:ext cx="68580" cy="17373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26080"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öncesi eklenen</a:t>
            </a:r>
          </a:p>
        </p:txBody>
      </p:sp>
      <p:sp>
        <p:nvSpPr>
          <p:cNvPr id="12" name="TextBox 11"/>
          <p:cNvSpPr txBox="1"/>
          <p:nvPr/>
        </p:nvSpPr>
        <p:spPr>
          <a:xfrm>
            <a:off x="2926080" y="1965960"/>
            <a:ext cx="1828800" cy="640080"/>
          </a:xfrm>
          <a:prstGeom prst="rect">
            <a:avLst/>
          </a:prstGeom>
          <a:noFill/>
        </p:spPr>
        <p:txBody>
          <a:bodyPr wrap="square" anchor="t">
            <a:spAutoFit/>
          </a:bodyPr>
          <a:lstStyle/>
          <a:p>
            <a:pPr algn="l">
              <a:lnSpc>
                <a:spcPct val="100000"/>
              </a:lnSpc>
            </a:pPr>
            <a:r>
              <a:rPr sz="3000" b="1">
                <a:solidFill>
                  <a:srgbClr val="E30622"/>
                </a:solidFill>
                <a:latin typeface="Calibri"/>
              </a:rPr>
              <a:t>+14</a:t>
            </a:r>
          </a:p>
        </p:txBody>
      </p:sp>
      <p:sp>
        <p:nvSpPr>
          <p:cNvPr id="13" name="TextBox 12"/>
          <p:cNvSpPr txBox="1"/>
          <p:nvPr/>
        </p:nvSpPr>
        <p:spPr>
          <a:xfrm>
            <a:off x="2926080"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Temmuz'dan önce</a:t>
            </a:r>
          </a:p>
        </p:txBody>
      </p:sp>
      <p:sp>
        <p:nvSpPr>
          <p:cNvPr id="14" name="TextBox 13"/>
          <p:cNvSpPr txBox="1"/>
          <p:nvPr/>
        </p:nvSpPr>
        <p:spPr>
          <a:xfrm>
            <a:off x="4864608"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15" name="Rectangle 14"/>
          <p:cNvSpPr/>
          <p:nvPr/>
        </p:nvSpPr>
        <p:spPr>
          <a:xfrm>
            <a:off x="5010912"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0912"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57216"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2026 tabanı</a:t>
            </a:r>
          </a:p>
        </p:txBody>
      </p:sp>
      <p:sp>
        <p:nvSpPr>
          <p:cNvPr id="18" name="TextBox 17"/>
          <p:cNvSpPr txBox="1"/>
          <p:nvPr/>
        </p:nvSpPr>
        <p:spPr>
          <a:xfrm>
            <a:off x="5157216"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153</a:t>
            </a:r>
          </a:p>
        </p:txBody>
      </p:sp>
      <p:sp>
        <p:nvSpPr>
          <p:cNvPr id="19" name="TextBox 18"/>
          <p:cNvSpPr txBox="1"/>
          <p:nvPr/>
        </p:nvSpPr>
        <p:spPr>
          <a:xfrm>
            <a:off x="5157216"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30 Haziran 2026</a:t>
            </a:r>
          </a:p>
        </p:txBody>
      </p:sp>
      <p:sp>
        <p:nvSpPr>
          <p:cNvPr id="20" name="TextBox 19"/>
          <p:cNvSpPr txBox="1"/>
          <p:nvPr/>
        </p:nvSpPr>
        <p:spPr>
          <a:xfrm>
            <a:off x="7095744"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1" name="Rectangle 20"/>
          <p:cNvSpPr/>
          <p:nvPr/>
        </p:nvSpPr>
        <p:spPr>
          <a:xfrm>
            <a:off x="7242048"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42048" y="1417320"/>
            <a:ext cx="68580" cy="17373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88352"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Sezon içi değişim</a:t>
            </a:r>
          </a:p>
        </p:txBody>
      </p:sp>
      <p:sp>
        <p:nvSpPr>
          <p:cNvPr id="24" name="TextBox 23"/>
          <p:cNvSpPr txBox="1"/>
          <p:nvPr/>
        </p:nvSpPr>
        <p:spPr>
          <a:xfrm>
            <a:off x="7388352" y="1965960"/>
            <a:ext cx="1828800" cy="640080"/>
          </a:xfrm>
          <a:prstGeom prst="rect">
            <a:avLst/>
          </a:prstGeom>
          <a:noFill/>
        </p:spPr>
        <p:txBody>
          <a:bodyPr wrap="square" anchor="t">
            <a:spAutoFit/>
          </a:bodyPr>
          <a:lstStyle/>
          <a:p>
            <a:pPr algn="l">
              <a:lnSpc>
                <a:spcPct val="100000"/>
              </a:lnSpc>
            </a:pPr>
            <a:r>
              <a:rPr sz="3000" b="1">
                <a:solidFill>
                  <a:srgbClr val="A6001A"/>
                </a:solidFill>
                <a:latin typeface="Calibri"/>
              </a:rPr>
              <a:t>-4</a:t>
            </a:r>
          </a:p>
        </p:txBody>
      </p:sp>
      <p:sp>
        <p:nvSpPr>
          <p:cNvPr id="25" name="TextBox 24"/>
          <p:cNvSpPr txBox="1"/>
          <p:nvPr/>
        </p:nvSpPr>
        <p:spPr>
          <a:xfrm>
            <a:off x="7388352"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1 Tem – 31 Ağu</a:t>
            </a:r>
          </a:p>
        </p:txBody>
      </p:sp>
      <p:sp>
        <p:nvSpPr>
          <p:cNvPr id="26" name="TextBox 25"/>
          <p:cNvSpPr txBox="1"/>
          <p:nvPr/>
        </p:nvSpPr>
        <p:spPr>
          <a:xfrm>
            <a:off x="9326880" y="2011680"/>
            <a:ext cx="146304" cy="365760"/>
          </a:xfrm>
          <a:prstGeom prst="rect">
            <a:avLst/>
          </a:prstGeom>
          <a:noFill/>
        </p:spPr>
        <p:txBody>
          <a:bodyPr wrap="square" anchor="t">
            <a:spAutoFit/>
          </a:bodyPr>
          <a:lstStyle/>
          <a:p>
            <a:pPr algn="ctr">
              <a:lnSpc>
                <a:spcPct val="100000"/>
              </a:lnSpc>
            </a:pPr>
            <a:r>
              <a:rPr sz="2000" b="1">
                <a:solidFill>
                  <a:srgbClr val="9A9A9A"/>
                </a:solidFill>
                <a:latin typeface="Calibri"/>
              </a:rPr>
              <a:t>›</a:t>
            </a:r>
          </a:p>
        </p:txBody>
      </p:sp>
      <p:sp>
        <p:nvSpPr>
          <p:cNvPr id="27" name="Rectangle 26"/>
          <p:cNvSpPr/>
          <p:nvPr/>
        </p:nvSpPr>
        <p:spPr>
          <a:xfrm>
            <a:off x="9473184" y="1417320"/>
            <a:ext cx="2084831" cy="17373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473184" y="1417320"/>
            <a:ext cx="68580" cy="173736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619488" y="1536192"/>
            <a:ext cx="1828800" cy="457200"/>
          </a:xfrm>
          <a:prstGeom prst="rect">
            <a:avLst/>
          </a:prstGeom>
          <a:noFill/>
        </p:spPr>
        <p:txBody>
          <a:bodyPr wrap="square" anchor="t">
            <a:spAutoFit/>
          </a:bodyPr>
          <a:lstStyle/>
          <a:p>
            <a:pPr algn="l">
              <a:lnSpc>
                <a:spcPct val="100000"/>
              </a:lnSpc>
            </a:pPr>
            <a:r>
              <a:rPr sz="1050" b="1">
                <a:solidFill>
                  <a:srgbClr val="6E6E6E"/>
                </a:solidFill>
                <a:latin typeface="Calibri"/>
              </a:rPr>
              <a:t>31 Ağustos 2026</a:t>
            </a:r>
          </a:p>
        </p:txBody>
      </p:sp>
      <p:sp>
        <p:nvSpPr>
          <p:cNvPr id="30" name="TextBox 29"/>
          <p:cNvSpPr txBox="1"/>
          <p:nvPr/>
        </p:nvSpPr>
        <p:spPr>
          <a:xfrm>
            <a:off x="9619488" y="1965960"/>
            <a:ext cx="1828800" cy="640080"/>
          </a:xfrm>
          <a:prstGeom prst="rect">
            <a:avLst/>
          </a:prstGeom>
          <a:noFill/>
        </p:spPr>
        <p:txBody>
          <a:bodyPr wrap="square" anchor="t">
            <a:spAutoFit/>
          </a:bodyPr>
          <a:lstStyle/>
          <a:p>
            <a:pPr algn="l">
              <a:lnSpc>
                <a:spcPct val="100000"/>
              </a:lnSpc>
            </a:pPr>
            <a:r>
              <a:rPr sz="3000" b="1">
                <a:solidFill>
                  <a:srgbClr val="9A9A9A"/>
                </a:solidFill>
                <a:latin typeface="Calibri"/>
              </a:rPr>
              <a:t>149</a:t>
            </a:r>
          </a:p>
        </p:txBody>
      </p:sp>
      <p:sp>
        <p:nvSpPr>
          <p:cNvPr id="31" name="TextBox 30"/>
          <p:cNvSpPr txBox="1"/>
          <p:nvPr/>
        </p:nvSpPr>
        <p:spPr>
          <a:xfrm>
            <a:off x="9619488" y="2670048"/>
            <a:ext cx="1828800" cy="365760"/>
          </a:xfrm>
          <a:prstGeom prst="rect">
            <a:avLst/>
          </a:prstGeom>
          <a:noFill/>
        </p:spPr>
        <p:txBody>
          <a:bodyPr wrap="square" anchor="t">
            <a:spAutoFit/>
          </a:bodyPr>
          <a:lstStyle/>
          <a:p>
            <a:pPr algn="l">
              <a:lnSpc>
                <a:spcPct val="100000"/>
              </a:lnSpc>
            </a:pPr>
            <a:r>
              <a:rPr sz="950" b="0">
                <a:solidFill>
                  <a:srgbClr val="9A9A9A"/>
                </a:solidFill>
                <a:latin typeface="Calibri"/>
              </a:rPr>
              <a:t>sezon zirvesi</a:t>
            </a:r>
          </a:p>
        </p:txBody>
      </p:sp>
      <p:graphicFrame>
        <p:nvGraphicFramePr>
          <p:cNvPr id="32" name="Chart 31"/>
          <p:cNvGraphicFramePr>
            <a:graphicFrameLocks noGrp="1"/>
          </p:cNvGraphicFramePr>
          <p:nvPr/>
        </p:nvGraphicFramePr>
        <p:xfrm>
          <a:off x="548640" y="3383280"/>
          <a:ext cx="5577840" cy="1874519"/>
        </p:xfrm>
        <a:graphic>
          <a:graphicData uri="http://schemas.openxmlformats.org/drawingml/2006/chart">
            <c:chart xmlns:c="http://schemas.openxmlformats.org/drawingml/2006/chart" r:id="rId3"/>
          </a:graphicData>
        </a:graphic>
      </p:graphicFrame>
      <p:sp>
        <p:nvSpPr>
          <p:cNvPr id="33" name="Rounded Rectangle 32"/>
          <p:cNvSpPr/>
          <p:nvPr/>
        </p:nvSpPr>
        <p:spPr>
          <a:xfrm>
            <a:off x="6400800" y="3474720"/>
            <a:ext cx="516636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9400" y="3584448"/>
            <a:ext cx="4754880" cy="1417320"/>
          </a:xfrm>
          <a:prstGeom prst="rect">
            <a:avLst/>
          </a:prstGeom>
          <a:noFill/>
        </p:spPr>
        <p:txBody>
          <a:bodyPr wrap="square" anchor="t">
            <a:spAutoFit/>
          </a:bodyPr>
          <a:lstStyle/>
          <a:p>
            <a:pPr algn="l">
              <a:lnSpc>
                <a:spcPct val="115000"/>
              </a:lnSpc>
            </a:pPr>
            <a:r>
              <a:rPr sz="1500" b="1">
                <a:solidFill>
                  <a:srgbClr val="A6001A"/>
                </a:solidFill>
                <a:latin typeface="Calibri"/>
              </a:rPr>
              <a:t>Sezon döneminde kadro artışı yoktur.</a:t>
            </a:r>
          </a:p>
          <a:p>
            <a:pPr algn="l">
              <a:lnSpc>
                <a:spcPct val="115000"/>
              </a:lnSpc>
            </a:pPr>
            <a:r>
              <a:rPr sz="1200" b="0">
                <a:solidFill>
                  <a:srgbClr val="333333"/>
                </a:solidFill>
                <a:latin typeface="Calibri"/>
              </a:rPr>
              <a:t>Kadrolu personel 153 → 149 (-4). Önceki yıl da aynı yönde (-4): sezon döneminde alınan kadrolu personel ayrılanların yerine gelmiş, kadroyu büyütmemiştir.</a:t>
            </a:r>
          </a:p>
        </p:txBody>
      </p:sp>
      <p:sp>
        <p:nvSpPr>
          <p:cNvPr id="35" name="TextBox 3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36" name="TextBox 3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Bazında Kadro</a:t>
            </a:r>
          </a:p>
        </p:txBody>
      </p:sp>
      <p:graphicFrame>
        <p:nvGraphicFramePr>
          <p:cNvPr id="3" name="Table 2"/>
          <p:cNvGraphicFramePr>
            <a:graphicFrameLocks noGrp="1"/>
          </p:cNvGraphicFramePr>
          <p:nvPr/>
        </p:nvGraphicFramePr>
        <p:xfrm>
          <a:off x="548640" y="1417320"/>
          <a:ext cx="11018520" cy="3089366"/>
        </p:xfrm>
        <a:graphic>
          <a:graphicData uri="http://schemas.openxmlformats.org/drawingml/2006/table">
            <a:tbl>
              <a:tblPr firstRow="1" bandRow="1">
                <a:tableStyleId>{5C22544A-7EE6-4342-B048-85BDC9FD1C3A}</a:tableStyleId>
              </a:tblPr>
              <a:tblGrid>
                <a:gridCol w="1417320"/>
                <a:gridCol w="1005840"/>
                <a:gridCol w="1005840"/>
                <a:gridCol w="1005840"/>
                <a:gridCol w="1005840"/>
                <a:gridCol w="841248"/>
                <a:gridCol w="841248"/>
                <a:gridCol w="1005840"/>
                <a:gridCol w="1005840"/>
                <a:gridCol w="941832"/>
                <a:gridCol w="941832"/>
              </a:tblGrid>
              <a:tr h="502920">
                <a:tc>
                  <a:txBody>
                    <a:bodyPr/>
                    <a:lstStyle/>
                    <a:p>
                      <a:pPr algn="l"/>
                      <a:r>
                        <a:rPr sz="850" b="1">
                          <a:solidFill>
                            <a:srgbClr val="FFFFFF"/>
                          </a:solidFill>
                          <a:latin typeface="Calibri"/>
                        </a:rPr>
                        <a:t>Mağaza</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30.06</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Kadrolu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 içi</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2025</a:t>
                      </a:r>
                    </a:p>
                  </a:txBody>
                  <a:tcPr>
                    <a:solidFill>
                      <a:srgbClr val="E30622"/>
                    </a:solidFill>
                  </a:tcPr>
                </a:tc>
                <a:tc>
                  <a:txBody>
                    <a:bodyPr/>
                    <a:lstStyle/>
                    <a:p>
                      <a:pPr algn="ctr"/>
                      <a:r>
                        <a:rPr sz="850" b="1">
                          <a:solidFill>
                            <a:srgbClr val="FFFFFF"/>
                          </a:solidFill>
                          <a:latin typeface="Calibri"/>
                        </a:rPr>
                        <a:t>Sezonluk 31.08</a:t>
                      </a:r>
                    </a:p>
                    <a:p>
                      <a:pPr algn="ctr"/>
                      <a:r>
                        <a:rPr sz="850" b="1">
                          <a:solidFill>
                            <a:srgbClr val="FFFFFF"/>
                          </a:solidFill>
                          <a:latin typeface="Calibri"/>
                        </a:rPr>
                        <a:t>2026</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2025</a:t>
                      </a:r>
                    </a:p>
                  </a:txBody>
                  <a:tcPr>
                    <a:solidFill>
                      <a:srgbClr val="E30622"/>
                    </a:solidFill>
                  </a:tcPr>
                </a:tc>
                <a:tc>
                  <a:txBody>
                    <a:bodyPr/>
                    <a:lstStyle/>
                    <a:p>
                      <a:pPr algn="ctr"/>
                      <a:r>
                        <a:rPr sz="850" b="1">
                          <a:solidFill>
                            <a:srgbClr val="FFFFFF"/>
                          </a:solidFill>
                          <a:latin typeface="Calibri"/>
                        </a:rPr>
                        <a:t>GENEL TOPLAM</a:t>
                      </a:r>
                    </a:p>
                    <a:p>
                      <a:pPr algn="ctr"/>
                      <a:r>
                        <a:rPr sz="850" b="1">
                          <a:solidFill>
                            <a:srgbClr val="FFFFFF"/>
                          </a:solidFill>
                          <a:latin typeface="Calibri"/>
                        </a:rPr>
                        <a:t>31.08 · 2026</a:t>
                      </a:r>
                    </a:p>
                  </a:txBody>
                  <a:tcPr>
                    <a:solidFill>
                      <a:srgbClr val="E30622"/>
                    </a:solidFill>
                  </a:tcPr>
                </a:tc>
              </a:tr>
              <a:tr h="431074">
                <a:tc>
                  <a:txBody>
                    <a:bodyPr/>
                    <a:lstStyle/>
                    <a:p>
                      <a:pPr algn="l"/>
                      <a:r>
                        <a:rPr sz="1050" b="0">
                          <a:solidFill>
                            <a:srgbClr val="333333"/>
                          </a:solidFill>
                          <a:latin typeface="Calibri"/>
                        </a:rPr>
                        <a:t>İst. Yolu</a:t>
                      </a:r>
                    </a:p>
                  </a:txBody>
                  <a:tcPr>
                    <a:solidFill>
                      <a:srgbClr val="FFFFFF"/>
                    </a:solidFill>
                  </a:tcPr>
                </a:tc>
                <a:tc>
                  <a:txBody>
                    <a:bodyPr/>
                    <a:lstStyle/>
                    <a:p>
                      <a:pPr algn="ctr"/>
                      <a:r>
                        <a:rPr sz="1050" b="0">
                          <a:solidFill>
                            <a:srgbClr val="333333"/>
                          </a:solidFill>
                          <a:latin typeface="Calibri"/>
                        </a:rPr>
                        <a:t>29</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27</a:t>
                      </a:r>
                    </a:p>
                  </a:txBody>
                  <a:tcPr>
                    <a:solidFill>
                      <a:srgbClr val="FFFFFF"/>
                    </a:solidFill>
                  </a:tcPr>
                </a:tc>
                <a:tc>
                  <a:txBody>
                    <a:bodyPr/>
                    <a:lstStyle/>
                    <a:p>
                      <a:pPr algn="ctr"/>
                      <a:r>
                        <a:rPr sz="1050" b="0">
                          <a:solidFill>
                            <a:srgbClr val="333333"/>
                          </a:solidFill>
                          <a:latin typeface="Calibri"/>
                        </a:rPr>
                        <a:t>36</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23</a:t>
                      </a:r>
                    </a:p>
                  </a:txBody>
                  <a:tcPr>
                    <a:solidFill>
                      <a:srgbClr val="FFFFFF"/>
                    </a:solidFill>
                  </a:tcPr>
                </a:tc>
                <a:tc>
                  <a:txBody>
                    <a:bodyPr/>
                    <a:lstStyle/>
                    <a:p>
                      <a:pPr algn="ctr"/>
                      <a:r>
                        <a:rPr sz="1050" b="0">
                          <a:solidFill>
                            <a:srgbClr val="333333"/>
                          </a:solidFill>
                          <a:latin typeface="Calibri"/>
                        </a:rPr>
                        <a:t>25</a:t>
                      </a:r>
                    </a:p>
                  </a:txBody>
                  <a:tcPr>
                    <a:solidFill>
                      <a:srgbClr val="FFFFFF"/>
                    </a:solidFill>
                  </a:tcPr>
                </a:tc>
                <a:tc>
                  <a:txBody>
                    <a:bodyPr/>
                    <a:lstStyle/>
                    <a:p>
                      <a:pPr algn="ctr"/>
                      <a:r>
                        <a:rPr sz="1050" b="1">
                          <a:solidFill>
                            <a:srgbClr val="A6001A"/>
                          </a:solidFill>
                          <a:latin typeface="Calibri"/>
                        </a:rPr>
                        <a:t>50</a:t>
                      </a:r>
                    </a:p>
                  </a:txBody>
                  <a:tcPr>
                    <a:solidFill>
                      <a:srgbClr val="FDF2F3"/>
                    </a:solidFill>
                  </a:tcPr>
                </a:tc>
                <a:tc>
                  <a:txBody>
                    <a:bodyPr/>
                    <a:lstStyle/>
                    <a:p>
                      <a:pPr algn="ctr"/>
                      <a:r>
                        <a:rPr sz="1050" b="1">
                          <a:solidFill>
                            <a:srgbClr val="A6001A"/>
                          </a:solidFill>
                          <a:latin typeface="Calibri"/>
                        </a:rPr>
                        <a:t>61</a:t>
                      </a:r>
                    </a:p>
                  </a:txBody>
                  <a:tcPr>
                    <a:solidFill>
                      <a:srgbClr val="FDF2F3"/>
                    </a:solidFill>
                  </a:tcPr>
                </a:tc>
              </a:tr>
              <a:tr h="431074">
                <a:tc>
                  <a:txBody>
                    <a:bodyPr/>
                    <a:lstStyle/>
                    <a:p>
                      <a:pPr algn="l"/>
                      <a:r>
                        <a:rPr sz="1050" b="0">
                          <a:solidFill>
                            <a:srgbClr val="333333"/>
                          </a:solidFill>
                          <a:latin typeface="Calibri"/>
                        </a:rPr>
                        <a:t>Özlüce</a:t>
                      </a:r>
                    </a:p>
                  </a:txBody>
                  <a:tcPr>
                    <a:solidFill>
                      <a:srgbClr val="FAFAFA"/>
                    </a:solidFill>
                  </a:tcPr>
                </a:tc>
                <a:tc>
                  <a:txBody>
                    <a:bodyPr/>
                    <a:lstStyle/>
                    <a:p>
                      <a:pPr algn="ctr"/>
                      <a:r>
                        <a:rPr sz="1050" b="0">
                          <a:solidFill>
                            <a:srgbClr val="333333"/>
                          </a:solidFill>
                          <a:latin typeface="Calibri"/>
                        </a:rPr>
                        <a:t>39</a:t>
                      </a:r>
                    </a:p>
                  </a:txBody>
                  <a:tcPr>
                    <a:solidFill>
                      <a:srgbClr val="FAFAFA"/>
                    </a:solidFill>
                  </a:tcPr>
                </a:tc>
                <a:tc>
                  <a:txBody>
                    <a:bodyPr/>
                    <a:lstStyle/>
                    <a:p>
                      <a:pPr algn="ctr"/>
                      <a:r>
                        <a:rPr sz="1050" b="0">
                          <a:solidFill>
                            <a:srgbClr val="333333"/>
                          </a:solidFill>
                          <a:latin typeface="Calibri"/>
                        </a:rPr>
                        <a:t>44</a:t>
                      </a:r>
                    </a:p>
                  </a:txBody>
                  <a:tcPr>
                    <a:solidFill>
                      <a:srgbClr val="FAFAFA"/>
                    </a:solidFill>
                  </a:tcPr>
                </a:tc>
                <a:tc>
                  <a:txBody>
                    <a:bodyPr/>
                    <a:lstStyle/>
                    <a:p>
                      <a:pPr algn="ctr"/>
                      <a:r>
                        <a:rPr sz="1050" b="0">
                          <a:solidFill>
                            <a:srgbClr val="333333"/>
                          </a:solidFill>
                          <a:latin typeface="Calibri"/>
                        </a:rPr>
                        <a:t>36</a:t>
                      </a:r>
                    </a:p>
                  </a:txBody>
                  <a:tcPr>
                    <a:solidFill>
                      <a:srgbClr val="FAFAFA"/>
                    </a:solidFill>
                  </a:tcPr>
                </a:tc>
                <a:tc>
                  <a:txBody>
                    <a:bodyPr/>
                    <a:lstStyle/>
                    <a:p>
                      <a:pPr algn="ctr"/>
                      <a:r>
                        <a:rPr sz="1050" b="0">
                          <a:solidFill>
                            <a:srgbClr val="333333"/>
                          </a:solidFill>
                          <a:latin typeface="Calibri"/>
                        </a:rPr>
                        <a:t>41</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15</a:t>
                      </a:r>
                    </a:p>
                  </a:txBody>
                  <a:tcPr>
                    <a:solidFill>
                      <a:srgbClr val="FAFAFA"/>
                    </a:solidFill>
                  </a:tcPr>
                </a:tc>
                <a:tc>
                  <a:txBody>
                    <a:bodyPr/>
                    <a:lstStyle/>
                    <a:p>
                      <a:pPr algn="ctr"/>
                      <a:r>
                        <a:rPr sz="1050" b="0">
                          <a:solidFill>
                            <a:srgbClr val="333333"/>
                          </a:solidFill>
                          <a:latin typeface="Calibri"/>
                        </a:rPr>
                        <a:t>13</a:t>
                      </a:r>
                    </a:p>
                  </a:txBody>
                  <a:tcPr>
                    <a:solidFill>
                      <a:srgbClr val="FAFAFA"/>
                    </a:solidFill>
                  </a:tcPr>
                </a:tc>
                <a:tc>
                  <a:txBody>
                    <a:bodyPr/>
                    <a:lstStyle/>
                    <a:p>
                      <a:pPr algn="ctr"/>
                      <a:r>
                        <a:rPr sz="1050" b="1">
                          <a:solidFill>
                            <a:srgbClr val="A6001A"/>
                          </a:solidFill>
                          <a:latin typeface="Calibri"/>
                        </a:rPr>
                        <a:t>51</a:t>
                      </a:r>
                    </a:p>
                  </a:txBody>
                  <a:tcPr>
                    <a:solidFill>
                      <a:srgbClr val="FDF2F3"/>
                    </a:solidFill>
                  </a:tcPr>
                </a:tc>
                <a:tc>
                  <a:txBody>
                    <a:bodyPr/>
                    <a:lstStyle/>
                    <a:p>
                      <a:pPr algn="ctr"/>
                      <a:r>
                        <a:rPr sz="1050" b="1">
                          <a:solidFill>
                            <a:srgbClr val="A6001A"/>
                          </a:solidFill>
                          <a:latin typeface="Calibri"/>
                        </a:rPr>
                        <a:t>54</a:t>
                      </a:r>
                    </a:p>
                  </a:txBody>
                  <a:tcPr>
                    <a:solidFill>
                      <a:srgbClr val="FDF2F3"/>
                    </a:solidFill>
                  </a:tcPr>
                </a:tc>
              </a:tr>
              <a:tr h="431074">
                <a:tc>
                  <a:txBody>
                    <a:bodyPr/>
                    <a:lstStyle/>
                    <a:p>
                      <a:pPr algn="l"/>
                      <a:r>
                        <a:rPr sz="1050" b="0">
                          <a:solidFill>
                            <a:srgbClr val="333333"/>
                          </a:solidFill>
                          <a:latin typeface="Calibri"/>
                        </a:rPr>
                        <a:t>FSM</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0">
                          <a:solidFill>
                            <a:srgbClr val="333333"/>
                          </a:solidFill>
                          <a:latin typeface="Calibri"/>
                        </a:rPr>
                        <a:t>35</a:t>
                      </a:r>
                    </a:p>
                  </a:txBody>
                  <a:tcPr>
                    <a:solidFill>
                      <a:srgbClr val="FFFFFF"/>
                    </a:solidFill>
                  </a:tcPr>
                </a:tc>
                <a:tc>
                  <a:txBody>
                    <a:bodyPr/>
                    <a:lstStyle/>
                    <a:p>
                      <a:pPr algn="ctr"/>
                      <a:r>
                        <a:rPr sz="1050" b="0">
                          <a:solidFill>
                            <a:srgbClr val="333333"/>
                          </a:solidFill>
                          <a:latin typeface="Calibri"/>
                        </a:rPr>
                        <a:t>33</a:t>
                      </a:r>
                    </a:p>
                  </a:txBody>
                  <a:tcPr>
                    <a:solidFill>
                      <a:srgbClr val="FFFFFF"/>
                    </a:solidFill>
                  </a:tcPr>
                </a:tc>
                <a:tc>
                  <a:txBody>
                    <a:bodyPr/>
                    <a:lstStyle/>
                    <a:p>
                      <a:pPr algn="ctr"/>
                      <a:r>
                        <a:rPr sz="1050" b="0">
                          <a:solidFill>
                            <a:srgbClr val="333333"/>
                          </a:solidFill>
                          <a:latin typeface="Calibri"/>
                        </a:rPr>
                        <a:t>34</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1">
                          <a:solidFill>
                            <a:srgbClr val="A6001A"/>
                          </a:solidFill>
                          <a:latin typeface="Calibri"/>
                        </a:rPr>
                        <a:t>-1</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1">
                          <a:solidFill>
                            <a:srgbClr val="A6001A"/>
                          </a:solidFill>
                          <a:latin typeface="Calibri"/>
                        </a:rPr>
                        <a:t>42</a:t>
                      </a:r>
                    </a:p>
                  </a:txBody>
                  <a:tcPr>
                    <a:solidFill>
                      <a:srgbClr val="FDF2F3"/>
                    </a:solidFill>
                  </a:tcPr>
                </a:tc>
                <a:tc>
                  <a:txBody>
                    <a:bodyPr/>
                    <a:lstStyle/>
                    <a:p>
                      <a:pPr algn="ctr"/>
                      <a:r>
                        <a:rPr sz="1050" b="1">
                          <a:solidFill>
                            <a:srgbClr val="A6001A"/>
                          </a:solidFill>
                          <a:latin typeface="Calibri"/>
                        </a:rPr>
                        <a:t>45</a:t>
                      </a:r>
                    </a:p>
                  </a:txBody>
                  <a:tcPr>
                    <a:solidFill>
                      <a:srgbClr val="FDF2F3"/>
                    </a:solidFill>
                  </a:tcPr>
                </a:tc>
              </a:tr>
              <a:tr h="431074">
                <a:tc>
                  <a:txBody>
                    <a:bodyPr/>
                    <a:lstStyle/>
                    <a:p>
                      <a:pPr algn="l"/>
                      <a:r>
                        <a:rPr sz="1050" b="0">
                          <a:solidFill>
                            <a:srgbClr val="333333"/>
                          </a:solidFill>
                          <a:latin typeface="Calibri"/>
                        </a:rPr>
                        <a:t>Heykel</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29</a:t>
                      </a:r>
                    </a:p>
                  </a:txBody>
                  <a:tcPr>
                    <a:solidFill>
                      <a:srgbClr val="FAFAFA"/>
                    </a:solidFill>
                  </a:tcPr>
                </a:tc>
                <a:tc>
                  <a:txBody>
                    <a:bodyPr/>
                    <a:lstStyle/>
                    <a:p>
                      <a:pPr algn="ctr"/>
                      <a:r>
                        <a:rPr sz="1050" b="0">
                          <a:solidFill>
                            <a:srgbClr val="333333"/>
                          </a:solidFill>
                          <a:latin typeface="Calibri"/>
                        </a:rPr>
                        <a:t>28</a:t>
                      </a:r>
                    </a:p>
                  </a:txBody>
                  <a:tcPr>
                    <a:solidFill>
                      <a:srgbClr val="FAFAFA"/>
                    </a:solidFill>
                  </a:tcPr>
                </a:tc>
                <a:tc>
                  <a:txBody>
                    <a:bodyPr/>
                    <a:lstStyle/>
                    <a:p>
                      <a:pPr algn="ctr"/>
                      <a:r>
                        <a:rPr sz="1050" b="0">
                          <a:solidFill>
                            <a:srgbClr val="333333"/>
                          </a:solidFill>
                          <a:latin typeface="Calibri"/>
                        </a:rPr>
                        <a:t>26</a:t>
                      </a:r>
                    </a:p>
                  </a:txBody>
                  <a:tcPr>
                    <a:solidFill>
                      <a:srgbClr val="FAFAFA"/>
                    </a:solidFill>
                  </a:tcPr>
                </a:tc>
                <a:tc>
                  <a:txBody>
                    <a:bodyPr/>
                    <a:lstStyle/>
                    <a:p>
                      <a:pPr algn="ctr"/>
                      <a:r>
                        <a:rPr sz="1050" b="1">
                          <a:solidFill>
                            <a:srgbClr val="A6001A"/>
                          </a:solidFill>
                          <a:latin typeface="Calibri"/>
                        </a:rPr>
                        <a:t>+0</a:t>
                      </a:r>
                    </a:p>
                  </a:txBody>
                  <a:tcPr>
                    <a:solidFill>
                      <a:srgbClr val="FAFAFA"/>
                    </a:solidFill>
                  </a:tcPr>
                </a:tc>
                <a:tc>
                  <a:txBody>
                    <a:bodyPr/>
                    <a:lstStyle/>
                    <a:p>
                      <a:pPr algn="ctr"/>
                      <a:r>
                        <a:rPr sz="1050" b="1">
                          <a:solidFill>
                            <a:srgbClr val="A6001A"/>
                          </a:solidFill>
                          <a:latin typeface="Calibri"/>
                        </a:rPr>
                        <a:t>-3</a:t>
                      </a:r>
                    </a:p>
                  </a:txBody>
                  <a:tcPr>
                    <a:solidFill>
                      <a:srgbClr val="FAFAFA"/>
                    </a:solidFill>
                  </a:tcPr>
                </a:tc>
                <a:tc>
                  <a:txBody>
                    <a:bodyPr/>
                    <a:lstStyle/>
                    <a:p>
                      <a:pPr algn="ctr"/>
                      <a:r>
                        <a:rPr sz="1050" b="0">
                          <a:solidFill>
                            <a:srgbClr val="333333"/>
                          </a:solidFill>
                          <a:latin typeface="Calibri"/>
                        </a:rPr>
                        <a:t>12</a:t>
                      </a:r>
                    </a:p>
                  </a:txBody>
                  <a:tcPr>
                    <a:solidFill>
                      <a:srgbClr val="FAFAFA"/>
                    </a:solidFill>
                  </a:tcPr>
                </a:tc>
                <a:tc>
                  <a:txBody>
                    <a:bodyPr/>
                    <a:lstStyle/>
                    <a:p>
                      <a:pPr algn="ctr"/>
                      <a:r>
                        <a:rPr sz="1050" b="0">
                          <a:solidFill>
                            <a:srgbClr val="333333"/>
                          </a:solidFill>
                          <a:latin typeface="Calibri"/>
                        </a:rPr>
                        <a:t>9</a:t>
                      </a:r>
                    </a:p>
                  </a:txBody>
                  <a:tcPr>
                    <a:solidFill>
                      <a:srgbClr val="FAFAFA"/>
                    </a:solidFill>
                  </a:tcPr>
                </a:tc>
                <a:tc>
                  <a:txBody>
                    <a:bodyPr/>
                    <a:lstStyle/>
                    <a:p>
                      <a:pPr algn="ctr"/>
                      <a:r>
                        <a:rPr sz="1050" b="1">
                          <a:solidFill>
                            <a:srgbClr val="A6001A"/>
                          </a:solidFill>
                          <a:latin typeface="Calibri"/>
                        </a:rPr>
                        <a:t>40</a:t>
                      </a:r>
                    </a:p>
                  </a:txBody>
                  <a:tcPr>
                    <a:solidFill>
                      <a:srgbClr val="FDF2F3"/>
                    </a:solidFill>
                  </a:tcPr>
                </a:tc>
                <a:tc>
                  <a:txBody>
                    <a:bodyPr/>
                    <a:lstStyle/>
                    <a:p>
                      <a:pPr algn="ctr"/>
                      <a:r>
                        <a:rPr sz="1050" b="1">
                          <a:solidFill>
                            <a:srgbClr val="A6001A"/>
                          </a:solidFill>
                          <a:latin typeface="Calibri"/>
                        </a:rPr>
                        <a:t>35</a:t>
                      </a:r>
                    </a:p>
                  </a:txBody>
                  <a:tcPr>
                    <a:solidFill>
                      <a:srgbClr val="FDF2F3"/>
                    </a:solidFill>
                  </a:tcPr>
                </a:tc>
              </a:tr>
              <a:tr h="431074">
                <a:tc>
                  <a:txBody>
                    <a:bodyPr/>
                    <a:lstStyle/>
                    <a:p>
                      <a:pPr algn="l"/>
                      <a:r>
                        <a:rPr sz="1050" b="0">
                          <a:solidFill>
                            <a:srgbClr val="333333"/>
                          </a:solidFill>
                          <a:latin typeface="Calibri"/>
                        </a:rPr>
                        <a:t>Şura</a:t>
                      </a:r>
                    </a:p>
                  </a:txBody>
                  <a:tcPr>
                    <a:solidFill>
                      <a:srgbClr val="FFFFFF"/>
                    </a:solidFill>
                  </a:tcPr>
                </a:tc>
                <a:tc>
                  <a:txBody>
                    <a:bodyPr/>
                    <a:lstStyle/>
                    <a:p>
                      <a:pPr algn="ctr"/>
                      <a:r>
                        <a:rPr sz="1050" b="0">
                          <a:solidFill>
                            <a:srgbClr val="333333"/>
                          </a:solidFill>
                          <a:latin typeface="Calibri"/>
                        </a:rPr>
                        <a:t>9</a:t>
                      </a:r>
                    </a:p>
                  </a:txBody>
                  <a:tcPr>
                    <a:solidFill>
                      <a:srgbClr val="FFFFFF"/>
                    </a:solidFill>
                  </a:tcPr>
                </a:tc>
                <a:tc>
                  <a:txBody>
                    <a:bodyPr/>
                    <a:lstStyle/>
                    <a:p>
                      <a:pPr algn="ctr"/>
                      <a:r>
                        <a:rPr sz="1050" b="0">
                          <a:solidFill>
                            <a:srgbClr val="333333"/>
                          </a:solidFill>
                          <a:latin typeface="Calibri"/>
                        </a:rPr>
                        <a:t>10</a:t>
                      </a:r>
                    </a:p>
                  </a:txBody>
                  <a:tcPr>
                    <a:solidFill>
                      <a:srgbClr val="FFFFFF"/>
                    </a:solidFill>
                  </a:tcPr>
                </a:tc>
                <a:tc>
                  <a:txBody>
                    <a:bodyPr/>
                    <a:lstStyle/>
                    <a:p>
                      <a:pPr algn="ctr"/>
                      <a:r>
                        <a:rPr sz="1050" b="0">
                          <a:solidFill>
                            <a:srgbClr val="333333"/>
                          </a:solidFill>
                          <a:latin typeface="Calibri"/>
                        </a:rPr>
                        <a:t>11</a:t>
                      </a:r>
                    </a:p>
                  </a:txBody>
                  <a:tcPr>
                    <a:solidFill>
                      <a:srgbClr val="FFFFFF"/>
                    </a:solidFill>
                  </a:tcPr>
                </a:tc>
                <a:tc>
                  <a:txBody>
                    <a:bodyPr/>
                    <a:lstStyle/>
                    <a:p>
                      <a:pPr algn="ctr"/>
                      <a:r>
                        <a:rPr sz="1050" b="0">
                          <a:solidFill>
                            <a:srgbClr val="333333"/>
                          </a:solidFill>
                          <a:latin typeface="Calibri"/>
                        </a:rPr>
                        <a:t>12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1">
                          <a:solidFill>
                            <a:srgbClr val="A6001A"/>
                          </a:solidFill>
                          <a:latin typeface="Calibri"/>
                        </a:rPr>
                        <a:t>+2</a:t>
                      </a:r>
                    </a:p>
                  </a:txBody>
                  <a:tcPr>
                    <a:solidFill>
                      <a:srgbClr val="FFFFFF"/>
                    </a:solidFill>
                  </a:tcPr>
                </a:tc>
                <a:tc>
                  <a:txBody>
                    <a:bodyPr/>
                    <a:lstStyle/>
                    <a:p>
                      <a:pPr algn="ctr"/>
                      <a:r>
                        <a:rPr sz="1050" b="0">
                          <a:solidFill>
                            <a:srgbClr val="333333"/>
                          </a:solidFill>
                          <a:latin typeface="Calibri"/>
                        </a:rPr>
                        <a:t>6</a:t>
                      </a:r>
                    </a:p>
                  </a:txBody>
                  <a:tcPr>
                    <a:solidFill>
                      <a:srgbClr val="FFFFFF"/>
                    </a:solidFill>
                  </a:tcPr>
                </a:tc>
                <a:tc>
                  <a:txBody>
                    <a:bodyPr/>
                    <a:lstStyle/>
                    <a:p>
                      <a:pPr algn="ctr"/>
                      <a:r>
                        <a:rPr sz="1050" b="0">
                          <a:solidFill>
                            <a:srgbClr val="333333"/>
                          </a:solidFill>
                          <a:latin typeface="Calibri"/>
                        </a:rPr>
                        <a:t>4</a:t>
                      </a:r>
                    </a:p>
                  </a:txBody>
                  <a:tcPr>
                    <a:solidFill>
                      <a:srgbClr val="FFFFFF"/>
                    </a:solidFill>
                  </a:tcPr>
                </a:tc>
                <a:tc>
                  <a:txBody>
                    <a:bodyPr/>
                    <a:lstStyle/>
                    <a:p>
                      <a:pPr algn="ctr"/>
                      <a:r>
                        <a:rPr sz="1050" b="1">
                          <a:solidFill>
                            <a:srgbClr val="A6001A"/>
                          </a:solidFill>
                          <a:latin typeface="Calibri"/>
                        </a:rPr>
                        <a:t>17</a:t>
                      </a:r>
                    </a:p>
                  </a:txBody>
                  <a:tcPr>
                    <a:solidFill>
                      <a:srgbClr val="FDF2F3"/>
                    </a:solidFill>
                  </a:tcPr>
                </a:tc>
                <a:tc>
                  <a:txBody>
                    <a:bodyPr/>
                    <a:lstStyle/>
                    <a:p>
                      <a:pPr algn="ctr"/>
                      <a:r>
                        <a:rPr sz="1050" b="1">
                          <a:solidFill>
                            <a:srgbClr val="A6001A"/>
                          </a:solidFill>
                          <a:latin typeface="Calibri"/>
                        </a:rPr>
                        <a:t>16</a:t>
                      </a:r>
                    </a:p>
                  </a:txBody>
                  <a:tcPr>
                    <a:solidFill>
                      <a:srgbClr val="FDF2F3"/>
                    </a:solidFill>
                  </a:tcPr>
                </a:tc>
              </a:tr>
              <a:tr h="431076">
                <a:tc>
                  <a:txBody>
                    <a:bodyPr/>
                    <a:lstStyle/>
                    <a:p>
                      <a:pPr algn="l"/>
                      <a:r>
                        <a:rPr sz="1050" b="1">
                          <a:solidFill>
                            <a:srgbClr val="333333"/>
                          </a:solidFill>
                          <a:latin typeface="Calibri"/>
                        </a:rPr>
                        <a:t>TOPLAM</a:t>
                      </a:r>
                    </a:p>
                  </a:txBody>
                  <a:tcPr>
                    <a:solidFill>
                      <a:srgbClr val="F2F2F2"/>
                    </a:solidFill>
                  </a:tcPr>
                </a:tc>
                <a:tc>
                  <a:txBody>
                    <a:bodyPr/>
                    <a:lstStyle/>
                    <a:p>
                      <a:pPr algn="ctr"/>
                      <a:r>
                        <a:rPr sz="1050" b="1">
                          <a:solidFill>
                            <a:srgbClr val="333333"/>
                          </a:solidFill>
                          <a:latin typeface="Calibri"/>
                        </a:rPr>
                        <a:t>139</a:t>
                      </a:r>
                    </a:p>
                  </a:txBody>
                  <a:tcPr>
                    <a:solidFill>
                      <a:srgbClr val="F2F2F2"/>
                    </a:solidFill>
                  </a:tcPr>
                </a:tc>
                <a:tc>
                  <a:txBody>
                    <a:bodyPr/>
                    <a:lstStyle/>
                    <a:p>
                      <a:pPr algn="ctr"/>
                      <a:r>
                        <a:rPr sz="1050" b="1">
                          <a:solidFill>
                            <a:srgbClr val="333333"/>
                          </a:solidFill>
                          <a:latin typeface="Calibri"/>
                        </a:rPr>
                        <a:t>153</a:t>
                      </a:r>
                    </a:p>
                  </a:txBody>
                  <a:tcPr>
                    <a:solidFill>
                      <a:srgbClr val="F2F2F2"/>
                    </a:solidFill>
                  </a:tcPr>
                </a:tc>
                <a:tc>
                  <a:txBody>
                    <a:bodyPr/>
                    <a:lstStyle/>
                    <a:p>
                      <a:pPr algn="ctr"/>
                      <a:r>
                        <a:rPr sz="1050" b="1">
                          <a:solidFill>
                            <a:srgbClr val="333333"/>
                          </a:solidFill>
                          <a:latin typeface="Calibri"/>
                        </a:rPr>
                        <a:t>135</a:t>
                      </a:r>
                    </a:p>
                  </a:txBody>
                  <a:tcPr>
                    <a:solidFill>
                      <a:srgbClr val="F2F2F2"/>
                    </a:solidFill>
                  </a:tcPr>
                </a:tc>
                <a:tc>
                  <a:txBody>
                    <a:bodyPr/>
                    <a:lstStyle/>
                    <a:p>
                      <a:pPr algn="ctr"/>
                      <a:r>
                        <a:rPr sz="1050" b="1">
                          <a:solidFill>
                            <a:srgbClr val="333333"/>
                          </a:solidFill>
                          <a:latin typeface="Calibri"/>
                        </a:rPr>
                        <a:t>149</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A6001A"/>
                          </a:solidFill>
                          <a:latin typeface="Calibri"/>
                        </a:rPr>
                        <a:t>-4</a:t>
                      </a:r>
                    </a:p>
                  </a:txBody>
                  <a:tcPr>
                    <a:solidFill>
                      <a:srgbClr val="F2F2F2"/>
                    </a:solidFill>
                  </a:tcPr>
                </a:tc>
                <a:tc>
                  <a:txBody>
                    <a:bodyPr/>
                    <a:lstStyle/>
                    <a:p>
                      <a:pPr algn="ctr"/>
                      <a:r>
                        <a:rPr sz="1050" b="1">
                          <a:solidFill>
                            <a:srgbClr val="333333"/>
                          </a:solidFill>
                          <a:latin typeface="Calibri"/>
                        </a:rPr>
                        <a:t>65</a:t>
                      </a:r>
                    </a:p>
                  </a:txBody>
                  <a:tcPr>
                    <a:solidFill>
                      <a:srgbClr val="F2F2F2"/>
                    </a:solidFill>
                  </a:tcPr>
                </a:tc>
                <a:tc>
                  <a:txBody>
                    <a:bodyPr/>
                    <a:lstStyle/>
                    <a:p>
                      <a:pPr algn="ctr"/>
                      <a:r>
                        <a:rPr sz="1050" b="1">
                          <a:solidFill>
                            <a:srgbClr val="333333"/>
                          </a:solidFill>
                          <a:latin typeface="Calibri"/>
                        </a:rPr>
                        <a:t>62</a:t>
                      </a:r>
                    </a:p>
                  </a:txBody>
                  <a:tcPr>
                    <a:solidFill>
                      <a:srgbClr val="F2F2F2"/>
                    </a:solidFill>
                  </a:tcPr>
                </a:tc>
                <a:tc>
                  <a:txBody>
                    <a:bodyPr/>
                    <a:lstStyle/>
                    <a:p>
                      <a:pPr algn="ctr"/>
                      <a:r>
                        <a:rPr sz="1050" b="1">
                          <a:solidFill>
                            <a:srgbClr val="A6001A"/>
                          </a:solidFill>
                          <a:latin typeface="Calibri"/>
                        </a:rPr>
                        <a:t>200</a:t>
                      </a:r>
                    </a:p>
                  </a:txBody>
                  <a:tcPr>
                    <a:solidFill>
                      <a:srgbClr val="F2F2F2"/>
                    </a:solidFill>
                  </a:tcPr>
                </a:tc>
                <a:tc>
                  <a:txBody>
                    <a:bodyPr/>
                    <a:lstStyle/>
                    <a:p>
                      <a:pPr algn="ctr"/>
                      <a:r>
                        <a:rPr sz="1050" b="1">
                          <a:solidFill>
                            <a:srgbClr val="A6001A"/>
                          </a:solidFill>
                          <a:latin typeface="Calibri"/>
                        </a:rPr>
                        <a:t>211</a:t>
                      </a:r>
                    </a:p>
                  </a:txBody>
                  <a:tcPr>
                    <a:solidFill>
                      <a:srgbClr val="F2F2F2"/>
                    </a:solidFill>
                  </a:tcPr>
                </a:tc>
              </a:tr>
            </a:tbl>
          </a:graphicData>
        </a:graphic>
      </p:graphicFrame>
      <p:sp>
        <p:nvSpPr>
          <p:cNvPr id="4" name="Rounded Rectangle 3"/>
          <p:cNvSpPr/>
          <p:nvPr/>
        </p:nvSpPr>
        <p:spPr>
          <a:xfrm>
            <a:off x="548640" y="4526280"/>
            <a:ext cx="11018520" cy="685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4526280"/>
            <a:ext cx="10607040" cy="685800"/>
          </a:xfrm>
          <a:prstGeom prst="rect">
            <a:avLst/>
          </a:prstGeom>
          <a:noFill/>
        </p:spPr>
        <p:txBody>
          <a:bodyPr wrap="square" anchor="ctr">
            <a:spAutoFit/>
          </a:bodyPr>
          <a:lstStyle/>
          <a:p>
            <a:pPr algn="l">
              <a:lnSpc>
                <a:spcPct val="100000"/>
              </a:lnSpc>
            </a:pPr>
            <a:r>
              <a:rPr sz="1150" b="1">
                <a:solidFill>
                  <a:srgbClr val="A6001A"/>
                </a:solidFill>
                <a:latin typeface="Calibri"/>
              </a:rPr>
              <a:t>İŞ HACMİ KAPSAMI — üç POS mağazası (FSM · Özlüce · İst. Yolu): kadrolu 96 → 111 · sezonluk 47 → 49 · TOPLAM KADRO 143 → 160.  Diğer slaytlardaki 143 → 160 kadro rakamı bu satırdır.</a:t>
            </a:r>
          </a:p>
        </p:txBody>
      </p:sp>
      <p:sp>
        <p:nvSpPr>
          <p:cNvPr id="6" name="TextBox 5"/>
          <p:cNvSpPr txBox="1"/>
          <p:nvPr/>
        </p:nvSpPr>
        <p:spPr>
          <a:xfrm>
            <a:off x="548640" y="5285232"/>
            <a:ext cx="11018520" cy="274320"/>
          </a:xfrm>
          <a:prstGeom prst="rect">
            <a:avLst/>
          </a:prstGeom>
          <a:noFill/>
        </p:spPr>
        <p:txBody>
          <a:bodyPr wrap="square" anchor="t">
            <a:spAutoFit/>
          </a:bodyPr>
          <a:lstStyle/>
          <a:p>
            <a:pPr algn="l">
              <a:lnSpc>
                <a:spcPct val="115000"/>
              </a:lnSpc>
            </a:pPr>
            <a:r>
              <a:rPr sz="1000" b="0">
                <a:solidFill>
                  <a:srgbClr val="6E6E6E"/>
                </a:solidFill>
                <a:latin typeface="Calibri"/>
              </a:rPr>
              <a:t>Kadrolu = sezonluk dışı personel · Sezon içi = 31.08 kesimi ile 30.06 tabanı arasındaki değişim (her iki yılda da negatif: -4 ve -4).</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İş hacmi kapsamı üç POS mağazasıdır (FSM · Özlüce · İst. Yolu).</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Dönem İş Hacmi</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ELLEÇLENEN ÜRÜN</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+%34,9</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574.656 → 775.032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ay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CİRO · KDV DAHİL</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200" b="1">
                <a:solidFill>
                  <a:srgbClr val="A6001A"/>
                </a:solidFill>
                <a:latin typeface="Calibri"/>
              </a:rPr>
              <a:t>+%70,6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71,8 → 122,5 milyon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users.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KADRO · 3 MAĞAZA</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200" b="1">
                <a:solidFill>
                  <a:srgbClr val="9A9A9A"/>
                </a:solidFill>
                <a:latin typeface="Calibri"/>
              </a:rPr>
              <a:t>+%11,9</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143 → 160 kişi (sezonluk dahil)</a:t>
            </a:r>
          </a:p>
        </p:txBody>
      </p:sp>
      <p:graphicFrame>
        <p:nvGraphicFramePr>
          <p:cNvPr id="21" name="Chart 20"/>
          <p:cNvGraphicFramePr>
            <a:graphicFrameLocks noGrp="1"/>
          </p:cNvGraphicFramePr>
          <p:nvPr/>
        </p:nvGraphicFramePr>
        <p:xfrm>
          <a:off x="548640" y="3200400"/>
          <a:ext cx="5577840" cy="1965960"/>
        </p:xfrm>
        <a:graphic>
          <a:graphicData uri="http://schemas.openxmlformats.org/drawingml/2006/chart">
            <c:chart xmlns:c="http://schemas.openxmlformats.org/drawingml/2006/chart" r:id="rId6"/>
          </a:graphicData>
        </a:graphic>
      </p:graphicFrame>
      <p:sp>
        <p:nvSpPr>
          <p:cNvPr id="22" name="Rounded Rectangle 21"/>
          <p:cNvSpPr/>
          <p:nvPr/>
        </p:nvSpPr>
        <p:spPr>
          <a:xfrm>
            <a:off x="6400800" y="3383280"/>
            <a:ext cx="5166360" cy="18288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520440"/>
            <a:ext cx="4754880" cy="1600200"/>
          </a:xfrm>
          <a:prstGeom prst="rect">
            <a:avLst/>
          </a:prstGeom>
          <a:noFill/>
        </p:spPr>
        <p:txBody>
          <a:bodyPr wrap="square" anchor="t">
            <a:spAutoFit/>
          </a:bodyPr>
          <a:lstStyle/>
          <a:p>
            <a:pPr algn="l">
              <a:lnSpc>
                <a:spcPct val="115000"/>
              </a:lnSpc>
            </a:pPr>
            <a:r>
              <a:rPr sz="1400" b="1">
                <a:solidFill>
                  <a:srgbClr val="A6001A"/>
                </a:solidFill>
                <a:latin typeface="Calibri"/>
              </a:rPr>
              <a:t>Ürün adedi birincil ölçüdür</a:t>
            </a:r>
          </a:p>
          <a:p>
            <a:pPr algn="l">
              <a:lnSpc>
                <a:spcPct val="115000"/>
              </a:lnSpc>
            </a:pPr>
            <a:r>
              <a:rPr sz="1200" b="0">
                <a:solidFill>
                  <a:srgbClr val="333333"/>
                </a:solidFill>
                <a:latin typeface="Calibri"/>
              </a:rPr>
              <a:t>Adet enflasyondan etkilenmez; kasadan geçen, rafa dizilen ve depodan çıkan fiili mal miktarını gösterir. Ciro fiyat artışını içerir, adet içermez.</a:t>
            </a:r>
          </a:p>
        </p:txBody>
      </p:sp>
      <p:sp>
        <p:nvSpPr>
          <p:cNvPr id="24" name="TextBox 23"/>
          <p:cNvSpPr txBox="1"/>
          <p:nvPr/>
        </p:nvSpPr>
        <p:spPr>
          <a:xfrm>
            <a:off x="548640" y="5230368"/>
            <a:ext cx="11018520" cy="292608"/>
          </a:xfrm>
          <a:prstGeom prst="rect">
            <a:avLst/>
          </a:prstGeom>
          <a:noFill/>
        </p:spPr>
        <p:txBody>
          <a:bodyPr wrap="square" anchor="t">
            <a:spAutoFit/>
          </a:bodyPr>
          <a:lstStyle/>
          <a:p>
            <a:pPr algn="l">
              <a:lnSpc>
                <a:spcPct val="100000"/>
              </a:lnSpc>
            </a:pPr>
            <a:r>
              <a:rPr sz="1000" b="0">
                <a:solidFill>
                  <a:srgbClr val="9A9A9A"/>
                </a:solidFill>
                <a:latin typeface="Calibri"/>
              </a:rPr>
              <a:t>Kaynak: DerinSIS mağaza satışı · Sınav hariç · iadeler düşülmüş · KDV dahil.</a:t>
            </a:r>
          </a:p>
        </p:txBody>
      </p:sp>
      <p:sp>
        <p:nvSpPr>
          <p:cNvPr id="25" name="TextBox 24"/>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6" name="TextBox 25"/>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Personel Başına İş Hacmi — Okul-Hizalı Pencere</a:t>
            </a:r>
          </a:p>
        </p:txBody>
      </p:sp>
      <p:graphicFrame>
        <p:nvGraphicFramePr>
          <p:cNvPr id="3" name="Chart 2"/>
          <p:cNvGraphicFramePr>
            <a:graphicFrameLocks noGrp="1"/>
          </p:cNvGraphicFramePr>
          <p:nvPr/>
        </p:nvGraphicFramePr>
        <p:xfrm>
          <a:off x="548640" y="1463040"/>
          <a:ext cx="5760720" cy="3566160"/>
        </p:xfrm>
        <a:graphic>
          <a:graphicData uri="http://schemas.openxmlformats.org/drawingml/2006/chart">
            <c:chart xmlns:c="http://schemas.openxmlformats.org/drawingml/2006/chart" r:id="rId3"/>
          </a:graphicData>
        </a:graphic>
      </p:graphicFrame>
      <p:sp>
        <p:nvSpPr>
          <p:cNvPr id="4" name="Rectangle 3"/>
          <p:cNvSpPr/>
          <p:nvPr/>
        </p:nvSpPr>
        <p:spPr>
          <a:xfrm>
            <a:off x="6583680" y="160020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0" y="160020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12280" y="170992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Özlüce</a:t>
            </a:r>
          </a:p>
        </p:txBody>
      </p:sp>
      <p:sp>
        <p:nvSpPr>
          <p:cNvPr id="7" name="TextBox 6"/>
          <p:cNvSpPr txBox="1"/>
          <p:nvPr/>
        </p:nvSpPr>
        <p:spPr>
          <a:xfrm>
            <a:off x="6812280" y="205740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4.525 → 5.579 adet/kişi</a:t>
            </a:r>
          </a:p>
        </p:txBody>
      </p:sp>
      <p:sp>
        <p:nvSpPr>
          <p:cNvPr id="8" name="TextBox 7"/>
          <p:cNvSpPr txBox="1"/>
          <p:nvPr/>
        </p:nvSpPr>
        <p:spPr>
          <a:xfrm>
            <a:off x="9784080" y="170992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+%23,3</a:t>
            </a:r>
          </a:p>
        </p:txBody>
      </p:sp>
      <p:sp>
        <p:nvSpPr>
          <p:cNvPr id="9" name="Rectangle 8"/>
          <p:cNvSpPr/>
          <p:nvPr/>
        </p:nvSpPr>
        <p:spPr>
          <a:xfrm>
            <a:off x="6583680" y="2788920"/>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0" y="2788920"/>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12280" y="289864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İst. Yolu</a:t>
            </a:r>
          </a:p>
        </p:txBody>
      </p:sp>
      <p:sp>
        <p:nvSpPr>
          <p:cNvPr id="12" name="TextBox 11"/>
          <p:cNvSpPr txBox="1"/>
          <p:nvPr/>
        </p:nvSpPr>
        <p:spPr>
          <a:xfrm>
            <a:off x="6812280" y="324612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3.467 → 4.230 adet/kişi</a:t>
            </a:r>
          </a:p>
        </p:txBody>
      </p:sp>
      <p:sp>
        <p:nvSpPr>
          <p:cNvPr id="13" name="TextBox 12"/>
          <p:cNvSpPr txBox="1"/>
          <p:nvPr/>
        </p:nvSpPr>
        <p:spPr>
          <a:xfrm>
            <a:off x="9784080" y="289864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+%22,0</a:t>
            </a:r>
          </a:p>
        </p:txBody>
      </p:sp>
      <p:sp>
        <p:nvSpPr>
          <p:cNvPr id="14" name="Rectangle 13"/>
          <p:cNvSpPr/>
          <p:nvPr/>
        </p:nvSpPr>
        <p:spPr>
          <a:xfrm>
            <a:off x="6583680" y="3977639"/>
            <a:ext cx="4983480" cy="10515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583680" y="3977639"/>
            <a:ext cx="68580" cy="105156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12280" y="4087368"/>
            <a:ext cx="2743200" cy="320040"/>
          </a:xfrm>
          <a:prstGeom prst="rect">
            <a:avLst/>
          </a:prstGeom>
          <a:noFill/>
        </p:spPr>
        <p:txBody>
          <a:bodyPr wrap="square" anchor="t">
            <a:spAutoFit/>
          </a:bodyPr>
          <a:lstStyle/>
          <a:p>
            <a:pPr algn="l">
              <a:lnSpc>
                <a:spcPct val="100000"/>
              </a:lnSpc>
            </a:pPr>
            <a:r>
              <a:rPr sz="1300" b="1">
                <a:solidFill>
                  <a:srgbClr val="2B2B2B"/>
                </a:solidFill>
                <a:latin typeface="Calibri"/>
              </a:rPr>
              <a:t>FSM</a:t>
            </a:r>
          </a:p>
        </p:txBody>
      </p:sp>
      <p:sp>
        <p:nvSpPr>
          <p:cNvPr id="17" name="TextBox 16"/>
          <p:cNvSpPr txBox="1"/>
          <p:nvPr/>
        </p:nvSpPr>
        <p:spPr>
          <a:xfrm>
            <a:off x="6812280" y="4434840"/>
            <a:ext cx="2788920" cy="457200"/>
          </a:xfrm>
          <a:prstGeom prst="rect">
            <a:avLst/>
          </a:prstGeom>
          <a:noFill/>
        </p:spPr>
        <p:txBody>
          <a:bodyPr wrap="square" anchor="t">
            <a:spAutoFit/>
          </a:bodyPr>
          <a:lstStyle/>
          <a:p>
            <a:pPr algn="l">
              <a:lnSpc>
                <a:spcPct val="100000"/>
              </a:lnSpc>
            </a:pPr>
            <a:r>
              <a:rPr sz="1250" b="0">
                <a:solidFill>
                  <a:srgbClr val="333333"/>
                </a:solidFill>
                <a:latin typeface="Calibri"/>
              </a:rPr>
              <a:t>4.061 → 4.795 adet/kişi</a:t>
            </a:r>
          </a:p>
        </p:txBody>
      </p:sp>
      <p:sp>
        <p:nvSpPr>
          <p:cNvPr id="18" name="TextBox 17"/>
          <p:cNvSpPr txBox="1"/>
          <p:nvPr/>
        </p:nvSpPr>
        <p:spPr>
          <a:xfrm>
            <a:off x="9784080" y="4087368"/>
            <a:ext cx="1691640" cy="457200"/>
          </a:xfrm>
          <a:prstGeom prst="rect">
            <a:avLst/>
          </a:prstGeom>
          <a:noFill/>
        </p:spPr>
        <p:txBody>
          <a:bodyPr wrap="square" anchor="t">
            <a:spAutoFit/>
          </a:bodyPr>
          <a:lstStyle/>
          <a:p>
            <a:pPr algn="r">
              <a:lnSpc>
                <a:spcPct val="100000"/>
              </a:lnSpc>
            </a:pPr>
            <a:r>
              <a:rPr sz="1700" b="1">
                <a:solidFill>
                  <a:srgbClr val="A6001A"/>
                </a:solidFill>
                <a:latin typeface="Calibri"/>
              </a:rPr>
              <a:t>+%18,1</a:t>
            </a:r>
          </a:p>
        </p:txBody>
      </p:sp>
      <p:sp>
        <p:nvSpPr>
          <p:cNvPr id="19" name="TextBox 18"/>
          <p:cNvSpPr txBox="1"/>
          <p:nvPr/>
        </p:nvSpPr>
        <p:spPr>
          <a:xfrm>
            <a:off x="548640" y="5193792"/>
            <a:ext cx="11018520" cy="310896"/>
          </a:xfrm>
          <a:prstGeom prst="rect">
            <a:avLst/>
          </a:prstGeom>
          <a:noFill/>
        </p:spPr>
        <p:txBody>
          <a:bodyPr wrap="square" anchor="t">
            <a:spAutoFit/>
          </a:bodyPr>
          <a:lstStyle/>
          <a:p>
            <a:pPr algn="l">
              <a:lnSpc>
                <a:spcPct val="100000"/>
              </a:lnSpc>
            </a:pPr>
            <a:r>
              <a:rPr sz="950" b="0">
                <a:solidFill>
                  <a:srgbClr val="6E6E6E"/>
                </a:solidFill>
                <a:latin typeface="Calibri"/>
              </a:rPr>
              <a:t>Kişi başı = 31 Ağustos'ta o mağazada fiilen çalışan TÜM personel (sezonluk dahil). Kadrosu en çok büyüyen mağazada dahi kişi başı iş artmıştır (İst. Yolu 50 → 61).</a:t>
            </a:r>
          </a:p>
        </p:txBody>
      </p:sp>
      <p:sp>
        <p:nvSpPr>
          <p:cNvPr id="20" name="TextBox 19"/>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21" name="TextBox 20"/>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Dört Yıllık Seyir — Ocak-Ağustos Adedi / Kadrolu</a:t>
            </a:r>
          </a:p>
        </p:txBody>
      </p:sp>
      <p:graphicFrame>
        <p:nvGraphicFramePr>
          <p:cNvPr id="3" name="Chart 2"/>
          <p:cNvGraphicFramePr>
            <a:graphicFrameLocks noGrp="1"/>
          </p:cNvGraphicFramePr>
          <p:nvPr/>
        </p:nvGraphicFramePr>
        <p:xfrm>
          <a:off x="548640" y="1463040"/>
          <a:ext cx="6583680" cy="3566160"/>
        </p:xfrm>
        <a:graphic>
          <a:graphicData uri="http://schemas.openxmlformats.org/drawingml/2006/chart">
            <c:chart xmlns:c="http://schemas.openxmlformats.org/drawingml/2006/chart" r:id="rId3"/>
          </a:graphicData>
        </a:graphic>
      </p:graphicFrame>
      <p:sp>
        <p:nvSpPr>
          <p:cNvPr id="4" name="Rectangle 3"/>
          <p:cNvSpPr/>
          <p:nvPr/>
        </p:nvSpPr>
        <p:spPr>
          <a:xfrm>
            <a:off x="7406640" y="160020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600200"/>
            <a:ext cx="68580" cy="109728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70992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2024'te kadro atladı</a:t>
            </a:r>
          </a:p>
        </p:txBody>
      </p:sp>
      <p:sp>
        <p:nvSpPr>
          <p:cNvPr id="7" name="TextBox 6"/>
          <p:cNvSpPr txBox="1"/>
          <p:nvPr/>
        </p:nvSpPr>
        <p:spPr>
          <a:xfrm>
            <a:off x="7635240" y="203911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Kadrolu 60 → 91. Adet yalnız +%11,3 arttı → kişi başı iş düştü.</a:t>
            </a:r>
          </a:p>
        </p:txBody>
      </p:sp>
      <p:sp>
        <p:nvSpPr>
          <p:cNvPr id="8" name="Rectangle 7"/>
          <p:cNvSpPr/>
          <p:nvPr/>
        </p:nvSpPr>
        <p:spPr>
          <a:xfrm>
            <a:off x="7406640" y="283464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2834640"/>
            <a:ext cx="68580" cy="1097280"/>
          </a:xfrm>
          <a:prstGeom prst="rect">
            <a:avLst/>
          </a:prstGeom>
          <a:solidFill>
            <a:srgbClr val="6E6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294436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Ama 2023 'norm' değil</a:t>
            </a:r>
          </a:p>
        </p:txBody>
      </p:sp>
      <p:sp>
        <p:nvSpPr>
          <p:cNvPr id="11" name="TextBox 10"/>
          <p:cNvSpPr txBox="1"/>
          <p:nvPr/>
        </p:nvSpPr>
        <p:spPr>
          <a:xfrm>
            <a:off x="7635240" y="327355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O yıl FSM kasada 0, Özlüce kasada 1 kişi vardı — eksik kadroyla çalışma.</a:t>
            </a:r>
          </a:p>
        </p:txBody>
      </p:sp>
      <p:sp>
        <p:nvSpPr>
          <p:cNvPr id="12" name="Rectangle 11"/>
          <p:cNvSpPr/>
          <p:nvPr/>
        </p:nvSpPr>
        <p:spPr>
          <a:xfrm>
            <a:off x="7406640" y="4069080"/>
            <a:ext cx="4160520" cy="10972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4069080"/>
            <a:ext cx="68580" cy="10972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35240" y="4178808"/>
            <a:ext cx="3703320" cy="320040"/>
          </a:xfrm>
          <a:prstGeom prst="rect">
            <a:avLst/>
          </a:prstGeom>
          <a:noFill/>
        </p:spPr>
        <p:txBody>
          <a:bodyPr wrap="square" anchor="t">
            <a:spAutoFit/>
          </a:bodyPr>
          <a:lstStyle/>
          <a:p>
            <a:pPr algn="l">
              <a:lnSpc>
                <a:spcPct val="100000"/>
              </a:lnSpc>
            </a:pPr>
            <a:r>
              <a:rPr sz="1250" b="1">
                <a:solidFill>
                  <a:srgbClr val="2B2B2B"/>
                </a:solidFill>
                <a:latin typeface="Calibri"/>
              </a:rPr>
              <a:t>2024 → 2026 toparlanma</a:t>
            </a:r>
          </a:p>
        </p:txBody>
      </p:sp>
      <p:sp>
        <p:nvSpPr>
          <p:cNvPr id="15" name="TextBox 14"/>
          <p:cNvSpPr txBox="1"/>
          <p:nvPr/>
        </p:nvSpPr>
        <p:spPr>
          <a:xfrm>
            <a:off x="7635240" y="4507992"/>
            <a:ext cx="3703320" cy="640080"/>
          </a:xfrm>
          <a:prstGeom prst="rect">
            <a:avLst/>
          </a:prstGeom>
          <a:noFill/>
        </p:spPr>
        <p:txBody>
          <a:bodyPr wrap="square" anchor="t">
            <a:spAutoFit/>
          </a:bodyPr>
          <a:lstStyle/>
          <a:p>
            <a:pPr algn="l">
              <a:lnSpc>
                <a:spcPct val="100000"/>
              </a:lnSpc>
            </a:pPr>
            <a:r>
              <a:rPr sz="1050" b="0">
                <a:solidFill>
                  <a:srgbClr val="6E6E6E"/>
                </a:solidFill>
                <a:latin typeface="Calibri"/>
              </a:rPr>
              <a:t>Kişi başı iş +%28,8 arttı; bu yıl kadro büyürken verim de arttı.</a:t>
            </a:r>
          </a:p>
        </p:txBody>
      </p:sp>
      <p:sp>
        <p:nvSpPr>
          <p:cNvPr id="16" name="TextBox 15"/>
          <p:cNvSpPr txBox="1"/>
          <p:nvPr/>
        </p:nvSpPr>
        <p:spPr>
          <a:xfrm>
            <a:off x="548640" y="5166360"/>
            <a:ext cx="11018520" cy="457200"/>
          </a:xfrm>
          <a:prstGeom prst="rect">
            <a:avLst/>
          </a:prstGeom>
          <a:noFill/>
        </p:spPr>
        <p:txBody>
          <a:bodyPr wrap="square" anchor="t">
            <a:spAutoFit/>
          </a:bodyPr>
          <a:lstStyle/>
          <a:p>
            <a:pPr algn="l">
              <a:lnSpc>
                <a:spcPct val="100000"/>
              </a:lnSpc>
            </a:pPr>
            <a:r>
              <a:rPr sz="1000" b="0">
                <a:solidFill>
                  <a:srgbClr val="9A9A9A"/>
                </a:solidFill>
                <a:latin typeface="Calibri"/>
              </a:rPr>
              <a:t>Ölçü: Ocak–Ağustos ürün adedi ÷ 31.08 kadrolu (sezonluk HARİÇ; yıllar arası sezonluk zamanlaması kıyası bozar). «Okul-hizalı pencere ÷ TÜM kadro» ölçüsü ayrı slayttadır — iki ölçünün seviyeleri karşılaştırılmaz, yönleri karşılaştırılır.</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 kadro: 31.08 kesimi, her yıl · Sınav Okulları satışı ürün adedinden HARİÇ tutulur; o operasyona bakan personel İK kaydında kanal bazında ayrıştırılamadığı için kadroda kalır — oran her yıl aynı yönde etkilenir, yıllar arası kıyas geçerlidir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Bölüm Bazında Kadro Değişimi</a:t>
            </a:r>
          </a:p>
        </p:txBody>
      </p:sp>
      <p:graphicFrame>
        <p:nvGraphicFramePr>
          <p:cNvPr id="3" name="Chart 2"/>
          <p:cNvGraphicFramePr>
            <a:graphicFrameLocks noGrp="1"/>
          </p:cNvGraphicFramePr>
          <p:nvPr/>
        </p:nvGraphicFramePr>
        <p:xfrm>
          <a:off x="548640" y="1463040"/>
          <a:ext cx="6583680" cy="3291840"/>
        </p:xfrm>
        <a:graphic>
          <a:graphicData uri="http://schemas.openxmlformats.org/drawingml/2006/chart">
            <c:chart xmlns:c="http://schemas.openxmlformats.org/drawingml/2006/chart" r:id="rId3"/>
          </a:graphicData>
        </a:graphic>
      </p:graphicFrame>
      <p:sp>
        <p:nvSpPr>
          <p:cNvPr id="4" name="Rectangle 3"/>
          <p:cNvSpPr/>
          <p:nvPr/>
        </p:nvSpPr>
        <p:spPr>
          <a:xfrm>
            <a:off x="7406640" y="1463040"/>
            <a:ext cx="4160520" cy="16002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406640" y="1463040"/>
            <a:ext cx="68580" cy="16002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35240" y="157276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DEĞİŞMEYEN BÖLÜMLER</a:t>
            </a:r>
          </a:p>
        </p:txBody>
      </p:sp>
      <p:sp>
        <p:nvSpPr>
          <p:cNvPr id="7" name="TextBox 6"/>
          <p:cNvSpPr txBox="1"/>
          <p:nvPr/>
        </p:nvSpPr>
        <p:spPr>
          <a:xfrm>
            <a:off x="7635240" y="1901952"/>
            <a:ext cx="3703320" cy="1097280"/>
          </a:xfrm>
          <a:prstGeom prst="rect">
            <a:avLst/>
          </a:prstGeom>
          <a:noFill/>
        </p:spPr>
        <p:txBody>
          <a:bodyPr wrap="square" anchor="t">
            <a:spAutoFit/>
          </a:bodyPr>
          <a:lstStyle/>
          <a:p>
            <a:pPr algn="l">
              <a:lnSpc>
                <a:spcPct val="115000"/>
              </a:lnSpc>
            </a:pPr>
            <a:r>
              <a:rPr sz="1300" b="1">
                <a:solidFill>
                  <a:srgbClr val="2B2B2B"/>
                </a:solidFill>
                <a:latin typeface="Calibri"/>
              </a:rPr>
              <a:t>Mağaza +0  ·  Mal Kabul +0  ·  İdari İşler +0</a:t>
            </a:r>
          </a:p>
          <a:p>
            <a:pPr algn="l">
              <a:lnSpc>
                <a:spcPct val="115000"/>
              </a:lnSpc>
            </a:pPr>
            <a:r>
              <a:rPr sz="1050" b="0">
                <a:solidFill>
                  <a:srgbClr val="6E6E6E"/>
                </a:solidFill>
                <a:latin typeface="Calibri"/>
              </a:rPr>
              <a:t>Bu 3 bölümde kadro değişimi sıfırdır.</a:t>
            </a:r>
          </a:p>
        </p:txBody>
      </p:sp>
      <p:sp>
        <p:nvSpPr>
          <p:cNvPr id="8" name="Rectangle 7"/>
          <p:cNvSpPr/>
          <p:nvPr/>
        </p:nvSpPr>
        <p:spPr>
          <a:xfrm>
            <a:off x="7406640" y="3200400"/>
            <a:ext cx="4160520" cy="155448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0" y="3200400"/>
            <a:ext cx="68580" cy="1554480"/>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35240" y="3310128"/>
            <a:ext cx="3703320" cy="320040"/>
          </a:xfrm>
          <a:prstGeom prst="rect">
            <a:avLst/>
          </a:prstGeom>
          <a:noFill/>
        </p:spPr>
        <p:txBody>
          <a:bodyPr wrap="square" anchor="t">
            <a:spAutoFit/>
          </a:bodyPr>
          <a:lstStyle/>
          <a:p>
            <a:pPr algn="l">
              <a:lnSpc>
                <a:spcPct val="100000"/>
              </a:lnSpc>
            </a:pPr>
            <a:r>
              <a:rPr sz="1050" b="1">
                <a:solidFill>
                  <a:srgbClr val="6E6E6E"/>
                </a:solidFill>
                <a:latin typeface="Calibri"/>
              </a:rPr>
              <a:t>KADROSU ARTAN BÖLÜMLER</a:t>
            </a:r>
          </a:p>
        </p:txBody>
      </p:sp>
      <p:sp>
        <p:nvSpPr>
          <p:cNvPr id="11" name="TextBox 10"/>
          <p:cNvSpPr txBox="1"/>
          <p:nvPr/>
        </p:nvSpPr>
        <p:spPr>
          <a:xfrm>
            <a:off x="7635240" y="3639312"/>
            <a:ext cx="3703320" cy="1051560"/>
          </a:xfrm>
          <a:prstGeom prst="rect">
            <a:avLst/>
          </a:prstGeom>
          <a:noFill/>
        </p:spPr>
        <p:txBody>
          <a:bodyPr wrap="square" anchor="t">
            <a:spAutoFit/>
          </a:bodyPr>
          <a:lstStyle/>
          <a:p>
            <a:pPr algn="l">
              <a:lnSpc>
                <a:spcPct val="115000"/>
              </a:lnSpc>
            </a:pPr>
            <a:r>
              <a:rPr sz="1200" b="1">
                <a:solidFill>
                  <a:srgbClr val="A6001A"/>
                </a:solidFill>
                <a:latin typeface="Calibri"/>
              </a:rPr>
              <a:t>Yardımcı Kitap +6  ·  Kırtasiye +3  ·  Kasa +2  ·  Akademi +2  ·  Şura +2</a:t>
            </a:r>
          </a:p>
        </p:txBody>
      </p:sp>
      <p:sp>
        <p:nvSpPr>
          <p:cNvPr id="12" name="Rounded Rectangle 11"/>
          <p:cNvSpPr/>
          <p:nvPr/>
        </p:nvSpPr>
        <p:spPr>
          <a:xfrm>
            <a:off x="548640" y="4828032"/>
            <a:ext cx="11018520" cy="65836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828032"/>
            <a:ext cx="10515600" cy="658368"/>
          </a:xfrm>
          <a:prstGeom prst="rect">
            <a:avLst/>
          </a:prstGeom>
          <a:noFill/>
        </p:spPr>
        <p:txBody>
          <a:bodyPr wrap="square" anchor="ctr">
            <a:spAutoFit/>
          </a:bodyPr>
          <a:lstStyle/>
          <a:p>
            <a:pPr algn="l">
              <a:lnSpc>
                <a:spcPct val="100000"/>
              </a:lnSpc>
            </a:pPr>
            <a:r>
              <a:rPr sz="1350" b="1">
                <a:solidFill>
                  <a:srgbClr val="A6001A"/>
                </a:solidFill>
                <a:latin typeface="Calibri"/>
              </a:rPr>
              <a:t>31 Ağustos kesiminde kadrolu +14 kişilik artışın tamamı satış ve kasa bölümlerindedir; yönetim kadrosunda değişim yoktur.</a:t>
            </a:r>
          </a:p>
        </p:txBody>
      </p:sp>
      <p:sp>
        <p:nvSpPr>
          <p:cNvPr id="14" name="TextBox 1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a:t>
            </a:r>
          </a:p>
        </p:txBody>
      </p:sp>
      <p:sp>
        <p:nvSpPr>
          <p:cNvPr id="15" name="TextBox 1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Mağaza Performans Karşılaştırması</a:t>
            </a:r>
          </a:p>
        </p:txBody>
      </p:sp>
      <p:graphicFrame>
        <p:nvGraphicFramePr>
          <p:cNvPr id="3" name="Table 2"/>
          <p:cNvGraphicFramePr>
            <a:graphicFrameLocks noGrp="1"/>
          </p:cNvGraphicFramePr>
          <p:nvPr/>
        </p:nvGraphicFramePr>
        <p:xfrm>
          <a:off x="548640" y="1371600"/>
          <a:ext cx="11018520" cy="1737360"/>
        </p:xfrm>
        <a:graphic>
          <a:graphicData uri="http://schemas.openxmlformats.org/drawingml/2006/table">
            <a:tbl>
              <a:tblPr firstRow="1" bandRow="1">
                <a:tableStyleId>{5C22544A-7EE6-4342-B048-85BDC9FD1C3A}</a:tableStyleId>
              </a:tblPr>
              <a:tblGrid>
                <a:gridCol w="2011680"/>
                <a:gridCol w="1737360"/>
                <a:gridCol w="1371600"/>
                <a:gridCol w="1691640"/>
                <a:gridCol w="1371600"/>
                <a:gridCol w="1554480"/>
                <a:gridCol w="1280160"/>
              </a:tblGrid>
              <a:tr h="347472">
                <a:tc>
                  <a:txBody>
                    <a:bodyPr/>
                    <a:lstStyle/>
                    <a:p>
                      <a:pPr algn="l"/>
                      <a:r>
                        <a:rPr sz="1150" b="1">
                          <a:solidFill>
                            <a:srgbClr val="FFFFFF"/>
                          </a:solidFill>
                          <a:latin typeface="Calibri"/>
                        </a:rPr>
                        <a:t>Mağaza</a:t>
                      </a:r>
                    </a:p>
                  </a:txBody>
                  <a:tcPr>
                    <a:solidFill>
                      <a:srgbClr val="E30622"/>
                    </a:solidFill>
                  </a:tcPr>
                </a:tc>
                <a:tc>
                  <a:txBody>
                    <a:bodyPr/>
                    <a:lstStyle/>
                    <a:p>
                      <a:pPr algn="ctr"/>
                      <a:r>
                        <a:rPr sz="1150" b="1">
                          <a:solidFill>
                            <a:srgbClr val="FFFFFF"/>
                          </a:solidFill>
                          <a:latin typeface="Calibri"/>
                        </a:rPr>
                        <a:t>Kadro 31.08</a:t>
                      </a:r>
                    </a:p>
                  </a:txBody>
                  <a:tcPr>
                    <a:solidFill>
                      <a:srgbClr val="E30622"/>
                    </a:solidFill>
                  </a:tcPr>
                </a:tc>
                <a:tc>
                  <a:txBody>
                    <a:bodyPr/>
                    <a:lstStyle/>
                    <a:p>
                      <a:pPr algn="ctr"/>
                      <a:r>
                        <a:rPr sz="1150" b="1">
                          <a:solidFill>
                            <a:srgbClr val="FFFFFF"/>
                          </a:solidFill>
                          <a:latin typeface="Calibri"/>
                        </a:rPr>
                        <a:t>Kadro Δ</a:t>
                      </a:r>
                    </a:p>
                  </a:txBody>
                  <a:tcPr>
                    <a:solidFill>
                      <a:srgbClr val="E30622"/>
                    </a:solidFill>
                  </a:tcPr>
                </a:tc>
                <a:tc>
                  <a:txBody>
                    <a:bodyPr/>
                    <a:lstStyle/>
                    <a:p>
                      <a:pPr algn="ctr"/>
                      <a:r>
                        <a:rPr sz="1150" b="1">
                          <a:solidFill>
                            <a:srgbClr val="FFFFFF"/>
                          </a:solidFill>
                          <a:latin typeface="Calibri"/>
                        </a:rPr>
                        <a:t>Ürün adedi Δ</a:t>
                      </a:r>
                    </a:p>
                  </a:txBody>
                  <a:tcPr>
                    <a:solidFill>
                      <a:srgbClr val="E30622"/>
                    </a:solidFill>
                  </a:tcPr>
                </a:tc>
                <a:tc>
                  <a:txBody>
                    <a:bodyPr/>
                    <a:lstStyle/>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Adet/kişi Δ</a:t>
                      </a:r>
                    </a:p>
                  </a:txBody>
                  <a:tcPr>
                    <a:solidFill>
                      <a:srgbClr val="E30622"/>
                    </a:solidFill>
                  </a:tcPr>
                </a:tc>
                <a:tc>
                  <a:txBody>
                    <a:bodyPr/>
                    <a:lstStyle/>
                    <a:p>
                      <a:pPr algn="ctr"/>
                      <a:r>
                        <a:rPr sz="1150" b="1">
                          <a:solidFill>
                            <a:srgbClr val="FFFFFF"/>
                          </a:solidFill>
                          <a:latin typeface="Calibri"/>
                        </a:rPr>
                        <a:t>İş ÷ kadro</a:t>
                      </a:r>
                    </a:p>
                  </a:txBody>
                  <a:tcPr>
                    <a:solidFill>
                      <a:srgbClr val="E30622"/>
                    </a:solidFill>
                  </a:tcPr>
                </a:tc>
              </a:tr>
              <a:tr h="347472">
                <a:tc>
                  <a:txBody>
                    <a:bodyPr/>
                    <a:lstStyle/>
                    <a:p>
                      <a:pPr algn="l"/>
                      <a:r>
                        <a:rPr sz="1150" b="0">
                          <a:solidFill>
                            <a:srgbClr val="333333"/>
                          </a:solidFill>
                          <a:latin typeface="Calibri"/>
                        </a:rPr>
                        <a:t>Özlüce</a:t>
                      </a:r>
                    </a:p>
                  </a:txBody>
                  <a:tcPr>
                    <a:solidFill>
                      <a:srgbClr val="FFFFFF"/>
                    </a:solidFill>
                  </a:tcPr>
                </a:tc>
                <a:tc>
                  <a:txBody>
                    <a:bodyPr/>
                    <a:lstStyle/>
                    <a:p>
                      <a:pPr algn="ctr"/>
                      <a:r>
                        <a:rPr sz="1150" b="0">
                          <a:solidFill>
                            <a:srgbClr val="333333"/>
                          </a:solidFill>
                          <a:latin typeface="Calibri"/>
                        </a:rPr>
                        <a:t>51 → 54</a:t>
                      </a:r>
                    </a:p>
                  </a:txBody>
                  <a:tcPr>
                    <a:solidFill>
                      <a:srgbClr val="FFFFFF"/>
                    </a:solidFill>
                  </a:tcPr>
                </a:tc>
                <a:tc>
                  <a:txBody>
                    <a:bodyPr/>
                    <a:lstStyle/>
                    <a:p>
                      <a:pPr algn="ctr"/>
                      <a:r>
                        <a:rPr sz="1150" b="0">
                          <a:solidFill>
                            <a:srgbClr val="333333"/>
                          </a:solidFill>
                          <a:latin typeface="Calibri"/>
                        </a:rPr>
                        <a:t>+%5,9</a:t>
                      </a:r>
                    </a:p>
                  </a:txBody>
                  <a:tcPr>
                    <a:solidFill>
                      <a:srgbClr val="FFFFFF"/>
                    </a:solidFill>
                  </a:tcPr>
                </a:tc>
                <a:tc>
                  <a:txBody>
                    <a:bodyPr/>
                    <a:lstStyle/>
                    <a:p>
                      <a:pPr algn="ctr"/>
                      <a:r>
                        <a:rPr sz="1150" b="0">
                          <a:solidFill>
                            <a:srgbClr val="A6001A"/>
                          </a:solidFill>
                          <a:latin typeface="Calibri"/>
                        </a:rPr>
                        <a:t>+%30,5</a:t>
                      </a:r>
                    </a:p>
                  </a:txBody>
                  <a:tcPr>
                    <a:solidFill>
                      <a:srgbClr val="FFFFFF"/>
                    </a:solidFill>
                  </a:tcPr>
                </a:tc>
                <a:tc>
                  <a:txBody>
                    <a:bodyPr/>
                    <a:lstStyle/>
                    <a:p>
                      <a:pPr algn="ctr"/>
                      <a:r>
                        <a:rPr sz="1150" b="0">
                          <a:solidFill>
                            <a:srgbClr val="A6001A"/>
                          </a:solidFill>
                          <a:latin typeface="Calibri"/>
                        </a:rPr>
                        <a:t>+%57,6</a:t>
                      </a:r>
                    </a:p>
                  </a:txBody>
                  <a:tcPr>
                    <a:solidFill>
                      <a:srgbClr val="FFFFFF"/>
                    </a:solidFill>
                  </a:tcPr>
                </a:tc>
                <a:tc>
                  <a:txBody>
                    <a:bodyPr/>
                    <a:lstStyle/>
                    <a:p>
                      <a:pPr algn="ctr"/>
                      <a:r>
                        <a:rPr sz="1150" b="0">
                          <a:solidFill>
                            <a:srgbClr val="A6001A"/>
                          </a:solidFill>
                          <a:latin typeface="Calibri"/>
                        </a:rPr>
                        <a:t>+%23,3</a:t>
                      </a:r>
                    </a:p>
                  </a:txBody>
                  <a:tcPr>
                    <a:solidFill>
                      <a:srgbClr val="FFFFFF"/>
                    </a:solidFill>
                  </a:tcPr>
                </a:tc>
                <a:tc>
                  <a:txBody>
                    <a:bodyPr/>
                    <a:lstStyle/>
                    <a:p>
                      <a:pPr algn="ctr"/>
                      <a:r>
                        <a:rPr sz="1150" b="1">
                          <a:solidFill>
                            <a:srgbClr val="333333"/>
                          </a:solidFill>
                          <a:latin typeface="Calibri"/>
                        </a:rPr>
                        <a:t>5,2x</a:t>
                      </a:r>
                    </a:p>
                  </a:txBody>
                  <a:tcPr>
                    <a:solidFill>
                      <a:srgbClr val="FFFFFF"/>
                    </a:solidFill>
                  </a:tcPr>
                </a:tc>
              </a:tr>
              <a:tr h="347472">
                <a:tc>
                  <a:txBody>
                    <a:bodyPr/>
                    <a:lstStyle/>
                    <a:p>
                      <a:pPr algn="l"/>
                      <a:r>
                        <a:rPr sz="1150" b="0">
                          <a:solidFill>
                            <a:srgbClr val="333333"/>
                          </a:solidFill>
                          <a:latin typeface="Calibri"/>
                        </a:rPr>
                        <a:t>İst. Yolu</a:t>
                      </a:r>
                    </a:p>
                  </a:txBody>
                  <a:tcPr>
                    <a:solidFill>
                      <a:srgbClr val="FFFFFF"/>
                    </a:solidFill>
                  </a:tcPr>
                </a:tc>
                <a:tc>
                  <a:txBody>
                    <a:bodyPr/>
                    <a:lstStyle/>
                    <a:p>
                      <a:pPr algn="ctr"/>
                      <a:r>
                        <a:rPr sz="1150" b="0">
                          <a:solidFill>
                            <a:srgbClr val="333333"/>
                          </a:solidFill>
                          <a:latin typeface="Calibri"/>
                        </a:rPr>
                        <a:t>50 → 61</a:t>
                      </a:r>
                    </a:p>
                  </a:txBody>
                  <a:tcPr>
                    <a:solidFill>
                      <a:srgbClr val="FFFFFF"/>
                    </a:solidFill>
                  </a:tcPr>
                </a:tc>
                <a:tc>
                  <a:txBody>
                    <a:bodyPr/>
                    <a:lstStyle/>
                    <a:p>
                      <a:pPr algn="ctr"/>
                      <a:r>
                        <a:rPr sz="1150" b="0">
                          <a:solidFill>
                            <a:srgbClr val="333333"/>
                          </a:solidFill>
                          <a:latin typeface="Calibri"/>
                        </a:rPr>
                        <a:t>+%22,0</a:t>
                      </a:r>
                    </a:p>
                  </a:txBody>
                  <a:tcPr>
                    <a:solidFill>
                      <a:srgbClr val="FFFFFF"/>
                    </a:solidFill>
                  </a:tcPr>
                </a:tc>
                <a:tc>
                  <a:txBody>
                    <a:bodyPr/>
                    <a:lstStyle/>
                    <a:p>
                      <a:pPr algn="ctr"/>
                      <a:r>
                        <a:rPr sz="1150" b="0">
                          <a:solidFill>
                            <a:srgbClr val="A6001A"/>
                          </a:solidFill>
                          <a:latin typeface="Calibri"/>
                        </a:rPr>
                        <a:t>+%48,8</a:t>
                      </a:r>
                    </a:p>
                  </a:txBody>
                  <a:tcPr>
                    <a:solidFill>
                      <a:srgbClr val="FFFFFF"/>
                    </a:solidFill>
                  </a:tcPr>
                </a:tc>
                <a:tc>
                  <a:txBody>
                    <a:bodyPr/>
                    <a:lstStyle/>
                    <a:p>
                      <a:pPr algn="ctr"/>
                      <a:r>
                        <a:rPr sz="1150" b="0">
                          <a:solidFill>
                            <a:srgbClr val="A6001A"/>
                          </a:solidFill>
                          <a:latin typeface="Calibri"/>
                        </a:rPr>
                        <a:t>+%96,0</a:t>
                      </a:r>
                    </a:p>
                  </a:txBody>
                  <a:tcPr>
                    <a:solidFill>
                      <a:srgbClr val="FFFFFF"/>
                    </a:solidFill>
                  </a:tcPr>
                </a:tc>
                <a:tc>
                  <a:txBody>
                    <a:bodyPr/>
                    <a:lstStyle/>
                    <a:p>
                      <a:pPr algn="ctr"/>
                      <a:r>
                        <a:rPr sz="1150" b="0">
                          <a:solidFill>
                            <a:srgbClr val="A6001A"/>
                          </a:solidFill>
                          <a:latin typeface="Calibri"/>
                        </a:rPr>
                        <a:t>+%22,0</a:t>
                      </a:r>
                    </a:p>
                  </a:txBody>
                  <a:tcPr>
                    <a:solidFill>
                      <a:srgbClr val="FFFFFF"/>
                    </a:solidFill>
                  </a:tcPr>
                </a:tc>
                <a:tc>
                  <a:txBody>
                    <a:bodyPr/>
                    <a:lstStyle/>
                    <a:p>
                      <a:pPr algn="ctr"/>
                      <a:r>
                        <a:rPr sz="1150" b="1">
                          <a:solidFill>
                            <a:srgbClr val="333333"/>
                          </a:solidFill>
                          <a:latin typeface="Calibri"/>
                        </a:rPr>
                        <a:t>2,2x</a:t>
                      </a:r>
                    </a:p>
                  </a:txBody>
                  <a:tcPr>
                    <a:solidFill>
                      <a:srgbClr val="FFFFFF"/>
                    </a:solidFill>
                  </a:tcPr>
                </a:tc>
              </a:tr>
              <a:tr h="347472">
                <a:tc>
                  <a:txBody>
                    <a:bodyPr/>
                    <a:lstStyle/>
                    <a:p>
                      <a:pPr algn="l"/>
                      <a:r>
                        <a:rPr sz="1150" b="0">
                          <a:solidFill>
                            <a:srgbClr val="333333"/>
                          </a:solidFill>
                          <a:latin typeface="Calibri"/>
                        </a:rPr>
                        <a:t>FSM</a:t>
                      </a:r>
                    </a:p>
                  </a:txBody>
                  <a:tcPr>
                    <a:solidFill>
                      <a:srgbClr val="FFFFFF"/>
                    </a:solidFill>
                  </a:tcPr>
                </a:tc>
                <a:tc>
                  <a:txBody>
                    <a:bodyPr/>
                    <a:lstStyle/>
                    <a:p>
                      <a:pPr algn="ctr"/>
                      <a:r>
                        <a:rPr sz="1150" b="0">
                          <a:solidFill>
                            <a:srgbClr val="333333"/>
                          </a:solidFill>
                          <a:latin typeface="Calibri"/>
                        </a:rPr>
                        <a:t>42 → 45</a:t>
                      </a:r>
                    </a:p>
                  </a:txBody>
                  <a:tcPr>
                    <a:solidFill>
                      <a:srgbClr val="FFFFFF"/>
                    </a:solidFill>
                  </a:tcPr>
                </a:tc>
                <a:tc>
                  <a:txBody>
                    <a:bodyPr/>
                    <a:lstStyle/>
                    <a:p>
                      <a:pPr algn="ctr"/>
                      <a:r>
                        <a:rPr sz="1150" b="0">
                          <a:solidFill>
                            <a:srgbClr val="333333"/>
                          </a:solidFill>
                          <a:latin typeface="Calibri"/>
                        </a:rPr>
                        <a:t>+%7,1</a:t>
                      </a:r>
                    </a:p>
                  </a:txBody>
                  <a:tcPr>
                    <a:solidFill>
                      <a:srgbClr val="FFFFFF"/>
                    </a:solidFill>
                  </a:tcPr>
                </a:tc>
                <a:tc>
                  <a:txBody>
                    <a:bodyPr/>
                    <a:lstStyle/>
                    <a:p>
                      <a:pPr algn="ctr"/>
                      <a:r>
                        <a:rPr sz="1150" b="0">
                          <a:solidFill>
                            <a:srgbClr val="A6001A"/>
                          </a:solidFill>
                          <a:latin typeface="Calibri"/>
                        </a:rPr>
                        <a:t>+%26,5</a:t>
                      </a:r>
                    </a:p>
                  </a:txBody>
                  <a:tcPr>
                    <a:solidFill>
                      <a:srgbClr val="FFFFFF"/>
                    </a:solidFill>
                  </a:tcPr>
                </a:tc>
                <a:tc>
                  <a:txBody>
                    <a:bodyPr/>
                    <a:lstStyle/>
                    <a:p>
                      <a:pPr algn="ctr"/>
                      <a:r>
                        <a:rPr sz="1150" b="0">
                          <a:solidFill>
                            <a:srgbClr val="A6001A"/>
                          </a:solidFill>
                          <a:latin typeface="Calibri"/>
                        </a:rPr>
                        <a:t>+%62,3</a:t>
                      </a:r>
                    </a:p>
                  </a:txBody>
                  <a:tcPr>
                    <a:solidFill>
                      <a:srgbClr val="FFFFFF"/>
                    </a:solidFill>
                  </a:tcPr>
                </a:tc>
                <a:tc>
                  <a:txBody>
                    <a:bodyPr/>
                    <a:lstStyle/>
                    <a:p>
                      <a:pPr algn="ctr"/>
                      <a:r>
                        <a:rPr sz="1150" b="0">
                          <a:solidFill>
                            <a:srgbClr val="A6001A"/>
                          </a:solidFill>
                          <a:latin typeface="Calibri"/>
                        </a:rPr>
                        <a:t>+%18,1</a:t>
                      </a:r>
                    </a:p>
                  </a:txBody>
                  <a:tcPr>
                    <a:solidFill>
                      <a:srgbClr val="FFFFFF"/>
                    </a:solidFill>
                  </a:tcPr>
                </a:tc>
                <a:tc>
                  <a:txBody>
                    <a:bodyPr/>
                    <a:lstStyle/>
                    <a:p>
                      <a:pPr algn="ctr"/>
                      <a:r>
                        <a:rPr sz="1150" b="1">
                          <a:solidFill>
                            <a:srgbClr val="333333"/>
                          </a:solidFill>
                          <a:latin typeface="Calibri"/>
                        </a:rPr>
                        <a:t>3,7x</a:t>
                      </a:r>
                    </a:p>
                  </a:txBody>
                  <a:tcPr>
                    <a:solidFill>
                      <a:srgbClr val="FFFFFF"/>
                    </a:solidFill>
                  </a:tcPr>
                </a:tc>
              </a:tr>
              <a:tr h="347472">
                <a:tc>
                  <a:txBody>
                    <a:bodyPr/>
                    <a:lstStyle/>
                    <a:p>
                      <a:pPr algn="l"/>
                      <a:r>
                        <a:rPr sz="1150" b="1">
                          <a:solidFill>
                            <a:srgbClr val="333333"/>
                          </a:solidFill>
                          <a:latin typeface="Calibri"/>
                        </a:rPr>
                        <a:t>TOPLAM</a:t>
                      </a:r>
                    </a:p>
                  </a:txBody>
                  <a:tcPr>
                    <a:solidFill>
                      <a:srgbClr val="F2F2F2"/>
                    </a:solidFill>
                  </a:tcPr>
                </a:tc>
                <a:tc>
                  <a:txBody>
                    <a:bodyPr/>
                    <a:lstStyle/>
                    <a:p>
                      <a:pPr algn="ctr"/>
                      <a:r>
                        <a:rPr sz="1150" b="1">
                          <a:solidFill>
                            <a:srgbClr val="333333"/>
                          </a:solidFill>
                          <a:latin typeface="Calibri"/>
                        </a:rPr>
                        <a:t>143 → 160</a:t>
                      </a:r>
                    </a:p>
                  </a:txBody>
                  <a:tcPr>
                    <a:solidFill>
                      <a:srgbClr val="F2F2F2"/>
                    </a:solidFill>
                  </a:tcPr>
                </a:tc>
                <a:tc>
                  <a:txBody>
                    <a:bodyPr/>
                    <a:lstStyle/>
                    <a:p>
                      <a:pPr algn="ctr"/>
                      <a:r>
                        <a:rPr sz="1150" b="1">
                          <a:solidFill>
                            <a:srgbClr val="333333"/>
                          </a:solidFill>
                          <a:latin typeface="Calibri"/>
                        </a:rPr>
                        <a:t>+%11,9</a:t>
                      </a:r>
                    </a:p>
                  </a:txBody>
                  <a:tcPr>
                    <a:solidFill>
                      <a:srgbClr val="F2F2F2"/>
                    </a:solidFill>
                  </a:tcPr>
                </a:tc>
                <a:tc>
                  <a:txBody>
                    <a:bodyPr/>
                    <a:lstStyle/>
                    <a:p>
                      <a:pPr algn="ctr"/>
                      <a:r>
                        <a:rPr sz="1150" b="1">
                          <a:solidFill>
                            <a:srgbClr val="A6001A"/>
                          </a:solidFill>
                          <a:latin typeface="Calibri"/>
                        </a:rPr>
                        <a:t>+%34,9</a:t>
                      </a:r>
                    </a:p>
                  </a:txBody>
                  <a:tcPr>
                    <a:solidFill>
                      <a:srgbClr val="F2F2F2"/>
                    </a:solidFill>
                  </a:tcPr>
                </a:tc>
                <a:tc>
                  <a:txBody>
                    <a:bodyPr/>
                    <a:lstStyle/>
                    <a:p>
                      <a:pPr algn="ctr"/>
                      <a:r>
                        <a:rPr sz="1150" b="1">
                          <a:solidFill>
                            <a:srgbClr val="A6001A"/>
                          </a:solidFill>
                          <a:latin typeface="Calibri"/>
                        </a:rPr>
                        <a:t>+%70,6</a:t>
                      </a:r>
                    </a:p>
                  </a:txBody>
                  <a:tcPr>
                    <a:solidFill>
                      <a:srgbClr val="F2F2F2"/>
                    </a:solidFill>
                  </a:tcPr>
                </a:tc>
                <a:tc>
                  <a:txBody>
                    <a:bodyPr/>
                    <a:lstStyle/>
                    <a:p>
                      <a:pPr algn="ctr"/>
                      <a:r>
                        <a:rPr sz="1150" b="1">
                          <a:solidFill>
                            <a:srgbClr val="A6001A"/>
                          </a:solidFill>
                          <a:latin typeface="Calibri"/>
                        </a:rPr>
                        <a:t>+%20,5</a:t>
                      </a:r>
                    </a:p>
                  </a:txBody>
                  <a:tcPr>
                    <a:solidFill>
                      <a:srgbClr val="F2F2F2"/>
                    </a:solidFill>
                  </a:tcPr>
                </a:tc>
                <a:tc>
                  <a:txBody>
                    <a:bodyPr/>
                    <a:lstStyle/>
                    <a:p>
                      <a:pPr algn="ctr"/>
                      <a:r>
                        <a:rPr sz="1150" b="1">
                          <a:solidFill>
                            <a:srgbClr val="333333"/>
                          </a:solidFill>
                          <a:latin typeface="Calibri"/>
                        </a:rPr>
                        <a:t>2,9x</a:t>
                      </a:r>
                    </a:p>
                  </a:txBody>
                  <a:tcPr>
                    <a:solidFill>
                      <a:srgbClr val="F2F2F2"/>
                    </a:solidFill>
                  </a:tcPr>
                </a:tc>
              </a:tr>
            </a:tbl>
          </a:graphicData>
        </a:graphic>
      </p:graphicFrame>
      <p:graphicFrame>
        <p:nvGraphicFramePr>
          <p:cNvPr id="4" name="Chart 3"/>
          <p:cNvGraphicFramePr>
            <a:graphicFrameLocks noGrp="1"/>
          </p:cNvGraphicFramePr>
          <p:nvPr/>
        </p:nvGraphicFramePr>
        <p:xfrm>
          <a:off x="548640" y="3291840"/>
          <a:ext cx="6766560" cy="2148840"/>
        </p:xfrm>
        <a:graphic>
          <a:graphicData uri="http://schemas.openxmlformats.org/drawingml/2006/chart">
            <c:chart xmlns:c="http://schemas.openxmlformats.org/drawingml/2006/chart" r:id="rId4"/>
          </a:graphicData>
        </a:graphic>
      </p:graphicFrame>
      <p:sp>
        <p:nvSpPr>
          <p:cNvPr id="5" name="Rounded Rectangle 4"/>
          <p:cNvSpPr/>
          <p:nvPr/>
        </p:nvSpPr>
        <p:spPr>
          <a:xfrm>
            <a:off x="7498079" y="3474720"/>
            <a:ext cx="4069080" cy="178308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6679" y="3611880"/>
            <a:ext cx="3657600" cy="1554480"/>
          </a:xfrm>
          <a:prstGeom prst="rect">
            <a:avLst/>
          </a:prstGeom>
          <a:noFill/>
        </p:spPr>
        <p:txBody>
          <a:bodyPr wrap="square" anchor="t">
            <a:spAutoFit/>
          </a:bodyPr>
          <a:lstStyle/>
          <a:p>
            <a:pPr algn="l">
              <a:lnSpc>
                <a:spcPct val="115000"/>
              </a:lnSpc>
            </a:pPr>
            <a:r>
              <a:rPr sz="1350" b="1">
                <a:solidFill>
                  <a:srgbClr val="A6001A"/>
                </a:solidFill>
                <a:latin typeface="Calibri"/>
              </a:rPr>
              <a:t>Değerlendirme</a:t>
            </a:r>
          </a:p>
          <a:p>
            <a:pPr algn="l">
              <a:lnSpc>
                <a:spcPct val="115000"/>
              </a:lnSpc>
            </a:pPr>
            <a:r>
              <a:rPr sz="1150" b="0">
                <a:solidFill>
                  <a:srgbClr val="333333"/>
                </a:solidFill>
                <a:latin typeface="Calibri"/>
              </a:rPr>
              <a:t>Üç mağazanın tamamında iş hacmi artışı kadro artışının üzerindedir. Kadro artışı en yüksek olan İst. Yolu mağazasında dahi oran 2,2 katıdır.</a:t>
            </a:r>
          </a:p>
        </p:txBody>
      </p:sp>
      <p:sp>
        <p:nvSpPr>
          <p:cNvPr id="7" name="TextBox 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a:t>
            </a:r>
          </a:p>
        </p:txBody>
      </p:sp>
      <p:sp>
        <p:nvSpPr>
          <p:cNvPr id="8" name="TextBox 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Kategori Büyümesi ve İlgili Bölüm Kadrosu</a:t>
            </a:r>
          </a:p>
        </p:txBody>
      </p:sp>
      <p:graphicFrame>
        <p:nvGraphicFramePr>
          <p:cNvPr id="3" name="Table 2"/>
          <p:cNvGraphicFramePr>
            <a:graphicFrameLocks noGrp="1"/>
          </p:cNvGraphicFramePr>
          <p:nvPr/>
        </p:nvGraphicFramePr>
        <p:xfrm>
          <a:off x="548640" y="1371600"/>
          <a:ext cx="11018520" cy="2617470"/>
        </p:xfrm>
        <a:graphic>
          <a:graphicData uri="http://schemas.openxmlformats.org/drawingml/2006/table">
            <a:tbl>
              <a:tblPr firstRow="1" bandRow="1">
                <a:tableStyleId>{5C22544A-7EE6-4342-B048-85BDC9FD1C3A}</a:tableStyleId>
              </a:tblPr>
              <a:tblGrid>
                <a:gridCol w="1965960"/>
                <a:gridCol w="1600200"/>
                <a:gridCol w="2148840"/>
                <a:gridCol w="1097280"/>
                <a:gridCol w="1051560"/>
                <a:gridCol w="1143000"/>
                <a:gridCol w="1051560"/>
                <a:gridCol w="960120"/>
              </a:tblGrid>
              <a:tr h="457200">
                <a:tc>
                  <a:txBody>
                    <a:bodyPr/>
                    <a:lstStyle/>
                    <a:p>
                      <a:pPr algn="l"/>
                      <a:r>
                        <a:rPr sz="1150" b="1">
                          <a:solidFill>
                            <a:srgbClr val="FFFFFF"/>
                          </a:solidFill>
                          <a:latin typeface="Calibri"/>
                        </a:rPr>
                        <a:t>Kategori</a:t>
                      </a:r>
                    </a:p>
                  </a:txBody>
                  <a:tcPr>
                    <a:solidFill>
                      <a:srgbClr val="E30622"/>
                    </a:solidFill>
                  </a:tcPr>
                </a:tc>
                <a:tc>
                  <a:txBody>
                    <a:bodyPr/>
                    <a:lstStyle/>
                    <a:p>
                      <a:pPr algn="l"/>
                      <a:r>
                        <a:rPr sz="1150" b="1">
                          <a:solidFill>
                            <a:srgbClr val="FFFFFF"/>
                          </a:solidFill>
                          <a:latin typeface="Calibri"/>
                        </a:rPr>
                        <a:t>Bakan bölüm</a:t>
                      </a:r>
                    </a:p>
                  </a:txBody>
                  <a:tcPr>
                    <a:solidFill>
                      <a:srgbClr val="E30622"/>
                    </a:solidFill>
                  </a:tcPr>
                </a:tc>
                <a:tc>
                  <a:txBody>
                    <a:bodyPr/>
                    <a:lstStyle/>
                    <a:p>
                      <a:pPr algn="ctr"/>
                      <a:r>
                        <a:rPr sz="1150" b="1">
                          <a:solidFill>
                            <a:srgbClr val="FFFFFF"/>
                          </a:solidFill>
                          <a:latin typeface="Calibri"/>
                        </a:rPr>
                        <a:t>Ürün adedi 2025 → 2026</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SEZON</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adet Δ</a:t>
                      </a:r>
                    </a:p>
                  </a:txBody>
                  <a:tcPr>
                    <a:solidFill>
                      <a:srgbClr val="E30622"/>
                    </a:solidFill>
                  </a:tcPr>
                </a:tc>
                <a:tc>
                  <a:txBody>
                    <a:bodyPr/>
                    <a:lstStyle/>
                    <a:p>
                      <a:pPr algn="ctr"/>
                      <a:r>
                        <a:rPr sz="1150" b="1">
                          <a:solidFill>
                            <a:srgbClr val="FFFFFF"/>
                          </a:solidFill>
                          <a:latin typeface="Calibri"/>
                        </a:rPr>
                        <a:t>OCA-AĞU</a:t>
                      </a:r>
                    </a:p>
                    <a:p>
                      <a:pPr algn="ctr"/>
                      <a:r>
                        <a:rPr sz="1150" b="1">
                          <a:solidFill>
                            <a:srgbClr val="FFFFFF"/>
                          </a:solidFill>
                          <a:latin typeface="Calibri"/>
                        </a:rPr>
                        <a:t>ciro Δ</a:t>
                      </a:r>
                    </a:p>
                  </a:txBody>
                  <a:tcPr>
                    <a:solidFill>
                      <a:srgbClr val="E30622"/>
                    </a:solidFill>
                  </a:tcPr>
                </a:tc>
                <a:tc>
                  <a:txBody>
                    <a:bodyPr/>
                    <a:lstStyle/>
                    <a:p>
                      <a:pPr algn="ctr"/>
                      <a:r>
                        <a:rPr sz="1150" b="1">
                          <a:solidFill>
                            <a:srgbClr val="FFFFFF"/>
                          </a:solidFill>
                          <a:latin typeface="Calibri"/>
                        </a:rPr>
                        <a:t>Bölüm</a:t>
                      </a:r>
                    </a:p>
                    <a:p>
                      <a:pPr algn="ctr"/>
                      <a:r>
                        <a:rPr sz="1150" b="1">
                          <a:solidFill>
                            <a:srgbClr val="FFFFFF"/>
                          </a:solidFill>
                          <a:latin typeface="Calibri"/>
                        </a:rPr>
                        <a:t>kadro Δ</a:t>
                      </a:r>
                    </a:p>
                  </a:txBody>
                  <a:tcPr>
                    <a:solidFill>
                      <a:srgbClr val="E30622"/>
                    </a:solidFill>
                  </a:tcPr>
                </a:tc>
              </a:tr>
              <a:tr h="308610">
                <a:tc>
                  <a:txBody>
                    <a:bodyPr/>
                    <a:lstStyle/>
                    <a:p>
                      <a:pPr algn="l"/>
                      <a:r>
                        <a:rPr sz="1150" b="0">
                          <a:solidFill>
                            <a:srgbClr val="333333"/>
                          </a:solidFill>
                          <a:latin typeface="Calibri"/>
                        </a:rPr>
                        <a:t>Hazırlık Kitapları</a:t>
                      </a:r>
                    </a:p>
                  </a:txBody>
                  <a:tcPr>
                    <a:solidFill>
                      <a:srgbClr val="FFFFFF"/>
                    </a:solidFill>
                  </a:tcPr>
                </a:tc>
                <a:tc>
                  <a:txBody>
                    <a:bodyPr/>
                    <a:lstStyle/>
                    <a:p>
                      <a:pPr algn="l"/>
                      <a:r>
                        <a:rPr sz="1150" b="0">
                          <a:solidFill>
                            <a:srgbClr val="333333"/>
                          </a:solidFill>
                          <a:latin typeface="Calibri"/>
                        </a:rPr>
                        <a:t>Yardımcı Kitap</a:t>
                      </a:r>
                    </a:p>
                  </a:txBody>
                  <a:tcPr>
                    <a:solidFill>
                      <a:srgbClr val="FFFFFF"/>
                    </a:solidFill>
                  </a:tcPr>
                </a:tc>
                <a:tc>
                  <a:txBody>
                    <a:bodyPr/>
                    <a:lstStyle/>
                    <a:p>
                      <a:pPr algn="ctr"/>
                      <a:r>
                        <a:rPr sz="1150" b="0">
                          <a:solidFill>
                            <a:srgbClr val="333333"/>
                          </a:solidFill>
                          <a:latin typeface="Calibri"/>
                        </a:rPr>
                        <a:t>38.785 → 53.872</a:t>
                      </a:r>
                    </a:p>
                  </a:txBody>
                  <a:tcPr>
                    <a:solidFill>
                      <a:srgbClr val="FFFFFF"/>
                    </a:solidFill>
                  </a:tcPr>
                </a:tc>
                <a:tc>
                  <a:txBody>
                    <a:bodyPr/>
                    <a:lstStyle/>
                    <a:p>
                      <a:pPr algn="ctr"/>
                      <a:r>
                        <a:rPr sz="1150" b="1">
                          <a:solidFill>
                            <a:srgbClr val="A6001A"/>
                          </a:solidFill>
                          <a:latin typeface="Calibri"/>
                        </a:rPr>
                        <a:t>+%38,9</a:t>
                      </a:r>
                    </a:p>
                  </a:txBody>
                  <a:tcPr>
                    <a:solidFill>
                      <a:srgbClr val="FFFFFF"/>
                    </a:solidFill>
                  </a:tcPr>
                </a:tc>
                <a:tc>
                  <a:txBody>
                    <a:bodyPr/>
                    <a:lstStyle/>
                    <a:p>
                      <a:pPr algn="ctr"/>
                      <a:r>
                        <a:rPr sz="1150" b="1">
                          <a:solidFill>
                            <a:srgbClr val="A6001A"/>
                          </a:solidFill>
                          <a:latin typeface="Calibri"/>
                        </a:rPr>
                        <a:t>+%91,4</a:t>
                      </a:r>
                    </a:p>
                  </a:txBody>
                  <a:tcPr>
                    <a:solidFill>
                      <a:srgbClr val="FFFFFF"/>
                    </a:solidFill>
                  </a:tcPr>
                </a:tc>
                <a:tc>
                  <a:txBody>
                    <a:bodyPr/>
                    <a:lstStyle/>
                    <a:p>
                      <a:pPr algn="ctr"/>
                      <a:r>
                        <a:rPr sz="1150" b="1">
                          <a:solidFill>
                            <a:srgbClr val="333333"/>
                          </a:solidFill>
                          <a:latin typeface="Calibri"/>
                        </a:rPr>
                        <a:t>+%21,8</a:t>
                      </a:r>
                    </a:p>
                  </a:txBody>
                  <a:tcPr>
                    <a:solidFill>
                      <a:srgbClr val="FFFFFF"/>
                    </a:solidFill>
                  </a:tcPr>
                </a:tc>
                <a:tc>
                  <a:txBody>
                    <a:bodyPr/>
                    <a:lstStyle/>
                    <a:p>
                      <a:pPr algn="ctr"/>
                      <a:r>
                        <a:rPr sz="1150" b="0">
                          <a:solidFill>
                            <a:srgbClr val="333333"/>
                          </a:solidFill>
                          <a:latin typeface="Calibri"/>
                        </a:rPr>
                        <a:t>+%46,3</a:t>
                      </a:r>
                    </a:p>
                  </a:txBody>
                  <a:tcPr>
                    <a:solidFill>
                      <a:srgbClr val="FFFFFF"/>
                    </a:solidFill>
                  </a:tcPr>
                </a:tc>
                <a:tc>
                  <a:txBody>
                    <a:bodyPr/>
                    <a:lstStyle/>
                    <a:p>
                      <a:pPr algn="ctr"/>
                      <a:r>
                        <a:rPr sz="1150" b="0">
                          <a:solidFill>
                            <a:srgbClr val="333333"/>
                          </a:solidFill>
                          <a:latin typeface="Calibri"/>
                        </a:rPr>
                        <a:t>+6 kişi</a:t>
                      </a:r>
                    </a:p>
                  </a:txBody>
                  <a:tcPr>
                    <a:solidFill>
                      <a:srgbClr val="FFFFFF"/>
                    </a:solidFill>
                  </a:tcPr>
                </a:tc>
              </a:tr>
              <a:tr h="308610">
                <a:tc>
                  <a:txBody>
                    <a:bodyPr/>
                    <a:lstStyle/>
                    <a:p>
                      <a:pPr algn="l"/>
                      <a:r>
                        <a:rPr sz="1150" b="0">
                          <a:solidFill>
                            <a:srgbClr val="333333"/>
                          </a:solidFill>
                          <a:latin typeface="Calibri"/>
                        </a:rPr>
                        <a:t>Kırtasiye</a:t>
                      </a:r>
                    </a:p>
                  </a:txBody>
                  <a:tcPr>
                    <a:solidFill>
                      <a:srgbClr val="F2F2F2"/>
                    </a:solidFill>
                  </a:tcPr>
                </a:tc>
                <a:tc>
                  <a:txBody>
                    <a:bodyPr/>
                    <a:lstStyle/>
                    <a:p>
                      <a:pPr algn="l"/>
                      <a:r>
                        <a:rPr sz="1150" b="0">
                          <a:solidFill>
                            <a:srgbClr val="333333"/>
                          </a:solidFill>
                          <a:latin typeface="Calibri"/>
                        </a:rPr>
                        <a:t>Kırtasiye</a:t>
                      </a:r>
                    </a:p>
                  </a:txBody>
                  <a:tcPr>
                    <a:solidFill>
                      <a:srgbClr val="F2F2F2"/>
                    </a:solidFill>
                  </a:tcPr>
                </a:tc>
                <a:tc>
                  <a:txBody>
                    <a:bodyPr/>
                    <a:lstStyle/>
                    <a:p>
                      <a:pPr algn="ctr"/>
                      <a:r>
                        <a:rPr sz="1150" b="0">
                          <a:solidFill>
                            <a:srgbClr val="333333"/>
                          </a:solidFill>
                          <a:latin typeface="Calibri"/>
                        </a:rPr>
                        <a:t>222.233 → 296.797</a:t>
                      </a:r>
                    </a:p>
                  </a:txBody>
                  <a:tcPr>
                    <a:solidFill>
                      <a:srgbClr val="F2F2F2"/>
                    </a:solidFill>
                  </a:tcPr>
                </a:tc>
                <a:tc>
                  <a:txBody>
                    <a:bodyPr/>
                    <a:lstStyle/>
                    <a:p>
                      <a:pPr algn="ctr"/>
                      <a:r>
                        <a:rPr sz="1150" b="1">
                          <a:solidFill>
                            <a:srgbClr val="A6001A"/>
                          </a:solidFill>
                          <a:latin typeface="Calibri"/>
                        </a:rPr>
                        <a:t>+%33,6</a:t>
                      </a:r>
                    </a:p>
                  </a:txBody>
                  <a:tcPr>
                    <a:solidFill>
                      <a:srgbClr val="F2F2F2"/>
                    </a:solidFill>
                  </a:tcPr>
                </a:tc>
                <a:tc>
                  <a:txBody>
                    <a:bodyPr/>
                    <a:lstStyle/>
                    <a:p>
                      <a:pPr algn="ctr"/>
                      <a:r>
                        <a:rPr sz="1150" b="1">
                          <a:solidFill>
                            <a:srgbClr val="A6001A"/>
                          </a:solidFill>
                          <a:latin typeface="Calibri"/>
                        </a:rPr>
                        <a:t>+%75,0</a:t>
                      </a:r>
                    </a:p>
                  </a:txBody>
                  <a:tcPr>
                    <a:solidFill>
                      <a:srgbClr val="F2F2F2"/>
                    </a:solidFill>
                  </a:tcPr>
                </a:tc>
                <a:tc>
                  <a:txBody>
                    <a:bodyPr/>
                    <a:lstStyle/>
                    <a:p>
                      <a:pPr algn="ctr"/>
                      <a:r>
                        <a:rPr sz="1150" b="1">
                          <a:solidFill>
                            <a:srgbClr val="333333"/>
                          </a:solidFill>
                          <a:latin typeface="Calibri"/>
                        </a:rPr>
                        <a:t>+%22,8</a:t>
                      </a:r>
                    </a:p>
                  </a:txBody>
                  <a:tcPr>
                    <a:solidFill>
                      <a:srgbClr val="F2F2F2"/>
                    </a:solidFill>
                  </a:tcPr>
                </a:tc>
                <a:tc>
                  <a:txBody>
                    <a:bodyPr/>
                    <a:lstStyle/>
                    <a:p>
                      <a:pPr algn="ctr"/>
                      <a:r>
                        <a:rPr sz="1150" b="0">
                          <a:solidFill>
                            <a:srgbClr val="333333"/>
                          </a:solidFill>
                          <a:latin typeface="Calibri"/>
                        </a:rPr>
                        <a:t>+%37,5</a:t>
                      </a:r>
                    </a:p>
                  </a:txBody>
                  <a:tcPr>
                    <a:solidFill>
                      <a:srgbClr val="F2F2F2"/>
                    </a:solidFill>
                  </a:tcPr>
                </a:tc>
                <a:tc>
                  <a:txBody>
                    <a:bodyPr/>
                    <a:lstStyle/>
                    <a:p>
                      <a:pPr algn="ctr"/>
                      <a:r>
                        <a:rPr sz="1150" b="0">
                          <a:solidFill>
                            <a:srgbClr val="333333"/>
                          </a:solidFill>
                          <a:latin typeface="Calibri"/>
                        </a:rPr>
                        <a:t>+3 kişi</a:t>
                      </a:r>
                    </a:p>
                  </a:txBody>
                  <a:tcPr>
                    <a:solidFill>
                      <a:srgbClr val="F2F2F2"/>
                    </a:solidFill>
                  </a:tcPr>
                </a:tc>
              </a:tr>
              <a:tr h="308610">
                <a:tc>
                  <a:txBody>
                    <a:bodyPr/>
                    <a:lstStyle/>
                    <a:p>
                      <a:pPr algn="l"/>
                      <a:r>
                        <a:rPr sz="1150" b="0">
                          <a:solidFill>
                            <a:srgbClr val="333333"/>
                          </a:solidFill>
                          <a:latin typeface="Calibri"/>
                        </a:rPr>
                        <a:t>Akademi</a:t>
                      </a:r>
                    </a:p>
                  </a:txBody>
                  <a:tcPr>
                    <a:solidFill>
                      <a:srgbClr val="FFFFFF"/>
                    </a:solidFill>
                  </a:tcPr>
                </a:tc>
                <a:tc>
                  <a:txBody>
                    <a:bodyPr/>
                    <a:lstStyle/>
                    <a:p>
                      <a:pPr algn="l"/>
                      <a:r>
                        <a:rPr sz="1150" b="0">
                          <a:solidFill>
                            <a:srgbClr val="333333"/>
                          </a:solidFill>
                          <a:latin typeface="Calibri"/>
                        </a:rPr>
                        <a:t>Akademi</a:t>
                      </a:r>
                    </a:p>
                  </a:txBody>
                  <a:tcPr>
                    <a:solidFill>
                      <a:srgbClr val="FFFFFF"/>
                    </a:solidFill>
                  </a:tcPr>
                </a:tc>
                <a:tc>
                  <a:txBody>
                    <a:bodyPr/>
                    <a:lstStyle/>
                    <a:p>
                      <a:pPr algn="ctr"/>
                      <a:r>
                        <a:rPr sz="1150" b="0">
                          <a:solidFill>
                            <a:srgbClr val="333333"/>
                          </a:solidFill>
                          <a:latin typeface="Calibri"/>
                        </a:rPr>
                        <a:t>7.328 → 24.841</a:t>
                      </a:r>
                    </a:p>
                  </a:txBody>
                  <a:tcPr>
                    <a:solidFill>
                      <a:srgbClr val="FFFFFF"/>
                    </a:solidFill>
                  </a:tcPr>
                </a:tc>
                <a:tc>
                  <a:txBody>
                    <a:bodyPr/>
                    <a:lstStyle/>
                    <a:p>
                      <a:pPr algn="ctr"/>
                      <a:r>
                        <a:rPr sz="1150" b="1">
                          <a:solidFill>
                            <a:srgbClr val="A6001A"/>
                          </a:solidFill>
                          <a:latin typeface="Calibri"/>
                        </a:rPr>
                        <a:t>+%239,0</a:t>
                      </a:r>
                    </a:p>
                  </a:txBody>
                  <a:tcPr>
                    <a:solidFill>
                      <a:srgbClr val="FFFFFF"/>
                    </a:solidFill>
                  </a:tcPr>
                </a:tc>
                <a:tc>
                  <a:txBody>
                    <a:bodyPr/>
                    <a:lstStyle/>
                    <a:p>
                      <a:pPr algn="ctr"/>
                      <a:r>
                        <a:rPr sz="1150" b="1">
                          <a:solidFill>
                            <a:srgbClr val="A6001A"/>
                          </a:solidFill>
                          <a:latin typeface="Calibri"/>
                        </a:rPr>
                        <a:t>+%242,1</a:t>
                      </a:r>
                    </a:p>
                  </a:txBody>
                  <a:tcPr>
                    <a:solidFill>
                      <a:srgbClr val="FFFFFF"/>
                    </a:solidFill>
                  </a:tcPr>
                </a:tc>
                <a:tc>
                  <a:txBody>
                    <a:bodyPr/>
                    <a:lstStyle/>
                    <a:p>
                      <a:pPr algn="ctr"/>
                      <a:r>
                        <a:rPr sz="1150" b="1">
                          <a:solidFill>
                            <a:srgbClr val="333333"/>
                          </a:solidFill>
                          <a:latin typeface="Calibri"/>
                        </a:rPr>
                        <a:t>+%152,9</a:t>
                      </a:r>
                    </a:p>
                  </a:txBody>
                  <a:tcPr>
                    <a:solidFill>
                      <a:srgbClr val="FFFFFF"/>
                    </a:solidFill>
                  </a:tcPr>
                </a:tc>
                <a:tc>
                  <a:txBody>
                    <a:bodyPr/>
                    <a:lstStyle/>
                    <a:p>
                      <a:pPr algn="ctr"/>
                      <a:r>
                        <a:rPr sz="1150" b="0">
                          <a:solidFill>
                            <a:srgbClr val="333333"/>
                          </a:solidFill>
                          <a:latin typeface="Calibri"/>
                        </a:rPr>
                        <a:t>+%176,9</a:t>
                      </a:r>
                    </a:p>
                  </a:txBody>
                  <a:tcPr>
                    <a:solidFill>
                      <a:srgbClr val="FFFFFF"/>
                    </a:solidFill>
                  </a:tcPr>
                </a:tc>
                <a:tc>
                  <a:txBody>
                    <a:bodyPr/>
                    <a:lstStyle/>
                    <a:p>
                      <a:pPr algn="ctr"/>
                      <a:r>
                        <a:rPr sz="1150" b="0">
                          <a:solidFill>
                            <a:srgbClr val="333333"/>
                          </a:solidFill>
                          <a:latin typeface="Calibri"/>
                        </a:rPr>
                        <a:t>+2 kişi</a:t>
                      </a:r>
                    </a:p>
                  </a:txBody>
                  <a:tcPr>
                    <a:solidFill>
                      <a:srgbClr val="FFFFFF"/>
                    </a:solidFill>
                  </a:tcPr>
                </a:tc>
              </a:tr>
              <a:tr h="308610">
                <a:tc>
                  <a:txBody>
                    <a:bodyPr/>
                    <a:lstStyle/>
                    <a:p>
                      <a:pPr algn="l"/>
                      <a:r>
                        <a:rPr sz="1150" b="0">
                          <a:solidFill>
                            <a:srgbClr val="333333"/>
                          </a:solidFill>
                          <a:latin typeface="Calibri"/>
                        </a:rPr>
                        <a:t>Kitap</a:t>
                      </a:r>
                    </a:p>
                  </a:txBody>
                  <a:tcPr>
                    <a:solidFill>
                      <a:srgbClr val="F2F2F2"/>
                    </a:solidFill>
                  </a:tcPr>
                </a:tc>
                <a:tc>
                  <a:txBody>
                    <a:bodyPr/>
                    <a:lstStyle/>
                    <a:p>
                      <a:pPr algn="l"/>
                      <a:r>
                        <a:rPr sz="1150" b="0">
                          <a:solidFill>
                            <a:srgbClr val="333333"/>
                          </a:solidFill>
                          <a:latin typeface="Calibri"/>
                        </a:rPr>
                        <a:t>Kültür</a:t>
                      </a:r>
                    </a:p>
                  </a:txBody>
                  <a:tcPr>
                    <a:solidFill>
                      <a:srgbClr val="F2F2F2"/>
                    </a:solidFill>
                  </a:tcPr>
                </a:tc>
                <a:tc>
                  <a:txBody>
                    <a:bodyPr/>
                    <a:lstStyle/>
                    <a:p>
                      <a:pPr algn="ctr"/>
                      <a:r>
                        <a:rPr sz="1150" b="0">
                          <a:solidFill>
                            <a:srgbClr val="333333"/>
                          </a:solidFill>
                          <a:latin typeface="Calibri"/>
                        </a:rPr>
                        <a:t>66.399 → 83.655</a:t>
                      </a:r>
                    </a:p>
                  </a:txBody>
                  <a:tcPr>
                    <a:solidFill>
                      <a:srgbClr val="F2F2F2"/>
                    </a:solidFill>
                  </a:tcPr>
                </a:tc>
                <a:tc>
                  <a:txBody>
                    <a:bodyPr/>
                    <a:lstStyle/>
                    <a:p>
                      <a:pPr algn="ctr"/>
                      <a:r>
                        <a:rPr sz="1150" b="1">
                          <a:solidFill>
                            <a:srgbClr val="A6001A"/>
                          </a:solidFill>
                          <a:latin typeface="Calibri"/>
                        </a:rPr>
                        <a:t>+%26,0</a:t>
                      </a:r>
                    </a:p>
                  </a:txBody>
                  <a:tcPr>
                    <a:solidFill>
                      <a:srgbClr val="F2F2F2"/>
                    </a:solidFill>
                  </a:tcPr>
                </a:tc>
                <a:tc>
                  <a:txBody>
                    <a:bodyPr/>
                    <a:lstStyle/>
                    <a:p>
                      <a:pPr algn="ctr"/>
                      <a:r>
                        <a:rPr sz="1150" b="1">
                          <a:solidFill>
                            <a:srgbClr val="A6001A"/>
                          </a:solidFill>
                          <a:latin typeface="Calibri"/>
                        </a:rPr>
                        <a:t>+%59,7</a:t>
                      </a:r>
                    </a:p>
                  </a:txBody>
                  <a:tcPr>
                    <a:solidFill>
                      <a:srgbClr val="F2F2F2"/>
                    </a:solidFill>
                  </a:tcPr>
                </a:tc>
                <a:tc>
                  <a:txBody>
                    <a:bodyPr/>
                    <a:lstStyle/>
                    <a:p>
                      <a:pPr algn="ctr"/>
                      <a:r>
                        <a:rPr sz="1150" b="1">
                          <a:solidFill>
                            <a:srgbClr val="333333"/>
                          </a:solidFill>
                          <a:latin typeface="Calibri"/>
                        </a:rPr>
                        <a:t>+%16,7</a:t>
                      </a:r>
                    </a:p>
                  </a:txBody>
                  <a:tcPr>
                    <a:solidFill>
                      <a:srgbClr val="F2F2F2"/>
                    </a:solidFill>
                  </a:tcPr>
                </a:tc>
                <a:tc>
                  <a:txBody>
                    <a:bodyPr/>
                    <a:lstStyle/>
                    <a:p>
                      <a:pPr algn="ctr"/>
                      <a:r>
                        <a:rPr sz="1150" b="0">
                          <a:solidFill>
                            <a:srgbClr val="333333"/>
                          </a:solidFill>
                          <a:latin typeface="Calibri"/>
                        </a:rPr>
                        <a:t>+%49,2</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Oyuncak</a:t>
                      </a:r>
                    </a:p>
                  </a:txBody>
                  <a:tcPr>
                    <a:solidFill>
                      <a:srgbClr val="FFFFFF"/>
                    </a:solidFill>
                  </a:tcPr>
                </a:tc>
                <a:tc>
                  <a:txBody>
                    <a:bodyPr/>
                    <a:lstStyle/>
                    <a:p>
                      <a:pPr algn="l"/>
                      <a:r>
                        <a:rPr sz="1150" b="0">
                          <a:solidFill>
                            <a:srgbClr val="333333"/>
                          </a:solidFill>
                          <a:latin typeface="Calibri"/>
                        </a:rPr>
                        <a:t>Oyuncak</a:t>
                      </a:r>
                    </a:p>
                  </a:txBody>
                  <a:tcPr>
                    <a:solidFill>
                      <a:srgbClr val="FFFFFF"/>
                    </a:solidFill>
                  </a:tcPr>
                </a:tc>
                <a:tc>
                  <a:txBody>
                    <a:bodyPr/>
                    <a:lstStyle/>
                    <a:p>
                      <a:pPr algn="ctr"/>
                      <a:r>
                        <a:rPr sz="1150" b="0">
                          <a:solidFill>
                            <a:srgbClr val="333333"/>
                          </a:solidFill>
                          <a:latin typeface="Calibri"/>
                        </a:rPr>
                        <a:t>37.135 → 58.662</a:t>
                      </a:r>
                    </a:p>
                  </a:txBody>
                  <a:tcPr>
                    <a:solidFill>
                      <a:srgbClr val="FFFFFF"/>
                    </a:solidFill>
                  </a:tcPr>
                </a:tc>
                <a:tc>
                  <a:txBody>
                    <a:bodyPr/>
                    <a:lstStyle/>
                    <a:p>
                      <a:pPr algn="ctr"/>
                      <a:r>
                        <a:rPr sz="1150" b="1">
                          <a:solidFill>
                            <a:srgbClr val="A6001A"/>
                          </a:solidFill>
                          <a:latin typeface="Calibri"/>
                        </a:rPr>
                        <a:t>+%58,0</a:t>
                      </a:r>
                    </a:p>
                  </a:txBody>
                  <a:tcPr>
                    <a:solidFill>
                      <a:srgbClr val="FFFFFF"/>
                    </a:solidFill>
                  </a:tcPr>
                </a:tc>
                <a:tc>
                  <a:txBody>
                    <a:bodyPr/>
                    <a:lstStyle/>
                    <a:p>
                      <a:pPr algn="ctr"/>
                      <a:r>
                        <a:rPr sz="1150" b="1">
                          <a:solidFill>
                            <a:srgbClr val="A6001A"/>
                          </a:solidFill>
                          <a:latin typeface="Calibri"/>
                        </a:rPr>
                        <a:t>+%50,4</a:t>
                      </a:r>
                    </a:p>
                  </a:txBody>
                  <a:tcPr>
                    <a:solidFill>
                      <a:srgbClr val="FFFFFF"/>
                    </a:solidFill>
                  </a:tcPr>
                </a:tc>
                <a:tc>
                  <a:txBody>
                    <a:bodyPr/>
                    <a:lstStyle/>
                    <a:p>
                      <a:pPr algn="ctr"/>
                      <a:r>
                        <a:rPr sz="1150" b="1">
                          <a:solidFill>
                            <a:srgbClr val="333333"/>
                          </a:solidFill>
                          <a:latin typeface="Calibri"/>
                        </a:rPr>
                        <a:t>+%45,3</a:t>
                      </a:r>
                    </a:p>
                  </a:txBody>
                  <a:tcPr>
                    <a:solidFill>
                      <a:srgbClr val="FFFFFF"/>
                    </a:solidFill>
                  </a:tcPr>
                </a:tc>
                <a:tc>
                  <a:txBody>
                    <a:bodyPr/>
                    <a:lstStyle/>
                    <a:p>
                      <a:pPr algn="ctr"/>
                      <a:r>
                        <a:rPr sz="1150" b="0">
                          <a:solidFill>
                            <a:srgbClr val="333333"/>
                          </a:solidFill>
                          <a:latin typeface="Calibri"/>
                        </a:rPr>
                        <a:t>+%66,6</a:t>
                      </a:r>
                    </a:p>
                  </a:txBody>
                  <a:tcPr>
                    <a:solidFill>
                      <a:srgbClr val="FFFFFF"/>
                    </a:solidFill>
                  </a:tcPr>
                </a:tc>
                <a:tc>
                  <a:txBody>
                    <a:bodyPr/>
                    <a:lstStyle/>
                    <a:p>
                      <a:pPr algn="ctr"/>
                      <a:r>
                        <a:rPr sz="1150" b="0">
                          <a:solidFill>
                            <a:srgbClr val="333333"/>
                          </a:solidFill>
                          <a:latin typeface="Calibri"/>
                        </a:rPr>
                        <a:t>+1 kişi</a:t>
                      </a:r>
                    </a:p>
                  </a:txBody>
                  <a:tcPr>
                    <a:solidFill>
                      <a:srgbClr val="FFFFFF"/>
                    </a:solidFill>
                  </a:tcPr>
                </a:tc>
              </a:tr>
              <a:tr h="308610">
                <a:tc>
                  <a:txBody>
                    <a:bodyPr/>
                    <a:lstStyle/>
                    <a:p>
                      <a:pPr algn="l"/>
                      <a:r>
                        <a:rPr sz="1150" b="0">
                          <a:solidFill>
                            <a:srgbClr val="333333"/>
                          </a:solidFill>
                          <a:latin typeface="Calibri"/>
                        </a:rPr>
                        <a:t>Çocuk Kitabı</a:t>
                      </a:r>
                    </a:p>
                  </a:txBody>
                  <a:tcPr>
                    <a:solidFill>
                      <a:srgbClr val="F2F2F2"/>
                    </a:solidFill>
                  </a:tcPr>
                </a:tc>
                <a:tc>
                  <a:txBody>
                    <a:bodyPr/>
                    <a:lstStyle/>
                    <a:p>
                      <a:pPr algn="l"/>
                      <a:r>
                        <a:rPr sz="1150" b="0">
                          <a:solidFill>
                            <a:srgbClr val="333333"/>
                          </a:solidFill>
                          <a:latin typeface="Calibri"/>
                        </a:rPr>
                        <a:t>Çocuk</a:t>
                      </a:r>
                    </a:p>
                  </a:txBody>
                  <a:tcPr>
                    <a:solidFill>
                      <a:srgbClr val="F2F2F2"/>
                    </a:solidFill>
                  </a:tcPr>
                </a:tc>
                <a:tc>
                  <a:txBody>
                    <a:bodyPr/>
                    <a:lstStyle/>
                    <a:p>
                      <a:pPr algn="ctr"/>
                      <a:r>
                        <a:rPr sz="1150" b="0">
                          <a:solidFill>
                            <a:srgbClr val="333333"/>
                          </a:solidFill>
                          <a:latin typeface="Calibri"/>
                        </a:rPr>
                        <a:t>73.247 → 85.696</a:t>
                      </a:r>
                    </a:p>
                  </a:txBody>
                  <a:tcPr>
                    <a:solidFill>
                      <a:srgbClr val="F2F2F2"/>
                    </a:solidFill>
                  </a:tcPr>
                </a:tc>
                <a:tc>
                  <a:txBody>
                    <a:bodyPr/>
                    <a:lstStyle/>
                    <a:p>
                      <a:pPr algn="ctr"/>
                      <a:r>
                        <a:rPr sz="1150" b="1">
                          <a:solidFill>
                            <a:srgbClr val="A6001A"/>
                          </a:solidFill>
                          <a:latin typeface="Calibri"/>
                        </a:rPr>
                        <a:t>+%17,0</a:t>
                      </a:r>
                    </a:p>
                  </a:txBody>
                  <a:tcPr>
                    <a:solidFill>
                      <a:srgbClr val="F2F2F2"/>
                    </a:solidFill>
                  </a:tcPr>
                </a:tc>
                <a:tc>
                  <a:txBody>
                    <a:bodyPr/>
                    <a:lstStyle/>
                    <a:p>
                      <a:pPr algn="ctr"/>
                      <a:r>
                        <a:rPr sz="1150" b="1">
                          <a:solidFill>
                            <a:srgbClr val="A6001A"/>
                          </a:solidFill>
                          <a:latin typeface="Calibri"/>
                        </a:rPr>
                        <a:t>+%54,7</a:t>
                      </a:r>
                    </a:p>
                  </a:txBody>
                  <a:tcPr>
                    <a:solidFill>
                      <a:srgbClr val="F2F2F2"/>
                    </a:solidFill>
                  </a:tcPr>
                </a:tc>
                <a:tc>
                  <a:txBody>
                    <a:bodyPr/>
                    <a:lstStyle/>
                    <a:p>
                      <a:pPr algn="ctr"/>
                      <a:r>
                        <a:rPr sz="1150" b="1">
                          <a:solidFill>
                            <a:srgbClr val="333333"/>
                          </a:solidFill>
                          <a:latin typeface="Calibri"/>
                        </a:rPr>
                        <a:t>+%22,9</a:t>
                      </a:r>
                    </a:p>
                  </a:txBody>
                  <a:tcPr>
                    <a:solidFill>
                      <a:srgbClr val="F2F2F2"/>
                    </a:solidFill>
                  </a:tcPr>
                </a:tc>
                <a:tc>
                  <a:txBody>
                    <a:bodyPr/>
                    <a:lstStyle/>
                    <a:p>
                      <a:pPr algn="ctr"/>
                      <a:r>
                        <a:rPr sz="1150" b="0">
                          <a:solidFill>
                            <a:srgbClr val="333333"/>
                          </a:solidFill>
                          <a:latin typeface="Calibri"/>
                        </a:rPr>
                        <a:t>+%57,7</a:t>
                      </a:r>
                    </a:p>
                  </a:txBody>
                  <a:tcPr>
                    <a:solidFill>
                      <a:srgbClr val="F2F2F2"/>
                    </a:solidFill>
                  </a:tcPr>
                </a:tc>
                <a:tc>
                  <a:txBody>
                    <a:bodyPr/>
                    <a:lstStyle/>
                    <a:p>
                      <a:pPr algn="ctr"/>
                      <a:r>
                        <a:rPr sz="1150" b="0">
                          <a:solidFill>
                            <a:srgbClr val="333333"/>
                          </a:solidFill>
                          <a:latin typeface="Calibri"/>
                        </a:rPr>
                        <a:t>-1 kişi</a:t>
                      </a:r>
                    </a:p>
                  </a:txBody>
                  <a:tcPr>
                    <a:solidFill>
                      <a:srgbClr val="F2F2F2"/>
                    </a:solidFill>
                  </a:tcPr>
                </a:tc>
              </a:tr>
              <a:tr h="308610">
                <a:tc>
                  <a:txBody>
                    <a:bodyPr/>
                    <a:lstStyle/>
                    <a:p>
                      <a:pPr algn="l"/>
                      <a:r>
                        <a:rPr sz="1150" b="0">
                          <a:solidFill>
                            <a:srgbClr val="333333"/>
                          </a:solidFill>
                          <a:latin typeface="Calibri"/>
                        </a:rPr>
                        <a:t>DİĞER (6 kategori)</a:t>
                      </a:r>
                    </a:p>
                  </a:txBody>
                  <a:tcPr>
                    <a:solidFill>
                      <a:srgbClr val="FFFFFF"/>
                    </a:solidFill>
                  </a:tcPr>
                </a:tc>
                <a:tc>
                  <a:txBody>
                    <a:bodyPr/>
                    <a:lstStyle/>
                    <a:p>
                      <a:pPr algn="l"/>
                      <a:r>
                        <a:rPr sz="1150" b="0">
                          <a:solidFill>
                            <a:srgbClr val="333333"/>
                          </a:solidFill>
                          <a:latin typeface="Calibri"/>
                        </a:rPr>
                        <a:t>bölüm eşleşmesi yok</a:t>
                      </a:r>
                    </a:p>
                  </a:txBody>
                  <a:tcPr>
                    <a:solidFill>
                      <a:srgbClr val="FFFFFF"/>
                    </a:solidFill>
                  </a:tcPr>
                </a:tc>
                <a:tc>
                  <a:txBody>
                    <a:bodyPr/>
                    <a:lstStyle/>
                    <a:p>
                      <a:pPr algn="ctr"/>
                      <a:r>
                        <a:rPr sz="1150" b="0">
                          <a:solidFill>
                            <a:srgbClr val="333333"/>
                          </a:solidFill>
                          <a:latin typeface="Calibri"/>
                        </a:rPr>
                        <a:t>129.221 → 170.477</a:t>
                      </a:r>
                    </a:p>
                  </a:txBody>
                  <a:tcPr>
                    <a:solidFill>
                      <a:srgbClr val="FFFFFF"/>
                    </a:solidFill>
                  </a:tcPr>
                </a:tc>
                <a:tc>
                  <a:txBody>
                    <a:bodyPr/>
                    <a:lstStyle/>
                    <a:p>
                      <a:pPr algn="ctr"/>
                      <a:r>
                        <a:rPr sz="1150" b="1">
                          <a:solidFill>
                            <a:srgbClr val="A6001A"/>
                          </a:solidFill>
                          <a:latin typeface="Calibri"/>
                        </a:rPr>
                        <a:t>+%31,9</a:t>
                      </a:r>
                    </a:p>
                  </a:txBody>
                  <a:tcPr>
                    <a:solidFill>
                      <a:srgbClr val="FFFFFF"/>
                    </a:solidFill>
                  </a:tcPr>
                </a:tc>
                <a:tc>
                  <a:txBody>
                    <a:bodyPr/>
                    <a:lstStyle/>
                    <a:p>
                      <a:pPr algn="ctr"/>
                      <a:r>
                        <a:rPr sz="1150" b="1">
                          <a:solidFill>
                            <a:srgbClr val="A6001A"/>
                          </a:solidFill>
                          <a:latin typeface="Calibri"/>
                        </a:rPr>
                        <a:t>+%41,8</a:t>
                      </a:r>
                    </a:p>
                  </a:txBody>
                  <a:tcPr>
                    <a:solidFill>
                      <a:srgbClr val="FFFFFF"/>
                    </a:solidFill>
                  </a:tcPr>
                </a:tc>
                <a:tc>
                  <a:txBody>
                    <a:bodyPr/>
                    <a:lstStyle/>
                    <a:p>
                      <a:pPr algn="ctr"/>
                      <a:r>
                        <a:rPr sz="1150" b="1">
                          <a:solidFill>
                            <a:srgbClr val="333333"/>
                          </a:solidFill>
                          <a:latin typeface="Calibri"/>
                        </a:rPr>
                        <a:t>+%50,5</a:t>
                      </a:r>
                    </a:p>
                  </a:txBody>
                  <a:tcPr>
                    <a:solidFill>
                      <a:srgbClr val="FFFFFF"/>
                    </a:solidFill>
                  </a:tcPr>
                </a:tc>
                <a:tc>
                  <a:txBody>
                    <a:bodyPr/>
                    <a:lstStyle/>
                    <a:p>
                      <a:pPr algn="ctr"/>
                      <a:r>
                        <a:rPr sz="1150" b="0">
                          <a:solidFill>
                            <a:srgbClr val="333333"/>
                          </a:solidFill>
                          <a:latin typeface="Calibri"/>
                        </a:rPr>
                        <a:t>+%79,8</a:t>
                      </a:r>
                    </a:p>
                  </a:txBody>
                  <a:tcPr>
                    <a:solidFill>
                      <a:srgbClr val="FFFFFF"/>
                    </a:solidFill>
                  </a:tcPr>
                </a:tc>
                <a:tc>
                  <a:txBody>
                    <a:bodyPr/>
                    <a:lstStyle/>
                    <a:p>
                      <a:pPr algn="ctr"/>
                      <a:r>
                        <a:rPr sz="1150" b="0">
                          <a:solidFill>
                            <a:srgbClr val="333333"/>
                          </a:solidFill>
                          <a:latin typeface="Calibri"/>
                        </a:rPr>
                        <a:t>—</a:t>
                      </a:r>
                    </a:p>
                  </a:txBody>
                  <a:tcPr>
                    <a:solidFill>
                      <a:srgbClr val="FFFFFF"/>
                    </a:solidFill>
                  </a:tcPr>
                </a:tc>
              </a:tr>
            </a:tbl>
          </a:graphicData>
        </a:graphic>
      </p:graphicFrame>
      <p:graphicFrame>
        <p:nvGraphicFramePr>
          <p:cNvPr id="4" name="Chart 3"/>
          <p:cNvGraphicFramePr>
            <a:graphicFrameLocks noGrp="1"/>
          </p:cNvGraphicFramePr>
          <p:nvPr/>
        </p:nvGraphicFramePr>
        <p:xfrm>
          <a:off x="548640" y="4224528"/>
          <a:ext cx="6766560" cy="1298448"/>
        </p:xfrm>
        <a:graphic>
          <a:graphicData uri="http://schemas.openxmlformats.org/drawingml/2006/chart">
            <c:chart xmlns:c="http://schemas.openxmlformats.org/drawingml/2006/chart" r:id="rId3"/>
          </a:graphicData>
        </a:graphic>
      </p:graphicFrame>
      <p:sp>
        <p:nvSpPr>
          <p:cNvPr id="5" name="TextBox 4"/>
          <p:cNvSpPr txBox="1"/>
          <p:nvPr/>
        </p:nvSpPr>
        <p:spPr>
          <a:xfrm>
            <a:off x="548640" y="3968496"/>
            <a:ext cx="6766560" cy="237744"/>
          </a:xfrm>
          <a:prstGeom prst="rect">
            <a:avLst/>
          </a:prstGeom>
          <a:noFill/>
        </p:spPr>
        <p:txBody>
          <a:bodyPr wrap="square" anchor="t">
            <a:spAutoFit/>
          </a:bodyPr>
          <a:lstStyle/>
          <a:p>
            <a:pPr algn="l">
              <a:lnSpc>
                <a:spcPct val="100000"/>
              </a:lnSpc>
            </a:pPr>
            <a:r>
              <a:rPr sz="1000" b="1">
                <a:solidFill>
                  <a:srgbClr val="6E6E6E"/>
                </a:solidFill>
                <a:latin typeface="Calibri"/>
              </a:rPr>
              <a:t>Ürün adedi büyümesi (%) — kategori bazında</a:t>
            </a:r>
          </a:p>
        </p:txBody>
      </p:sp>
      <p:sp>
        <p:nvSpPr>
          <p:cNvPr id="6" name="Rounded Rectangle 5"/>
          <p:cNvSpPr/>
          <p:nvPr/>
        </p:nvSpPr>
        <p:spPr>
          <a:xfrm>
            <a:off x="7498079" y="4041648"/>
            <a:ext cx="4069080" cy="148132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79" y="4114800"/>
            <a:ext cx="3657600" cy="1353312"/>
          </a:xfrm>
          <a:prstGeom prst="rect">
            <a:avLst/>
          </a:prstGeom>
          <a:noFill/>
        </p:spPr>
        <p:txBody>
          <a:bodyPr wrap="square" anchor="t">
            <a:spAutoFit/>
          </a:bodyPr>
          <a:lstStyle/>
          <a:p>
            <a:pPr algn="l">
              <a:lnSpc>
                <a:spcPct val="112000"/>
              </a:lnSpc>
            </a:pPr>
            <a:r>
              <a:rPr sz="1350" b="1">
                <a:solidFill>
                  <a:srgbClr val="A6001A"/>
                </a:solidFill>
                <a:latin typeface="Calibri"/>
              </a:rPr>
              <a:t>Değerlendirme</a:t>
            </a:r>
          </a:p>
          <a:p>
            <a:pPr algn="l">
              <a:lnSpc>
                <a:spcPct val="112000"/>
              </a:lnSpc>
            </a:pPr>
            <a:r>
              <a:rPr sz="1000" b="0">
                <a:solidFill>
                  <a:srgbClr val="333333"/>
                </a:solidFill>
                <a:latin typeface="Calibri"/>
              </a:rPr>
              <a:t>Kadro artışı, ürün adedi en hızlı artan kategorilere yönlendirilmiştir. SEZON kolonları okul-hizalı pencereyi, OCA-AĞU kolonları yılın tamamını (01.01–31.08) gösterir; sıralama iki pencerede de aynıdır. DİĞER satırı, tek bir reyona atfedilemeyen kategorilerin toplamıdır (kadro eşleşmesi yapılamaz); kapsam bütünlüğü için gösterilir.</a:t>
            </a:r>
          </a:p>
        </p:txBody>
      </p:sp>
      <p:sp>
        <p:nvSpPr>
          <p:cNvPr id="8" name="TextBox 7"/>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(Heykel ve Şura POS raporlamasında yok) · Dönem: 01.07 – 25.08.2025 (2025) · 07.07 – 31.08.2026 (2026), her iki yıl 56 gün, okul açılışına hizalı · OCA-AĞU kolonları: 01.01 – 31.08 kümülatif (her iki yıl) · Bölüm eşleşmesi olan 6 kategori ayrı satırda = hizalı pencere adedinin %78'i; kalan 6 kategori DİĞER satırında toplandı (eşik: iki yılda da ≥2.000 adet)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Takvim Kayması: Ağustos ve Eylül</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GERÇEK</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3000" b="1">
                <a:solidFill>
                  <a:srgbClr val="9A9A9A"/>
                </a:solidFill>
                <a:latin typeface="Calibri"/>
              </a:rPr>
              <a:t>+%5,5</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458.259 → 483.500 adet</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ocket.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AĞUSTOS · KAYMASIZ</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614.956</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tahmini · 101,7 M TL</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orkflow.png"/>
          <p:cNvPicPr>
            <a:picLocks noChangeAspect="1"/>
          </p:cNvPicPr>
          <p:nvPr/>
        </p:nvPicPr>
        <p:blipFill>
          <a:blip r:embed="rId3"/>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EYLÜL'E KAYAN</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2600" b="1">
                <a:solidFill>
                  <a:srgbClr val="A6001A"/>
                </a:solidFill>
                <a:latin typeface="Calibri"/>
              </a:rPr>
              <a:t>131.456</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adet · 23,6 M TL</a:t>
            </a:r>
          </a:p>
        </p:txBody>
      </p:sp>
      <p:graphicFrame>
        <p:nvGraphicFramePr>
          <p:cNvPr id="21" name="Chart 20"/>
          <p:cNvGraphicFramePr>
            <a:graphicFrameLocks noGrp="1"/>
          </p:cNvGraphicFramePr>
          <p:nvPr/>
        </p:nvGraphicFramePr>
        <p:xfrm>
          <a:off x="548640" y="3200400"/>
          <a:ext cx="5577840" cy="2148840"/>
        </p:xfrm>
        <a:graphic>
          <a:graphicData uri="http://schemas.openxmlformats.org/drawingml/2006/chart">
            <c:chart xmlns:c="http://schemas.openxmlformats.org/drawingml/2006/chart" r:id="rId5"/>
          </a:graphicData>
        </a:graphic>
      </p:graphicFrame>
      <p:sp>
        <p:nvSpPr>
          <p:cNvPr id="22" name="Rounded Rectangle 21"/>
          <p:cNvSpPr/>
          <p:nvPr/>
        </p:nvSpPr>
        <p:spPr>
          <a:xfrm>
            <a:off x="6400800" y="3291840"/>
            <a:ext cx="516636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29400" y="3401568"/>
            <a:ext cx="4754880" cy="1783080"/>
          </a:xfrm>
          <a:prstGeom prst="rect">
            <a:avLst/>
          </a:prstGeom>
          <a:noFill/>
        </p:spPr>
        <p:txBody>
          <a:bodyPr wrap="square" anchor="t">
            <a:spAutoFit/>
          </a:bodyPr>
          <a:lstStyle/>
          <a:p>
            <a:pPr algn="l">
              <a:lnSpc>
                <a:spcPct val="115000"/>
              </a:lnSpc>
            </a:pPr>
            <a:r>
              <a:rPr sz="1350" b="1">
                <a:solidFill>
                  <a:srgbClr val="A6001A"/>
                </a:solidFill>
                <a:latin typeface="Calibri"/>
              </a:rPr>
              <a:t>Eylül'de beklenen dalga</a:t>
            </a:r>
          </a:p>
          <a:p>
            <a:pPr algn="l">
              <a:lnSpc>
                <a:spcPct val="115000"/>
              </a:lnSpc>
            </a:pPr>
            <a:r>
              <a:rPr sz="1100" b="0">
                <a:solidFill>
                  <a:srgbClr val="333333"/>
                </a:solidFill>
                <a:latin typeface="Calibri"/>
              </a:rPr>
              <a:t>2025'te okul öncesi alış dalgası 28.08 - 07.09.2025 aralığındaydı: 412.212 adet · 54,1 M TL. Aynı dalga 2026'da 03.09 - 13.09.2026 aralığına denk geliyor; hizalı büyüme oranıyla 553.164 adet · 89,8 M TL beklenmektedir.</a:t>
            </a:r>
          </a:p>
        </p:txBody>
      </p:sp>
      <p:sp>
        <p:nvSpPr>
          <p:cNvPr id="24" name="TextBox 23"/>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Hizalı pencere 01.08 – 27.08.2025 ile 07.08 – 02.09.2026 (27 gün; bugün hariç, son tam gün 02.09.2026) · Tahmin yöntemi: hizalı büyüme +%34,2, talep kaybı olmadığı varsayımıyla.</a:t>
            </a:r>
          </a:p>
        </p:txBody>
      </p:sp>
      <p:sp>
        <p:nvSpPr>
          <p:cNvPr id="25" name="TextBox 24"/>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Kadro — Mağaza Detayı</a:t>
            </a:r>
          </a:p>
        </p:txBody>
      </p:sp>
      <p:sp>
        <p:nvSpPr>
          <p:cNvPr id="3" name="TextBox 2"/>
          <p:cNvSpPr txBox="1"/>
          <p:nvPr/>
        </p:nvSpPr>
        <p:spPr>
          <a:xfrm>
            <a:off x="548640" y="1371600"/>
            <a:ext cx="11018520" cy="310896"/>
          </a:xfrm>
          <a:prstGeom prst="rect">
            <a:avLst/>
          </a:prstGeom>
          <a:noFill/>
        </p:spPr>
        <p:txBody>
          <a:bodyPr wrap="square" anchor="t">
            <a:spAutoFit/>
          </a:bodyPr>
          <a:lstStyle/>
          <a:p>
            <a:pPr algn="l">
              <a:lnSpc>
                <a:spcPct val="100000"/>
              </a:lnSpc>
            </a:pPr>
            <a:r>
              <a:rPr sz="1150" b="1">
                <a:solidFill>
                  <a:srgbClr val="A6001A"/>
                </a:solidFill>
                <a:latin typeface="Calibri"/>
              </a:rPr>
              <a:t>Norm 217 (kadrolu 145 + sezonluk 72) · operasyonel gerçek 189 (kadrolu 131 + sezonluk 58) · fark -28 kişi — engelli ve etkinlik norm dışı tutuldu.</a:t>
            </a:r>
          </a:p>
        </p:txBody>
      </p:sp>
      <p:graphicFrame>
        <p:nvGraphicFramePr>
          <p:cNvPr id="4" name="Table 3"/>
          <p:cNvGraphicFramePr>
            <a:graphicFrameLocks noGrp="1"/>
          </p:cNvGraphicFramePr>
          <p:nvPr/>
        </p:nvGraphicFramePr>
        <p:xfrm>
          <a:off x="548640" y="1810512"/>
          <a:ext cx="10515599" cy="1810512"/>
        </p:xfrm>
        <a:graphic>
          <a:graphicData uri="http://schemas.openxmlformats.org/drawingml/2006/table">
            <a:tbl>
              <a:tblPr firstRow="1" bandRow="1">
                <a:tableStyleId>{5C22544A-7EE6-4342-B048-85BDC9FD1C3A}</a:tableStyleId>
              </a:tblPr>
              <a:tblGrid>
                <a:gridCol w="2148840"/>
                <a:gridCol w="932688"/>
                <a:gridCol w="987552"/>
                <a:gridCol w="749808"/>
                <a:gridCol w="960120"/>
                <a:gridCol w="1042415"/>
                <a:gridCol w="749808"/>
                <a:gridCol w="1051560"/>
                <a:gridCol w="1143000"/>
                <a:gridCol w="749808"/>
              </a:tblGrid>
              <a:tr h="347472">
                <a:tc>
                  <a:txBody>
                    <a:bodyPr/>
                    <a:lstStyle/>
                    <a:p>
                      <a:pPr algn="l"/>
                      <a:r>
                        <a:rPr sz="750" b="1">
                          <a:solidFill>
                            <a:srgbClr val="FFFFFF"/>
                          </a:solidFill>
                          <a:latin typeface="Calibri"/>
                        </a:rPr>
                        <a:t>Mağaza / Grup</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sezonluk</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c>
                  <a:txBody>
                    <a:bodyPr/>
                    <a:lstStyle/>
                    <a:p>
                      <a:pPr algn="ctr"/>
                      <a:r>
                        <a:rPr sz="750" b="1">
                          <a:solidFill>
                            <a:srgbClr val="FFFFFF"/>
                          </a:solidFill>
                          <a:latin typeface="Calibri"/>
                        </a:rPr>
                        <a:t>NORM</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GERÇEK</a:t>
                      </a:r>
                    </a:p>
                    <a:p>
                      <a:pPr algn="ctr"/>
                      <a:r>
                        <a:rPr sz="750" b="1">
                          <a:solidFill>
                            <a:srgbClr val="FFFFFF"/>
                          </a:solidFill>
                          <a:latin typeface="Calibri"/>
                        </a:rPr>
                        <a:t>TOPLAM</a:t>
                      </a:r>
                    </a:p>
                  </a:txBody>
                  <a:tcPr>
                    <a:solidFill>
                      <a:srgbClr val="E30622"/>
                    </a:solidFill>
                  </a:tcPr>
                </a:tc>
                <a:tc>
                  <a:txBody>
                    <a:bodyPr/>
                    <a:lstStyle/>
                    <a:p>
                      <a:pPr algn="ctr"/>
                      <a:r>
                        <a:rPr sz="750" b="1">
                          <a:solidFill>
                            <a:srgbClr val="FFFFFF"/>
                          </a:solidFill>
                          <a:latin typeface="Calibri"/>
                        </a:rPr>
                        <a:t>FARK</a:t>
                      </a:r>
                    </a:p>
                  </a:txBody>
                  <a:tcPr>
                    <a:solidFill>
                      <a:srgbClr val="E30622"/>
                    </a:solidFill>
                  </a:tcPr>
                </a:tc>
              </a:tr>
              <a:tr h="182880">
                <a:tc>
                  <a:txBody>
                    <a:bodyPr/>
                    <a:lstStyle/>
                    <a:p>
                      <a:pPr algn="l"/>
                      <a:r>
                        <a:rPr sz="900" b="0">
                          <a:solidFill>
                            <a:srgbClr val="333333"/>
                          </a:solidFill>
                          <a:latin typeface="Calibri"/>
                        </a:rPr>
                        <a:t>Özlüce</a:t>
                      </a:r>
                    </a:p>
                  </a:txBody>
                  <a:tcPr>
                    <a:solidFill>
                      <a:srgbClr val="FFFFFF"/>
                    </a:solidFill>
                  </a:tcPr>
                </a:tc>
                <a:tc>
                  <a:txBody>
                    <a:bodyPr/>
                    <a:lstStyle/>
                    <a:p>
                      <a:pPr algn="ctr"/>
                      <a:r>
                        <a:rPr sz="900" b="0">
                          <a:solidFill>
                            <a:srgbClr val="333333"/>
                          </a:solidFill>
                          <a:latin typeface="Calibri"/>
                        </a:rPr>
                        <a:t>45</a:t>
                      </a:r>
                    </a:p>
                  </a:txBody>
                  <a:tcPr>
                    <a:solidFill>
                      <a:srgbClr val="FFFFFF"/>
                    </a:solidFill>
                  </a:tcPr>
                </a:tc>
                <a:tc>
                  <a:txBody>
                    <a:bodyPr/>
                    <a:lstStyle/>
                    <a:p>
                      <a:pPr algn="ctr"/>
                      <a:r>
                        <a:rPr sz="900" b="0">
                          <a:solidFill>
                            <a:srgbClr val="333333"/>
                          </a:solidFill>
                          <a:latin typeface="Calibri"/>
                        </a:rPr>
                        <a:t>40</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17</a:t>
                      </a:r>
                    </a:p>
                  </a:txBody>
                  <a:tcPr>
                    <a:solidFill>
                      <a:srgbClr val="FFFFFF"/>
                    </a:solidFill>
                  </a:tcPr>
                </a:tc>
                <a:tc>
                  <a:txBody>
                    <a:bodyPr/>
                    <a:lstStyle/>
                    <a:p>
                      <a:pPr algn="ctr"/>
                      <a:r>
                        <a:rPr sz="900" b="0">
                          <a:solidFill>
                            <a:srgbClr val="333333"/>
                          </a:solidFill>
                          <a:latin typeface="Calibri"/>
                        </a:rPr>
                        <a:t>13</a:t>
                      </a:r>
                    </a:p>
                  </a:txBody>
                  <a:tcPr>
                    <a:solidFill>
                      <a:srgbClr val="FFFFFF"/>
                    </a:solidFill>
                  </a:tcPr>
                </a:tc>
                <a:tc>
                  <a:txBody>
                    <a:bodyPr/>
                    <a:lstStyle/>
                    <a:p>
                      <a:pPr algn="ctr"/>
                      <a:r>
                        <a:rPr sz="900" b="1">
                          <a:solidFill>
                            <a:srgbClr val="A6001A"/>
                          </a:solidFill>
                          <a:latin typeface="Calibri"/>
                        </a:rPr>
                        <a:t>-4</a:t>
                      </a:r>
                    </a:p>
                  </a:txBody>
                  <a:tcPr>
                    <a:solidFill>
                      <a:srgbClr val="FFFFFF"/>
                    </a:solidFill>
                  </a:tcPr>
                </a:tc>
                <a:tc>
                  <a:txBody>
                    <a:bodyPr/>
                    <a:lstStyle/>
                    <a:p>
                      <a:pPr algn="ctr"/>
                      <a:r>
                        <a:rPr sz="900" b="0">
                          <a:solidFill>
                            <a:srgbClr val="333333"/>
                          </a:solidFill>
                          <a:latin typeface="Calibri"/>
                        </a:rPr>
                        <a:t>62</a:t>
                      </a:r>
                    </a:p>
                  </a:txBody>
                  <a:tcPr>
                    <a:solidFill>
                      <a:srgbClr val="FDF2F3"/>
                    </a:solidFill>
                  </a:tcPr>
                </a:tc>
                <a:tc>
                  <a:txBody>
                    <a:bodyPr/>
                    <a:lstStyle/>
                    <a:p>
                      <a:pPr algn="ctr"/>
                      <a:r>
                        <a:rPr sz="900" b="0">
                          <a:solidFill>
                            <a:srgbClr val="333333"/>
                          </a:solidFill>
                          <a:latin typeface="Calibri"/>
                        </a:rPr>
                        <a:t>53</a:t>
                      </a:r>
                    </a:p>
                  </a:txBody>
                  <a:tcPr>
                    <a:solidFill>
                      <a:srgbClr val="FDF2F3"/>
                    </a:solidFill>
                  </a:tcPr>
                </a:tc>
                <a:tc>
                  <a:txBody>
                    <a:bodyPr/>
                    <a:lstStyle/>
                    <a:p>
                      <a:pPr algn="ctr"/>
                      <a:r>
                        <a:rPr sz="900" b="1">
                          <a:solidFill>
                            <a:srgbClr val="A6001A"/>
                          </a:solidFill>
                          <a:latin typeface="Calibri"/>
                        </a:rPr>
                        <a:t>-9</a:t>
                      </a:r>
                    </a:p>
                  </a:txBody>
                  <a:tcPr>
                    <a:solidFill>
                      <a:srgbClr val="FDF2F3"/>
                    </a:solidFill>
                  </a:tcPr>
                </a:tc>
              </a:tr>
              <a:tr h="182880">
                <a:tc>
                  <a:txBody>
                    <a:bodyPr/>
                    <a:lstStyle/>
                    <a:p>
                      <a:pPr algn="l"/>
                      <a:r>
                        <a:rPr sz="900" b="0">
                          <a:solidFill>
                            <a:srgbClr val="333333"/>
                          </a:solidFill>
                          <a:latin typeface="Calibri"/>
                        </a:rPr>
                        <a:t>FSM</a:t>
                      </a:r>
                    </a:p>
                  </a:txBody>
                  <a:tcPr>
                    <a:solidFill>
                      <a:srgbClr val="FAFAFA"/>
                    </a:solidFill>
                  </a:tcPr>
                </a:tc>
                <a:tc>
                  <a:txBody>
                    <a:bodyPr/>
                    <a:lstStyle/>
                    <a:p>
                      <a:pPr algn="ctr"/>
                      <a:r>
                        <a:rPr sz="900" b="0">
                          <a:solidFill>
                            <a:srgbClr val="333333"/>
                          </a:solidFill>
                          <a:latin typeface="Calibri"/>
                        </a:rPr>
                        <a:t>37</a:t>
                      </a:r>
                    </a:p>
                  </a:txBody>
                  <a:tcPr>
                    <a:solidFill>
                      <a:srgbClr val="FAFAFA"/>
                    </a:solidFill>
                  </a:tcPr>
                </a:tc>
                <a:tc>
                  <a:txBody>
                    <a:bodyPr/>
                    <a:lstStyle/>
                    <a:p>
                      <a:pPr algn="ctr"/>
                      <a:r>
                        <a:rPr sz="900" b="0">
                          <a:solidFill>
                            <a:srgbClr val="333333"/>
                          </a:solidFill>
                          <a:latin typeface="Calibri"/>
                        </a:rPr>
                        <a:t>32</a:t>
                      </a:r>
                    </a:p>
                  </a:txBody>
                  <a:tcPr>
                    <a:solidFill>
                      <a:srgbClr val="FAFAFA"/>
                    </a:solidFill>
                  </a:tcPr>
                </a:tc>
                <a:tc>
                  <a:txBody>
                    <a:bodyPr/>
                    <a:lstStyle/>
                    <a:p>
                      <a:pPr algn="ctr"/>
                      <a:r>
                        <a:rPr sz="900" b="1">
                          <a:solidFill>
                            <a:srgbClr val="A6001A"/>
                          </a:solidFill>
                          <a:latin typeface="Calibri"/>
                        </a:rPr>
                        <a:t>-5</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11</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47</a:t>
                      </a:r>
                    </a:p>
                  </a:txBody>
                  <a:tcPr>
                    <a:solidFill>
                      <a:srgbClr val="FDF2F3"/>
                    </a:solidFill>
                  </a:tcPr>
                </a:tc>
                <a:tc>
                  <a:txBody>
                    <a:bodyPr/>
                    <a:lstStyle/>
                    <a:p>
                      <a:pPr algn="ctr"/>
                      <a:r>
                        <a:rPr sz="900" b="0">
                          <a:solidFill>
                            <a:srgbClr val="333333"/>
                          </a:solidFill>
                          <a:latin typeface="Calibri"/>
                        </a:rPr>
                        <a:t>43</a:t>
                      </a:r>
                    </a:p>
                  </a:txBody>
                  <a:tcPr>
                    <a:solidFill>
                      <a:srgbClr val="FDF2F3"/>
                    </a:solidFill>
                  </a:tcPr>
                </a:tc>
                <a:tc>
                  <a:txBody>
                    <a:bodyPr/>
                    <a:lstStyle/>
                    <a:p>
                      <a:pPr algn="ctr"/>
                      <a:r>
                        <a:rPr sz="900" b="1">
                          <a:solidFill>
                            <a:srgbClr val="A6001A"/>
                          </a:solidFill>
                          <a:latin typeface="Calibri"/>
                        </a:rPr>
                        <a:t>-4</a:t>
                      </a:r>
                    </a:p>
                  </a:txBody>
                  <a:tcPr>
                    <a:solidFill>
                      <a:srgbClr val="FDF2F3"/>
                    </a:solidFill>
                  </a:tcPr>
                </a:tc>
              </a:tr>
              <a:tr h="182880">
                <a:tc>
                  <a:txBody>
                    <a:bodyPr/>
                    <a:lstStyle/>
                    <a:p>
                      <a:pPr algn="l"/>
                      <a:r>
                        <a:rPr sz="900" b="0">
                          <a:solidFill>
                            <a:srgbClr val="333333"/>
                          </a:solidFill>
                          <a:latin typeface="Calibri"/>
                        </a:rPr>
                        <a:t>İst. Yolu</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0">
                          <a:solidFill>
                            <a:srgbClr val="333333"/>
                          </a:solidFill>
                          <a:latin typeface="Calibri"/>
                        </a:rPr>
                        <a:t>33</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0">
                          <a:solidFill>
                            <a:srgbClr val="333333"/>
                          </a:solidFill>
                          <a:latin typeface="Calibri"/>
                        </a:rPr>
                        <a:t>25</a:t>
                      </a:r>
                    </a:p>
                  </a:txBody>
                  <a:tcPr>
                    <a:solidFill>
                      <a:srgbClr val="FFFFFF"/>
                    </a:solidFill>
                  </a:tcPr>
                </a:tc>
                <a:tc>
                  <a:txBody>
                    <a:bodyPr/>
                    <a:lstStyle/>
                    <a:p>
                      <a:pPr algn="ctr"/>
                      <a:r>
                        <a:rPr sz="900" b="1">
                          <a:solidFill>
                            <a:srgbClr val="A6001A"/>
                          </a:solidFill>
                          <a:latin typeface="Calibri"/>
                        </a:rPr>
                        <a:t>+0</a:t>
                      </a:r>
                    </a:p>
                  </a:txBody>
                  <a:tcPr>
                    <a:solidFill>
                      <a:srgbClr val="FFFFFF"/>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0">
                          <a:solidFill>
                            <a:srgbClr val="333333"/>
                          </a:solidFill>
                          <a:latin typeface="Calibri"/>
                        </a:rPr>
                        <a:t>58</a:t>
                      </a:r>
                    </a:p>
                  </a:txBody>
                  <a:tcPr>
                    <a:solidFill>
                      <a:srgbClr val="FDF2F3"/>
                    </a:solidFill>
                  </a:tcPr>
                </a:tc>
                <a:tc>
                  <a:txBody>
                    <a:bodyPr/>
                    <a:lstStyle/>
                    <a:p>
                      <a:pPr algn="ctr"/>
                      <a:r>
                        <a:rPr sz="900" b="1">
                          <a:solidFill>
                            <a:srgbClr val="A6001A"/>
                          </a:solidFill>
                          <a:latin typeface="Calibri"/>
                        </a:rPr>
                        <a:t>+0</a:t>
                      </a:r>
                    </a:p>
                  </a:txBody>
                  <a:tcPr>
                    <a:solidFill>
                      <a:srgbClr val="FDF2F3"/>
                    </a:solidFill>
                  </a:tcPr>
                </a:tc>
              </a:tr>
              <a:tr h="182880">
                <a:tc>
                  <a:txBody>
                    <a:bodyPr/>
                    <a:lstStyle/>
                    <a:p>
                      <a:pPr algn="l"/>
                      <a:r>
                        <a:rPr sz="900" b="0">
                          <a:solidFill>
                            <a:srgbClr val="333333"/>
                          </a:solidFill>
                          <a:latin typeface="Calibri"/>
                        </a:rPr>
                        <a:t>Heykel</a:t>
                      </a:r>
                    </a:p>
                  </a:txBody>
                  <a:tcPr>
                    <a:solidFill>
                      <a:srgbClr val="FAFAFA"/>
                    </a:solidFill>
                  </a:tcPr>
                </a:tc>
                <a:tc>
                  <a:txBody>
                    <a:bodyPr/>
                    <a:lstStyle/>
                    <a:p>
                      <a:pPr algn="ctr"/>
                      <a:r>
                        <a:rPr sz="900" b="0">
                          <a:solidFill>
                            <a:srgbClr val="333333"/>
                          </a:solidFill>
                          <a:latin typeface="Calibri"/>
                        </a:rPr>
                        <a:t>30</a:t>
                      </a:r>
                    </a:p>
                  </a:txBody>
                  <a:tcPr>
                    <a:solidFill>
                      <a:srgbClr val="FAFAFA"/>
                    </a:solidFill>
                  </a:tcPr>
                </a:tc>
                <a:tc>
                  <a:txBody>
                    <a:bodyPr/>
                    <a:lstStyle/>
                    <a:p>
                      <a:pPr algn="ctr"/>
                      <a:r>
                        <a:rPr sz="900" b="0">
                          <a:solidFill>
                            <a:srgbClr val="333333"/>
                          </a:solidFill>
                          <a:latin typeface="Calibri"/>
                        </a:rPr>
                        <a:t>26</a:t>
                      </a:r>
                    </a:p>
                  </a:txBody>
                  <a:tcPr>
                    <a:solidFill>
                      <a:srgbClr val="FAFAFA"/>
                    </a:solidFill>
                  </a:tcPr>
                </a:tc>
                <a:tc>
                  <a:txBody>
                    <a:bodyPr/>
                    <a:lstStyle/>
                    <a:p>
                      <a:pPr algn="ctr"/>
                      <a:r>
                        <a:rPr sz="900" b="1">
                          <a:solidFill>
                            <a:srgbClr val="A6001A"/>
                          </a:solidFill>
                          <a:latin typeface="Calibri"/>
                        </a:rPr>
                        <a:t>-4</a:t>
                      </a:r>
                    </a:p>
                  </a:txBody>
                  <a:tcPr>
                    <a:solidFill>
                      <a:srgbClr val="FAFAFA"/>
                    </a:solidFill>
                  </a:tcPr>
                </a:tc>
                <a:tc>
                  <a:txBody>
                    <a:bodyPr/>
                    <a:lstStyle/>
                    <a:p>
                      <a:pPr algn="ctr"/>
                      <a:r>
                        <a:rPr sz="900" b="0">
                          <a:solidFill>
                            <a:srgbClr val="333333"/>
                          </a:solidFill>
                          <a:latin typeface="Calibri"/>
                        </a:rPr>
                        <a:t>20</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c>
                  <a:txBody>
                    <a:bodyPr/>
                    <a:lstStyle/>
                    <a:p>
                      <a:pPr algn="ctr"/>
                      <a:r>
                        <a:rPr sz="900" b="1">
                          <a:solidFill>
                            <a:srgbClr val="A6001A"/>
                          </a:solidFill>
                          <a:latin typeface="Calibri"/>
                        </a:rPr>
                        <a:t>-11</a:t>
                      </a:r>
                    </a:p>
                  </a:txBody>
                  <a:tcPr>
                    <a:solidFill>
                      <a:srgbClr val="FAFAFA"/>
                    </a:solidFill>
                  </a:tcPr>
                </a:tc>
                <a:tc>
                  <a:txBody>
                    <a:bodyPr/>
                    <a:lstStyle/>
                    <a:p>
                      <a:pPr algn="ctr"/>
                      <a:r>
                        <a:rPr sz="900" b="0">
                          <a:solidFill>
                            <a:srgbClr val="333333"/>
                          </a:solidFill>
                          <a:latin typeface="Calibri"/>
                        </a:rPr>
                        <a:t>50</a:t>
                      </a:r>
                    </a:p>
                  </a:txBody>
                  <a:tcPr>
                    <a:solidFill>
                      <a:srgbClr val="FDF2F3"/>
                    </a:solidFill>
                  </a:tcPr>
                </a:tc>
                <a:tc>
                  <a:txBody>
                    <a:bodyPr/>
                    <a:lstStyle/>
                    <a:p>
                      <a:pPr algn="ctr"/>
                      <a:r>
                        <a:rPr sz="900" b="0">
                          <a:solidFill>
                            <a:srgbClr val="333333"/>
                          </a:solidFill>
                          <a:latin typeface="Calibri"/>
                        </a:rPr>
                        <a:t>35</a:t>
                      </a:r>
                    </a:p>
                  </a:txBody>
                  <a:tcPr>
                    <a:solidFill>
                      <a:srgbClr val="FDF2F3"/>
                    </a:solidFill>
                  </a:tcPr>
                </a:tc>
                <a:tc>
                  <a:txBody>
                    <a:bodyPr/>
                    <a:lstStyle/>
                    <a:p>
                      <a:pPr algn="ctr"/>
                      <a:r>
                        <a:rPr sz="900" b="1">
                          <a:solidFill>
                            <a:srgbClr val="A6001A"/>
                          </a:solidFill>
                          <a:latin typeface="Calibri"/>
                        </a:rPr>
                        <a:t>-15</a:t>
                      </a:r>
                    </a:p>
                  </a:txBody>
                  <a:tcPr>
                    <a:solidFill>
                      <a:srgbClr val="FDF2F3"/>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0">
                          <a:solidFill>
                            <a:srgbClr val="333333"/>
                          </a:solidFill>
                          <a:latin typeface="Calibri"/>
                        </a:rPr>
                        <a:t>Engelli **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r h="182880">
                <a:tc>
                  <a:txBody>
                    <a:bodyPr/>
                    <a:lstStyle/>
                    <a:p>
                      <a:pPr algn="l"/>
                      <a:r>
                        <a:rPr sz="900" b="1">
                          <a:solidFill>
                            <a:srgbClr val="333333"/>
                          </a:solidFill>
                          <a:latin typeface="Calibri"/>
                        </a:rPr>
                        <a:t>OPERASYONEL TOPLAM</a:t>
                      </a:r>
                    </a:p>
                  </a:txBody>
                  <a:tcPr>
                    <a:solidFill>
                      <a:srgbClr val="F2F2F2"/>
                    </a:solidFill>
                  </a:tcPr>
                </a:tc>
                <a:tc>
                  <a:txBody>
                    <a:bodyPr/>
                    <a:lstStyle/>
                    <a:p>
                      <a:pPr algn="ctr"/>
                      <a:r>
                        <a:rPr sz="900" b="1">
                          <a:solidFill>
                            <a:srgbClr val="333333"/>
                          </a:solidFill>
                          <a:latin typeface="Calibri"/>
                        </a:rPr>
                        <a:t>145</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72</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c>
                  <a:txBody>
                    <a:bodyPr/>
                    <a:lstStyle/>
                    <a:p>
                      <a:pPr algn="ctr"/>
                      <a:r>
                        <a:rPr sz="900" b="1">
                          <a:solidFill>
                            <a:srgbClr val="A6001A"/>
                          </a:solidFill>
                          <a:latin typeface="Calibri"/>
                        </a:rPr>
                        <a:t>-14</a:t>
                      </a:r>
                    </a:p>
                  </a:txBody>
                  <a:tcPr>
                    <a:solidFill>
                      <a:srgbClr val="F2F2F2"/>
                    </a:solidFill>
                  </a:tcPr>
                </a:tc>
                <a:tc>
                  <a:txBody>
                    <a:bodyPr/>
                    <a:lstStyle/>
                    <a:p>
                      <a:pPr algn="ctr"/>
                      <a:r>
                        <a:rPr sz="900" b="1">
                          <a:solidFill>
                            <a:srgbClr val="333333"/>
                          </a:solidFill>
                          <a:latin typeface="Calibri"/>
                        </a:rPr>
                        <a:t>217</a:t>
                      </a:r>
                    </a:p>
                  </a:txBody>
                  <a:tcPr>
                    <a:solidFill>
                      <a:srgbClr val="F2F2F2"/>
                    </a:solidFill>
                  </a:tcPr>
                </a:tc>
                <a:tc>
                  <a:txBody>
                    <a:bodyPr/>
                    <a:lstStyle/>
                    <a:p>
                      <a:pPr algn="ctr"/>
                      <a:r>
                        <a:rPr sz="900" b="1">
                          <a:solidFill>
                            <a:srgbClr val="333333"/>
                          </a:solidFill>
                          <a:latin typeface="Calibri"/>
                        </a:rPr>
                        <a:t>189</a:t>
                      </a:r>
                    </a:p>
                  </a:txBody>
                  <a:tcPr>
                    <a:solidFill>
                      <a:srgbClr val="F2F2F2"/>
                    </a:solidFill>
                  </a:tcPr>
                </a:tc>
                <a:tc>
                  <a:txBody>
                    <a:bodyPr/>
                    <a:lstStyle/>
                    <a:p>
                      <a:pPr algn="ctr"/>
                      <a:r>
                        <a:rPr sz="900" b="1">
                          <a:solidFill>
                            <a:srgbClr val="A6001A"/>
                          </a:solidFill>
                          <a:latin typeface="Calibri"/>
                        </a:rPr>
                        <a:t>-28</a:t>
                      </a:r>
                    </a:p>
                  </a:txBody>
                  <a:tcPr>
                    <a:solidFill>
                      <a:srgbClr val="F2F2F2"/>
                    </a:solidFill>
                  </a:tcPr>
                </a:tc>
              </a:tr>
              <a:tr h="182880">
                <a:tc>
                  <a:txBody>
                    <a:bodyPr/>
                    <a:lstStyle/>
                    <a:p>
                      <a:pPr algn="l"/>
                      <a:r>
                        <a:rPr sz="900" b="0">
                          <a:solidFill>
                            <a:srgbClr val="333333"/>
                          </a:solidFill>
                          <a:latin typeface="Calibri"/>
                        </a:rPr>
                        <a:t>Kayıt toplamı (İK, tüm gruplar)</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137</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58</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195</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r>
            </a:tbl>
          </a:graphicData>
        </a:graphic>
      </p:graphicFrame>
      <p:sp>
        <p:nvSpPr>
          <p:cNvPr id="5" name="TextBox 4"/>
          <p:cNvSpPr txBox="1"/>
          <p:nvPr/>
        </p:nvSpPr>
        <p:spPr>
          <a:xfrm>
            <a:off x="548640" y="3913632"/>
            <a:ext cx="11018520" cy="310896"/>
          </a:xfrm>
          <a:prstGeom prst="rect">
            <a:avLst/>
          </a:prstGeom>
          <a:noFill/>
        </p:spPr>
        <p:txBody>
          <a:bodyPr wrap="square" anchor="t">
            <a:spAutoFit/>
          </a:bodyPr>
          <a:lstStyle/>
          <a:p>
            <a:pPr algn="l">
              <a:lnSpc>
                <a:spcPct val="100000"/>
              </a:lnSpc>
            </a:pPr>
            <a:r>
              <a:rPr sz="850" b="0">
                <a:solidFill>
                  <a:srgbClr val="6E6E6E"/>
                </a:solidFill>
                <a:latin typeface="Calibri"/>
              </a:rPr>
              <a:t>** YÖNETİM KARARI: engelli ve etkinlik kadrosu NORM DIŞIDIR — norm doluluğuna sayılmaz, mağaza satırlarından düşülmüştür. Heykel ve Şura'da engelli kadro yoktur (ayrı tüzel kişilik, 50 çalışan altı → 4857/30 yükümlülüğü doğmaz).</a:t>
            </a:r>
          </a:p>
        </p:txBody>
      </p:sp>
      <p:sp>
        <p:nvSpPr>
          <p:cNvPr id="6" name="Rounded Rectangle 5"/>
          <p:cNvSpPr/>
          <p:nvPr/>
        </p:nvSpPr>
        <p:spPr>
          <a:xfrm>
            <a:off x="548640" y="4370832"/>
            <a:ext cx="11018520" cy="475488"/>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4370832"/>
            <a:ext cx="10607040" cy="475488"/>
          </a:xfrm>
          <a:prstGeom prst="rect">
            <a:avLst/>
          </a:prstGeom>
          <a:noFill/>
        </p:spPr>
        <p:txBody>
          <a:bodyPr wrap="square" anchor="ctr">
            <a:spAutoFit/>
          </a:bodyPr>
          <a:lstStyle/>
          <a:p>
            <a:pPr algn="l">
              <a:lnSpc>
                <a:spcPct val="100000"/>
              </a:lnSpc>
            </a:pPr>
            <a:r>
              <a:rPr sz="1100" b="1">
                <a:solidFill>
                  <a:srgbClr val="A6001A"/>
                </a:solidFill>
                <a:latin typeface="Calibri"/>
              </a:rPr>
              <a:t>Norm doluluğu (engelli ve etkinlik hariç): norm 217 · operasyonel gerçek 189 → -28 KİŞİ EKSİK (kadrolu -14 · sezonluk -14).</a:t>
            </a:r>
          </a:p>
        </p:txBody>
      </p:sp>
      <p:sp>
        <p:nvSpPr>
          <p:cNvPr id="8" name="Rectangle 7"/>
          <p:cNvSpPr/>
          <p:nvPr/>
        </p:nvSpPr>
        <p:spPr>
          <a:xfrm>
            <a:off x="548640" y="4882896"/>
            <a:ext cx="11018520" cy="676656"/>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4882896"/>
            <a:ext cx="68580" cy="676656"/>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4901184"/>
            <a:ext cx="10607040" cy="219456"/>
          </a:xfrm>
          <a:prstGeom prst="rect">
            <a:avLst/>
          </a:prstGeom>
          <a:noFill/>
        </p:spPr>
        <p:txBody>
          <a:bodyPr wrap="square" anchor="t">
            <a:spAutoFit/>
          </a:bodyPr>
          <a:lstStyle/>
          <a:p>
            <a:pPr algn="l">
              <a:lnSpc>
                <a:spcPct val="100000"/>
              </a:lnSpc>
            </a:pPr>
            <a:r>
              <a:rPr sz="950" b="1">
                <a:solidFill>
                  <a:srgbClr val="6E6E6E"/>
                </a:solidFill>
                <a:latin typeface="Calibri"/>
              </a:rPr>
              <a:t>KAPSAM SÖZLÜĞÜ — bu destede üç ayrı kapsam kullanılır</a:t>
            </a:r>
          </a:p>
        </p:txBody>
      </p:sp>
      <p:sp>
        <p:nvSpPr>
          <p:cNvPr id="11" name="TextBox 10"/>
          <p:cNvSpPr txBox="1"/>
          <p:nvPr/>
        </p:nvSpPr>
        <p:spPr>
          <a:xfrm>
            <a:off x="777240" y="5102352"/>
            <a:ext cx="10835640" cy="457200"/>
          </a:xfrm>
          <a:prstGeom prst="rect">
            <a:avLst/>
          </a:prstGeom>
          <a:noFill/>
        </p:spPr>
        <p:txBody>
          <a:bodyPr wrap="square" anchor="t">
            <a:spAutoFit/>
          </a:bodyPr>
          <a:lstStyle/>
          <a:p>
            <a:pPr algn="l">
              <a:lnSpc>
                <a:spcPct val="108000"/>
              </a:lnSpc>
            </a:pPr>
            <a:r>
              <a:rPr sz="800" b="0">
                <a:solidFill>
                  <a:srgbClr val="333333"/>
                </a:solidFill>
                <a:latin typeface="Calibri"/>
              </a:rPr>
              <a:t>• 3 POS mağazası (FSM · Özlüce · İst. Yolu) — iş hacminin ölçülebildiği kapsam: kadro 143 → 160
• 4 norm mağazası (+ Heykel) — norm karşılaştırması: norm 217 · kayıt 195 · operasyonel 189
• 5 mağaza (+ Şura) — İK kadro raporu: kadrolu 149 + sezonluk 62 = 211</a:t>
            </a:r>
          </a:p>
        </p:txBody>
      </p:sp>
      <p:sp>
        <p:nvSpPr>
          <p:cNvPr id="12" name="TextBox 1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sayısı (yönetim kararı); etkinlik de norm dışı. Mağaza satırları operasyonel kadroyu gösterir (kadrolu − engelli − etkinlik). Engelli 3 · etkinlik 3 kişi ayrı satırda; en alttaki kayıt toplamı İK'nın resmi rakamıdır (kadrolu 137 · sezonluk 58) · Norm kaynağı: BKMKİTAP Mağaza Kadro ve Sezon Takip Tablosu, 11.08.2026 · Kapsam dışı: Şura · Gerçek sayılar 31.08 as-of.</a:t>
            </a:r>
          </a:p>
        </p:txBody>
      </p:sp>
      <p:sp>
        <p:nvSpPr>
          <p:cNvPr id="13" name="TextBox 1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Norm Açığı — Bölüm Bazında</a:t>
            </a:r>
          </a:p>
        </p:txBody>
      </p:sp>
      <p:graphicFrame>
        <p:nvGraphicFramePr>
          <p:cNvPr id="3" name="Table 2"/>
          <p:cNvGraphicFramePr>
            <a:graphicFrameLocks noGrp="1"/>
          </p:cNvGraphicFramePr>
          <p:nvPr/>
        </p:nvGraphicFramePr>
        <p:xfrm>
          <a:off x="548640" y="1371600"/>
          <a:ext cx="6858000" cy="3054096"/>
        </p:xfrm>
        <a:graphic>
          <a:graphicData uri="http://schemas.openxmlformats.org/drawingml/2006/table">
            <a:tbl>
              <a:tblPr firstRow="1" bandRow="1">
                <a:tableStyleId>{5C22544A-7EE6-4342-B048-85BDC9FD1C3A}</a:tableStyleId>
              </a:tblPr>
              <a:tblGrid>
                <a:gridCol w="1691640"/>
                <a:gridCol w="731520"/>
                <a:gridCol w="1143000"/>
                <a:gridCol w="960120"/>
                <a:gridCol w="685800"/>
                <a:gridCol w="685800"/>
                <a:gridCol w="960120"/>
              </a:tblGrid>
              <a:tr h="310896">
                <a:tc>
                  <a:txBody>
                    <a:bodyPr/>
                    <a:lstStyle/>
                    <a:p>
                      <a:pPr algn="l"/>
                      <a:r>
                        <a:rPr sz="750" b="1">
                          <a:solidFill>
                            <a:srgbClr val="FFFFFF"/>
                          </a:solidFill>
                          <a:latin typeface="Calibri"/>
                        </a:rPr>
                        <a:t>Bölüm</a:t>
                      </a:r>
                    </a:p>
                  </a:txBody>
                  <a:tcPr>
                    <a:solidFill>
                      <a:srgbClr val="E30622"/>
                    </a:solidFill>
                  </a:tcPr>
                </a:tc>
                <a:tc>
                  <a:txBody>
                    <a:bodyPr/>
                    <a:lstStyle/>
                    <a:p>
                      <a:pPr algn="ctr"/>
                      <a:r>
                        <a:rPr sz="750" b="1">
                          <a:solidFill>
                            <a:srgbClr val="FFFFFF"/>
                          </a:solidFill>
                          <a:latin typeface="Calibri"/>
                        </a:rPr>
                        <a:t>Norm</a:t>
                      </a:r>
                    </a:p>
                  </a:txBody>
                  <a:tcPr>
                    <a:solidFill>
                      <a:srgbClr val="E30622"/>
                    </a:solidFill>
                  </a:tcPr>
                </a:tc>
                <a:tc>
                  <a:txBody>
                    <a:bodyPr/>
                    <a:lstStyle/>
                    <a:p>
                      <a:pPr algn="ctr"/>
                      <a:r>
                        <a:rPr sz="750" b="1">
                          <a:solidFill>
                            <a:srgbClr val="FFFFFF"/>
                          </a:solidFill>
                          <a:latin typeface="Calibri"/>
                        </a:rPr>
                        <a:t>Operasyonel</a:t>
                      </a:r>
                    </a:p>
                    <a:p>
                      <a:pPr algn="ctr"/>
                      <a:r>
                        <a:rPr sz="750" b="1">
                          <a:solidFill>
                            <a:srgbClr val="FFFFFF"/>
                          </a:solidFill>
                          <a:latin typeface="Calibri"/>
                        </a:rPr>
                        <a:t>kadrolu</a:t>
                      </a:r>
                    </a:p>
                  </a:txBody>
                  <a:tcPr>
                    <a:solidFill>
                      <a:srgbClr val="E30622"/>
                    </a:solidFill>
                  </a:tcPr>
                </a:tc>
                <a:tc>
                  <a:txBody>
                    <a:bodyPr/>
                    <a:lstStyle/>
                    <a:p>
                      <a:pPr algn="ctr"/>
                      <a:r>
                        <a:rPr sz="750" b="1">
                          <a:solidFill>
                            <a:srgbClr val="FFFFFF"/>
                          </a:solidFill>
                          <a:latin typeface="Calibri"/>
                        </a:rPr>
                        <a:t>Engelli</a:t>
                      </a:r>
                    </a:p>
                    <a:p>
                      <a:pPr algn="ctr"/>
                      <a:r>
                        <a:rPr sz="750" b="1">
                          <a:solidFill>
                            <a:srgbClr val="FFFFFF"/>
                          </a:solidFill>
                          <a:latin typeface="Calibri"/>
                        </a:rPr>
                        <a:t>(norm dışı)</a:t>
                      </a:r>
                    </a:p>
                  </a:txBody>
                  <a:tcPr>
                    <a:solidFill>
                      <a:srgbClr val="E30622"/>
                    </a:solidFill>
                  </a:tcPr>
                </a:tc>
                <a:tc>
                  <a:txBody>
                    <a:bodyPr/>
                    <a:lstStyle/>
                    <a:p>
                      <a:pPr algn="ctr"/>
                      <a:r>
                        <a:rPr sz="750" b="1">
                          <a:solidFill>
                            <a:srgbClr val="FFFFFF"/>
                          </a:solidFill>
                          <a:latin typeface="Calibri"/>
                        </a:rPr>
                        <a:t>Açık</a:t>
                      </a:r>
                    </a:p>
                  </a:txBody>
                  <a:tcPr>
                    <a:solidFill>
                      <a:srgbClr val="E30622"/>
                    </a:solidFill>
                  </a:tcPr>
                </a:tc>
                <a:tc>
                  <a:txBody>
                    <a:bodyPr/>
                    <a:lstStyle/>
                    <a:p>
                      <a:pPr algn="ctr"/>
                      <a:r>
                        <a:rPr sz="750" b="1">
                          <a:solidFill>
                            <a:srgbClr val="FFFFFF"/>
                          </a:solidFill>
                          <a:latin typeface="Calibri"/>
                        </a:rPr>
                        <a:t>Fazla</a:t>
                      </a:r>
                    </a:p>
                  </a:txBody>
                  <a:tcPr>
                    <a:solidFill>
                      <a:srgbClr val="E30622"/>
                    </a:solidFill>
                  </a:tcPr>
                </a:tc>
                <a:tc>
                  <a:txBody>
                    <a:bodyPr/>
                    <a:lstStyle/>
                    <a:p>
                      <a:pPr algn="ctr"/>
                      <a:r>
                        <a:rPr sz="750" b="1">
                          <a:solidFill>
                            <a:srgbClr val="FFFFFF"/>
                          </a:solidFill>
                          <a:latin typeface="Calibri"/>
                        </a:rPr>
                        <a:t>Sezonluk</a:t>
                      </a:r>
                    </a:p>
                    <a:p>
                      <a:pPr algn="ctr"/>
                      <a:r>
                        <a:rPr sz="750" b="1">
                          <a:solidFill>
                            <a:srgbClr val="FFFFFF"/>
                          </a:solidFill>
                          <a:latin typeface="Calibri"/>
                        </a:rPr>
                        <a:t>31.08</a:t>
                      </a:r>
                    </a:p>
                  </a:txBody>
                  <a:tcPr>
                    <a:solidFill>
                      <a:srgbClr val="E30622"/>
                    </a:solidFill>
                  </a:tcPr>
                </a:tc>
              </a:tr>
              <a:tr h="182880">
                <a:tc>
                  <a:txBody>
                    <a:bodyPr/>
                    <a:lstStyle/>
                    <a:p>
                      <a:pPr algn="l"/>
                      <a:r>
                        <a:rPr sz="900" b="0">
                          <a:solidFill>
                            <a:srgbClr val="333333"/>
                          </a:solidFill>
                          <a:latin typeface="Calibri"/>
                        </a:rPr>
                        <a:t>Çocuk</a:t>
                      </a:r>
                    </a:p>
                  </a:txBody>
                  <a:tcPr>
                    <a:solidFill>
                      <a:srgbClr val="FFFFFF"/>
                    </a:solidFill>
                  </a:tcPr>
                </a:tc>
                <a:tc>
                  <a:txBody>
                    <a:bodyPr/>
                    <a:lstStyle/>
                    <a:p>
                      <a:pPr algn="ctr"/>
                      <a:r>
                        <a:rPr sz="900" b="0">
                          <a:solidFill>
                            <a:srgbClr val="333333"/>
                          </a:solidFill>
                          <a:latin typeface="Calibri"/>
                        </a:rPr>
                        <a:t>19</a:t>
                      </a:r>
                    </a:p>
                  </a:txBody>
                  <a:tcPr>
                    <a:solidFill>
                      <a:srgbClr val="FFFFFF"/>
                    </a:solidFill>
                  </a:tcPr>
                </a:tc>
                <a:tc>
                  <a:txBody>
                    <a:bodyPr/>
                    <a:lstStyle/>
                    <a:p>
                      <a:pPr algn="ctr"/>
                      <a:r>
                        <a:rPr sz="900" b="0">
                          <a:solidFill>
                            <a:srgbClr val="333333"/>
                          </a:solidFill>
                          <a:latin typeface="Calibri"/>
                        </a:rPr>
                        <a:t>14</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5</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r>
              <a:tr h="182880">
                <a:tc>
                  <a:txBody>
                    <a:bodyPr/>
                    <a:lstStyle/>
                    <a:p>
                      <a:pPr algn="l"/>
                      <a:r>
                        <a:rPr sz="900" b="0">
                          <a:solidFill>
                            <a:srgbClr val="333333"/>
                          </a:solidFill>
                          <a:latin typeface="Calibri"/>
                        </a:rPr>
                        <a:t>İdari İşler</a:t>
                      </a:r>
                    </a:p>
                  </a:txBody>
                  <a:tcPr>
                    <a:solidFill>
                      <a:srgbClr val="FAFAFA"/>
                    </a:solidFill>
                  </a:tcPr>
                </a:tc>
                <a:tc>
                  <a:txBody>
                    <a:bodyPr/>
                    <a:lstStyle/>
                    <a:p>
                      <a:pPr algn="ctr"/>
                      <a:r>
                        <a:rPr sz="900" b="0">
                          <a:solidFill>
                            <a:srgbClr val="333333"/>
                          </a:solidFill>
                          <a:latin typeface="Calibri"/>
                        </a:rPr>
                        <a:t>8</a:t>
                      </a:r>
                    </a:p>
                  </a:txBody>
                  <a:tcPr>
                    <a:solidFill>
                      <a:srgbClr val="FAFAFA"/>
                    </a:solidFill>
                  </a:tcPr>
                </a:tc>
                <a:tc>
                  <a:txBody>
                    <a:bodyPr/>
                    <a:lstStyle/>
                    <a:p>
                      <a:pPr algn="ctr"/>
                      <a:r>
                        <a:rPr sz="900" b="0">
                          <a:solidFill>
                            <a:srgbClr val="333333"/>
                          </a:solidFill>
                          <a:latin typeface="Calibri"/>
                        </a:rPr>
                        <a:t>6</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Kültür</a:t>
                      </a:r>
                    </a:p>
                  </a:txBody>
                  <a:tcPr>
                    <a:solidFill>
                      <a:srgbClr val="FFFFFF"/>
                    </a:solidFill>
                  </a:tcPr>
                </a:tc>
                <a:tc>
                  <a:txBody>
                    <a:bodyPr/>
                    <a:lstStyle/>
                    <a:p>
                      <a:pPr algn="ctr"/>
                      <a:r>
                        <a:rPr sz="900" b="0">
                          <a:solidFill>
                            <a:srgbClr val="333333"/>
                          </a:solidFill>
                          <a:latin typeface="Calibri"/>
                        </a:rPr>
                        <a:t>22</a:t>
                      </a:r>
                    </a:p>
                  </a:txBody>
                  <a:tcPr>
                    <a:solidFill>
                      <a:srgbClr val="FFFFFF"/>
                    </a:solidFill>
                  </a:tcPr>
                </a:tc>
                <a:tc>
                  <a:txBody>
                    <a:bodyPr/>
                    <a:lstStyle/>
                    <a:p>
                      <a:pPr algn="ctr"/>
                      <a:r>
                        <a:rPr sz="900" b="0">
                          <a:solidFill>
                            <a:srgbClr val="333333"/>
                          </a:solidFill>
                          <a:latin typeface="Calibri"/>
                        </a:rPr>
                        <a:t>20</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2</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2</a:t>
                      </a:r>
                    </a:p>
                  </a:txBody>
                  <a:tcPr>
                    <a:solidFill>
                      <a:srgbClr val="FFFFFF"/>
                    </a:solidFill>
                  </a:tcPr>
                </a:tc>
              </a:tr>
              <a:tr h="182880">
                <a:tc>
                  <a:txBody>
                    <a:bodyPr/>
                    <a:lstStyle/>
                    <a:p>
                      <a:pPr algn="l"/>
                      <a:r>
                        <a:rPr sz="900" b="0">
                          <a:solidFill>
                            <a:srgbClr val="333333"/>
                          </a:solidFill>
                          <a:latin typeface="Calibri"/>
                        </a:rPr>
                        <a:t>Mağaza</a:t>
                      </a:r>
                    </a:p>
                  </a:txBody>
                  <a:tcPr>
                    <a:solidFill>
                      <a:srgbClr val="FAFAFA"/>
                    </a:solidFill>
                  </a:tcPr>
                </a:tc>
                <a:tc>
                  <a:txBody>
                    <a:bodyPr/>
                    <a:lstStyle/>
                    <a:p>
                      <a:pPr algn="ctr"/>
                      <a:r>
                        <a:rPr sz="900" b="0">
                          <a:solidFill>
                            <a:srgbClr val="333333"/>
                          </a:solidFill>
                          <a:latin typeface="Calibri"/>
                        </a:rPr>
                        <a:t>10</a:t>
                      </a:r>
                    </a:p>
                  </a:txBody>
                  <a:tcPr>
                    <a:solidFill>
                      <a:srgbClr val="FAFAFA"/>
                    </a:solidFill>
                  </a:tcPr>
                </a:tc>
                <a:tc>
                  <a:txBody>
                    <a:bodyPr/>
                    <a:lstStyle/>
                    <a:p>
                      <a:pPr algn="ctr"/>
                      <a:r>
                        <a:rPr sz="900" b="0">
                          <a:solidFill>
                            <a:srgbClr val="333333"/>
                          </a:solidFill>
                          <a:latin typeface="Calibri"/>
                        </a:rPr>
                        <a:t>8</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2</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r>
              <a:tr h="182880">
                <a:tc>
                  <a:txBody>
                    <a:bodyPr/>
                    <a:lstStyle/>
                    <a:p>
                      <a:pPr algn="l"/>
                      <a:r>
                        <a:rPr sz="900" b="0">
                          <a:solidFill>
                            <a:srgbClr val="333333"/>
                          </a:solidFill>
                          <a:latin typeface="Calibri"/>
                        </a:rPr>
                        <a:t>Akademi</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9</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0">
                          <a:solidFill>
                            <a:srgbClr val="333333"/>
                          </a:solidFill>
                          <a:latin typeface="Calibri"/>
                        </a:rPr>
                        <a:t>Kasa</a:t>
                      </a:r>
                    </a:p>
                  </a:txBody>
                  <a:tcPr>
                    <a:solidFill>
                      <a:srgbClr val="FAFAFA"/>
                    </a:solidFill>
                  </a:tcPr>
                </a:tc>
                <a:tc>
                  <a:txBody>
                    <a:bodyPr/>
                    <a:lstStyle/>
                    <a:p>
                      <a:pPr algn="ctr"/>
                      <a:r>
                        <a:rPr sz="900" b="0">
                          <a:solidFill>
                            <a:srgbClr val="333333"/>
                          </a:solidFill>
                          <a:latin typeface="Calibri"/>
                        </a:rPr>
                        <a:t>16</a:t>
                      </a:r>
                    </a:p>
                  </a:txBody>
                  <a:tcPr>
                    <a:solidFill>
                      <a:srgbClr val="FAFAFA"/>
                    </a:solidFill>
                  </a:tcPr>
                </a:tc>
                <a:tc>
                  <a:txBody>
                    <a:bodyPr/>
                    <a:lstStyle/>
                    <a:p>
                      <a:pPr algn="ctr"/>
                      <a:r>
                        <a:rPr sz="900" b="0">
                          <a:solidFill>
                            <a:srgbClr val="333333"/>
                          </a:solidFill>
                          <a:latin typeface="Calibri"/>
                        </a:rPr>
                        <a:t>15</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1</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9</a:t>
                      </a:r>
                    </a:p>
                  </a:txBody>
                  <a:tcPr>
                    <a:solidFill>
                      <a:srgbClr val="FAFAFA"/>
                    </a:solidFill>
                  </a:tcPr>
                </a:tc>
              </a:tr>
              <a:tr h="182880">
                <a:tc>
                  <a:txBody>
                    <a:bodyPr/>
                    <a:lstStyle/>
                    <a:p>
                      <a:pPr algn="l"/>
                      <a:r>
                        <a:rPr sz="900" b="0">
                          <a:solidFill>
                            <a:srgbClr val="333333"/>
                          </a:solidFill>
                          <a:latin typeface="Calibri"/>
                        </a:rPr>
                        <a:t>Kırtasiye</a:t>
                      </a:r>
                    </a:p>
                  </a:txBody>
                  <a:tcPr>
                    <a:solidFill>
                      <a:srgbClr val="FFFFFF"/>
                    </a:solidFill>
                  </a:tcPr>
                </a:tc>
                <a:tc>
                  <a:txBody>
                    <a:bodyPr/>
                    <a:lstStyle/>
                    <a:p>
                      <a:pPr algn="ctr"/>
                      <a:r>
                        <a:rPr sz="900" b="0">
                          <a:solidFill>
                            <a:srgbClr val="333333"/>
                          </a:solidFill>
                          <a:latin typeface="Calibri"/>
                        </a:rPr>
                        <a:t>24</a:t>
                      </a:r>
                    </a:p>
                  </a:txBody>
                  <a:tcPr>
                    <a:solidFill>
                      <a:srgbClr val="FFFFFF"/>
                    </a:solidFill>
                  </a:tcPr>
                </a:tc>
                <a:tc>
                  <a:txBody>
                    <a:bodyPr/>
                    <a:lstStyle/>
                    <a:p>
                      <a:pPr algn="ctr"/>
                      <a:r>
                        <a:rPr sz="900" b="0">
                          <a:solidFill>
                            <a:srgbClr val="333333"/>
                          </a:solidFill>
                          <a:latin typeface="Calibri"/>
                        </a:rPr>
                        <a:t>23</a:t>
                      </a:r>
                    </a:p>
                  </a:txBody>
                  <a:tcPr>
                    <a:solidFill>
                      <a:srgbClr val="FFFFFF"/>
                    </a:solidFill>
                  </a:tcPr>
                </a:tc>
                <a:tc>
                  <a:txBody>
                    <a:bodyPr/>
                    <a:lstStyle/>
                    <a:p>
                      <a:pPr algn="ctr"/>
                      <a:r>
                        <a:rPr sz="900" b="0">
                          <a:solidFill>
                            <a:srgbClr val="333333"/>
                          </a:solidFill>
                          <a:latin typeface="Calibri"/>
                        </a:rPr>
                        <a:t>2</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22</a:t>
                      </a:r>
                    </a:p>
                  </a:txBody>
                  <a:tcPr>
                    <a:solidFill>
                      <a:srgbClr val="FFFFFF"/>
                    </a:solidFill>
                  </a:tcPr>
                </a:tc>
              </a:tr>
              <a:tr h="182880">
                <a:tc>
                  <a:txBody>
                    <a:bodyPr/>
                    <a:lstStyle/>
                    <a:p>
                      <a:pPr algn="l"/>
                      <a:r>
                        <a:rPr sz="900" b="0">
                          <a:solidFill>
                            <a:srgbClr val="333333"/>
                          </a:solidFill>
                          <a:latin typeface="Calibri"/>
                        </a:rPr>
                        <a:t>Kıyafet</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0</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0">
                          <a:solidFill>
                            <a:srgbClr val="333333"/>
                          </a:solidFill>
                          <a:latin typeface="Calibri"/>
                        </a:rPr>
                        <a:t>4</a:t>
                      </a:r>
                    </a:p>
                  </a:txBody>
                  <a:tcPr>
                    <a:solidFill>
                      <a:srgbClr val="FAFAFA"/>
                    </a:solidFill>
                  </a:tcPr>
                </a:tc>
              </a:tr>
              <a:tr h="182880">
                <a:tc>
                  <a:txBody>
                    <a:bodyPr/>
                    <a:lstStyle/>
                    <a:p>
                      <a:pPr algn="l"/>
                      <a:r>
                        <a:rPr sz="900" b="0">
                          <a:solidFill>
                            <a:srgbClr val="333333"/>
                          </a:solidFill>
                          <a:latin typeface="Calibri"/>
                        </a:rPr>
                        <a:t>Mal Kabul</a:t>
                      </a:r>
                    </a:p>
                  </a:txBody>
                  <a:tcPr>
                    <a:solidFill>
                      <a:srgbClr val="FFFFFF"/>
                    </a:solidFill>
                  </a:tcPr>
                </a:tc>
                <a:tc>
                  <a:txBody>
                    <a:bodyPr/>
                    <a:lstStyle/>
                    <a:p>
                      <a:pPr algn="ctr"/>
                      <a:r>
                        <a:rPr sz="900" b="0">
                          <a:solidFill>
                            <a:srgbClr val="333333"/>
                          </a:solidFill>
                          <a:latin typeface="Calibri"/>
                        </a:rPr>
                        <a:t>6</a:t>
                      </a:r>
                    </a:p>
                  </a:txBody>
                  <a:tcPr>
                    <a:solidFill>
                      <a:srgbClr val="FFFFFF"/>
                    </a:solidFill>
                  </a:tcPr>
                </a:tc>
                <a:tc>
                  <a:txBody>
                    <a:bodyPr/>
                    <a:lstStyle/>
                    <a:p>
                      <a:pPr algn="ctr"/>
                      <a:r>
                        <a:rPr sz="900" b="0">
                          <a:solidFill>
                            <a:srgbClr val="333333"/>
                          </a:solidFill>
                          <a:latin typeface="Calibri"/>
                        </a:rPr>
                        <a:t>5</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c>
                  <a:txBody>
                    <a:bodyPr/>
                    <a:lstStyle/>
                    <a:p>
                      <a:pPr algn="ctr"/>
                      <a:r>
                        <a:rPr sz="900" b="1">
                          <a:solidFill>
                            <a:srgbClr val="A6001A"/>
                          </a:solidFill>
                          <a:latin typeface="Calibri"/>
                        </a:rPr>
                        <a:t>1</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1</a:t>
                      </a:r>
                    </a:p>
                  </a:txBody>
                  <a:tcPr>
                    <a:solidFill>
                      <a:srgbClr val="FFFFFF"/>
                    </a:solidFill>
                  </a:tcPr>
                </a:tc>
              </a:tr>
              <a:tr h="182880">
                <a:tc>
                  <a:txBody>
                    <a:bodyPr/>
                    <a:lstStyle/>
                    <a:p>
                      <a:pPr algn="l"/>
                      <a:r>
                        <a:rPr sz="900" b="0">
                          <a:solidFill>
                            <a:srgbClr val="333333"/>
                          </a:solidFill>
                          <a:latin typeface="Calibri"/>
                        </a:rPr>
                        <a:t>Yardımcı Kitap</a:t>
                      </a:r>
                    </a:p>
                  </a:txBody>
                  <a:tcPr>
                    <a:solidFill>
                      <a:srgbClr val="FAFAFA"/>
                    </a:solidFill>
                  </a:tcPr>
                </a:tc>
                <a:tc>
                  <a:txBody>
                    <a:bodyPr/>
                    <a:lstStyle/>
                    <a:p>
                      <a:pPr algn="ctr"/>
                      <a:r>
                        <a:rPr sz="900" b="0">
                          <a:solidFill>
                            <a:srgbClr val="333333"/>
                          </a:solidFill>
                          <a:latin typeface="Calibri"/>
                        </a:rPr>
                        <a:t>18</a:t>
                      </a:r>
                    </a:p>
                  </a:txBody>
                  <a:tcPr>
                    <a:solidFill>
                      <a:srgbClr val="FAFAFA"/>
                    </a:solidFill>
                  </a:tcPr>
                </a:tc>
                <a:tc>
                  <a:txBody>
                    <a:bodyPr/>
                    <a:lstStyle/>
                    <a:p>
                      <a:pPr algn="ctr"/>
                      <a:r>
                        <a:rPr sz="900" b="0">
                          <a:solidFill>
                            <a:srgbClr val="333333"/>
                          </a:solidFill>
                          <a:latin typeface="Calibri"/>
                        </a:rPr>
                        <a:t>21</a:t>
                      </a:r>
                    </a:p>
                  </a:txBody>
                  <a:tcPr>
                    <a:solidFill>
                      <a:srgbClr val="FAFAFA"/>
                    </a:solidFill>
                  </a:tcPr>
                </a:tc>
                <a:tc>
                  <a:txBody>
                    <a:bodyPr/>
                    <a:lstStyle/>
                    <a:p>
                      <a:pPr algn="ctr"/>
                      <a:r>
                        <a:rPr sz="900" b="0">
                          <a:solidFill>
                            <a:srgbClr val="333333"/>
                          </a:solidFill>
                          <a:latin typeface="Calibri"/>
                        </a:rPr>
                        <a:t>—</a:t>
                      </a:r>
                    </a:p>
                  </a:txBody>
                  <a:tcPr>
                    <a:solidFill>
                      <a:srgbClr val="FAFAFA"/>
                    </a:solidFill>
                  </a:tcPr>
                </a:tc>
                <a:tc>
                  <a:txBody>
                    <a:bodyPr/>
                    <a:lstStyle/>
                    <a:p>
                      <a:pPr algn="ctr"/>
                      <a:r>
                        <a:rPr sz="900" b="1">
                          <a:solidFill>
                            <a:srgbClr val="A6001A"/>
                          </a:solidFill>
                          <a:latin typeface="Calibri"/>
                        </a:rPr>
                        <a:t>—</a:t>
                      </a:r>
                    </a:p>
                  </a:txBody>
                  <a:tcPr>
                    <a:solidFill>
                      <a:srgbClr val="FAFAFA"/>
                    </a:solidFill>
                  </a:tcPr>
                </a:tc>
                <a:tc>
                  <a:txBody>
                    <a:bodyPr/>
                    <a:lstStyle/>
                    <a:p>
                      <a:pPr algn="ctr"/>
                      <a:r>
                        <a:rPr sz="900" b="0">
                          <a:solidFill>
                            <a:srgbClr val="333333"/>
                          </a:solidFill>
                          <a:latin typeface="Calibri"/>
                        </a:rPr>
                        <a:t>3</a:t>
                      </a:r>
                    </a:p>
                  </a:txBody>
                  <a:tcPr>
                    <a:solidFill>
                      <a:srgbClr val="FAFAFA"/>
                    </a:solidFill>
                  </a:tcPr>
                </a:tc>
                <a:tc>
                  <a:txBody>
                    <a:bodyPr/>
                    <a:lstStyle/>
                    <a:p>
                      <a:pPr algn="ctr"/>
                      <a:r>
                        <a:rPr sz="900" b="0">
                          <a:solidFill>
                            <a:srgbClr val="333333"/>
                          </a:solidFill>
                          <a:latin typeface="Calibri"/>
                        </a:rPr>
                        <a:t>15</a:t>
                      </a:r>
                    </a:p>
                  </a:txBody>
                  <a:tcPr>
                    <a:solidFill>
                      <a:srgbClr val="FAFAFA"/>
                    </a:solidFill>
                  </a:tcPr>
                </a:tc>
              </a:tr>
              <a:tr h="182880">
                <a:tc>
                  <a:txBody>
                    <a:bodyPr/>
                    <a:lstStyle/>
                    <a:p>
                      <a:pPr algn="l"/>
                      <a:r>
                        <a:rPr sz="900" b="0">
                          <a:solidFill>
                            <a:srgbClr val="333333"/>
                          </a:solidFill>
                          <a:latin typeface="Calibri"/>
                        </a:rPr>
                        <a:t>Oyuncak</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10</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1">
                          <a:solidFill>
                            <a:srgbClr val="A6001A"/>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c>
                  <a:txBody>
                    <a:bodyPr/>
                    <a:lstStyle/>
                    <a:p>
                      <a:pPr algn="ctr"/>
                      <a:r>
                        <a:rPr sz="900" b="0">
                          <a:solidFill>
                            <a:srgbClr val="333333"/>
                          </a:solidFill>
                          <a:latin typeface="Calibri"/>
                        </a:rPr>
                        <a:t>—</a:t>
                      </a:r>
                    </a:p>
                  </a:txBody>
                  <a:tcPr>
                    <a:solidFill>
                      <a:srgbClr val="FFFFFF"/>
                    </a:solidFill>
                  </a:tcPr>
                </a:tc>
              </a:tr>
              <a:tr h="182880">
                <a:tc>
                  <a:txBody>
                    <a:bodyPr/>
                    <a:lstStyle/>
                    <a:p>
                      <a:pPr algn="l"/>
                      <a:r>
                        <a:rPr sz="900" b="1">
                          <a:solidFill>
                            <a:srgbClr val="333333"/>
                          </a:solidFill>
                          <a:latin typeface="Calibri"/>
                        </a:rPr>
                        <a:t>TOPLAM (teyit hariç)</a:t>
                      </a:r>
                    </a:p>
                  </a:txBody>
                  <a:tcPr>
                    <a:solidFill>
                      <a:srgbClr val="F2F2F2"/>
                    </a:solidFill>
                  </a:tcPr>
                </a:tc>
                <a:tc>
                  <a:txBody>
                    <a:bodyPr/>
                    <a:lstStyle/>
                    <a:p>
                      <a:pPr algn="ctr"/>
                      <a:r>
                        <a:rPr sz="900" b="1">
                          <a:solidFill>
                            <a:srgbClr val="333333"/>
                          </a:solidFill>
                          <a:latin typeface="Calibri"/>
                        </a:rPr>
                        <a:t>143</a:t>
                      </a:r>
                    </a:p>
                  </a:txBody>
                  <a:tcPr>
                    <a:solidFill>
                      <a:srgbClr val="F2F2F2"/>
                    </a:solidFill>
                  </a:tcPr>
                </a:tc>
                <a:tc>
                  <a:txBody>
                    <a:bodyPr/>
                    <a:lstStyle/>
                    <a:p>
                      <a:pPr algn="ctr"/>
                      <a:r>
                        <a:rPr sz="900" b="1">
                          <a:solidFill>
                            <a:srgbClr val="333333"/>
                          </a:solidFill>
                          <a:latin typeface="Calibri"/>
                        </a:rPr>
                        <a:t>131</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A6001A"/>
                          </a:solidFill>
                          <a:latin typeface="Calibri"/>
                        </a:rPr>
                        <a:t>15</a:t>
                      </a:r>
                    </a:p>
                  </a:txBody>
                  <a:tcPr>
                    <a:solidFill>
                      <a:srgbClr val="F2F2F2"/>
                    </a:solidFill>
                  </a:tcPr>
                </a:tc>
                <a:tc>
                  <a:txBody>
                    <a:bodyPr/>
                    <a:lstStyle/>
                    <a:p>
                      <a:pPr algn="ctr"/>
                      <a:r>
                        <a:rPr sz="900" b="1">
                          <a:solidFill>
                            <a:srgbClr val="333333"/>
                          </a:solidFill>
                          <a:latin typeface="Calibri"/>
                        </a:rPr>
                        <a:t>3</a:t>
                      </a:r>
                    </a:p>
                  </a:txBody>
                  <a:tcPr>
                    <a:solidFill>
                      <a:srgbClr val="F2F2F2"/>
                    </a:solidFill>
                  </a:tcPr>
                </a:tc>
                <a:tc>
                  <a:txBody>
                    <a:bodyPr/>
                    <a:lstStyle/>
                    <a:p>
                      <a:pPr algn="ctr"/>
                      <a:r>
                        <a:rPr sz="900" b="1">
                          <a:solidFill>
                            <a:srgbClr val="333333"/>
                          </a:solidFill>
                          <a:latin typeface="Calibri"/>
                        </a:rPr>
                        <a:t>58</a:t>
                      </a:r>
                    </a:p>
                  </a:txBody>
                  <a:tcPr>
                    <a:solidFill>
                      <a:srgbClr val="F2F2F2"/>
                    </a:solidFill>
                  </a:tcPr>
                </a:tc>
              </a:tr>
              <a:tr h="182880">
                <a:tc>
                  <a:txBody>
                    <a:bodyPr/>
                    <a:lstStyle/>
                    <a:p>
                      <a:pPr algn="l"/>
                      <a:r>
                        <a:rPr sz="900" b="0">
                          <a:solidFill>
                            <a:srgbClr val="333333"/>
                          </a:solidFill>
                          <a:latin typeface="Calibri"/>
                        </a:rPr>
                        <a:t>Oyun Alanı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Muhasebe (teyit bekliyor)</a:t>
                      </a:r>
                    </a:p>
                  </a:txBody>
                  <a:tcPr>
                    <a:solidFill>
                      <a:srgbClr val="FFF6E6"/>
                    </a:solidFill>
                  </a:tcPr>
                </a:tc>
                <a:tc>
                  <a:txBody>
                    <a:bodyPr/>
                    <a:lstStyle/>
                    <a:p>
                      <a:pPr algn="ctr"/>
                      <a:r>
                        <a:rPr sz="900" b="0">
                          <a:solidFill>
                            <a:srgbClr val="333333"/>
                          </a:solidFill>
                          <a:latin typeface="Calibri"/>
                        </a:rPr>
                        <a:t>1</a:t>
                      </a:r>
                    </a:p>
                  </a:txBody>
                  <a:tcPr>
                    <a:solidFill>
                      <a:srgbClr val="FFF6E6"/>
                    </a:solidFill>
                  </a:tcPr>
                </a:tc>
                <a:tc>
                  <a:txBody>
                    <a:bodyPr/>
                    <a:lstStyle/>
                    <a:p>
                      <a:pPr algn="ctr"/>
                      <a:r>
                        <a:rPr sz="900" b="0">
                          <a:solidFill>
                            <a:srgbClr val="333333"/>
                          </a:solidFill>
                          <a:latin typeface="Calibri"/>
                        </a:rPr>
                        <a:t>0</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r h="182880">
                <a:tc>
                  <a:txBody>
                    <a:bodyPr/>
                    <a:lstStyle/>
                    <a:p>
                      <a:pPr algn="l"/>
                      <a:r>
                        <a:rPr sz="900" b="0">
                          <a:solidFill>
                            <a:srgbClr val="333333"/>
                          </a:solidFill>
                          <a:latin typeface="Calibri"/>
                        </a:rPr>
                        <a:t>Etkinlik (norm dışı)</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3</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1">
                          <a:solidFill>
                            <a:srgbClr val="A6001A"/>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c>
                  <a:txBody>
                    <a:bodyPr/>
                    <a:lstStyle/>
                    <a:p>
                      <a:pPr algn="ctr"/>
                      <a:r>
                        <a:rPr sz="900" b="0">
                          <a:solidFill>
                            <a:srgbClr val="333333"/>
                          </a:solidFill>
                          <a:latin typeface="Calibri"/>
                        </a:rPr>
                        <a:t>—</a:t>
                      </a:r>
                    </a:p>
                  </a:txBody>
                  <a:tcPr>
                    <a:solidFill>
                      <a:srgbClr val="FFF6E6"/>
                    </a:solidFill>
                  </a:tcPr>
                </a:tc>
              </a:tr>
            </a:tbl>
          </a:graphicData>
        </a:graphic>
      </p:graphicFrame>
      <p:sp>
        <p:nvSpPr>
          <p:cNvPr id="4" name="Rectangle 3"/>
          <p:cNvSpPr/>
          <p:nvPr/>
        </p:nvSpPr>
        <p:spPr>
          <a:xfrm>
            <a:off x="7955279" y="1371600"/>
            <a:ext cx="3611880" cy="196596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955279" y="1371600"/>
            <a:ext cx="68580" cy="196596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lert-triangle.png"/>
          <p:cNvPicPr>
            <a:picLocks noChangeAspect="1"/>
          </p:cNvPicPr>
          <p:nvPr/>
        </p:nvPicPr>
        <p:blipFill>
          <a:blip r:embed="rId3"/>
          <a:stretch>
            <a:fillRect/>
          </a:stretch>
        </p:blipFill>
        <p:spPr>
          <a:xfrm>
            <a:off x="11091672" y="1536192"/>
            <a:ext cx="274320" cy="274320"/>
          </a:xfrm>
          <a:prstGeom prst="rect">
            <a:avLst/>
          </a:prstGeom>
        </p:spPr>
      </p:pic>
      <p:sp>
        <p:nvSpPr>
          <p:cNvPr id="7" name="TextBox 6"/>
          <p:cNvSpPr txBox="1"/>
          <p:nvPr/>
        </p:nvSpPr>
        <p:spPr>
          <a:xfrm>
            <a:off x="8183879" y="1481328"/>
            <a:ext cx="2743200" cy="292608"/>
          </a:xfrm>
          <a:prstGeom prst="rect">
            <a:avLst/>
          </a:prstGeom>
          <a:noFill/>
        </p:spPr>
        <p:txBody>
          <a:bodyPr wrap="square" anchor="t">
            <a:spAutoFit/>
          </a:bodyPr>
          <a:lstStyle/>
          <a:p>
            <a:pPr algn="l">
              <a:lnSpc>
                <a:spcPct val="100000"/>
              </a:lnSpc>
            </a:pPr>
            <a:r>
              <a:rPr sz="1000" b="1">
                <a:solidFill>
                  <a:srgbClr val="6E6E6E"/>
                </a:solidFill>
                <a:latin typeface="Calibri"/>
              </a:rPr>
              <a:t>EN BÜYÜK AÇIKLAR</a:t>
            </a:r>
          </a:p>
        </p:txBody>
      </p:sp>
      <p:sp>
        <p:nvSpPr>
          <p:cNvPr id="8" name="TextBox 7"/>
          <p:cNvSpPr txBox="1"/>
          <p:nvPr/>
        </p:nvSpPr>
        <p:spPr>
          <a:xfrm>
            <a:off x="8183879" y="1810512"/>
            <a:ext cx="3200400" cy="1463040"/>
          </a:xfrm>
          <a:prstGeom prst="rect">
            <a:avLst/>
          </a:prstGeom>
          <a:noFill/>
        </p:spPr>
        <p:txBody>
          <a:bodyPr wrap="square" anchor="t">
            <a:spAutoFit/>
          </a:bodyPr>
          <a:lstStyle/>
          <a:p>
            <a:pPr algn="l">
              <a:lnSpc>
                <a:spcPct val="135000"/>
              </a:lnSpc>
            </a:pPr>
            <a:r>
              <a:rPr sz="1200" b="1">
                <a:solidFill>
                  <a:srgbClr val="A6001A"/>
                </a:solidFill>
                <a:latin typeface="Calibri"/>
              </a:rPr>
              <a:t>Çocuk  5 kişi
İdari İşler  2 kişi
Kültür  2 kişi
Mağaza  2 kişi</a:t>
            </a:r>
          </a:p>
        </p:txBody>
      </p:sp>
      <p:sp>
        <p:nvSpPr>
          <p:cNvPr id="9" name="Rounded Rectangle 8"/>
          <p:cNvSpPr/>
          <p:nvPr/>
        </p:nvSpPr>
        <p:spPr>
          <a:xfrm>
            <a:off x="7955279" y="3520440"/>
            <a:ext cx="3611880" cy="196596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79" y="3630168"/>
            <a:ext cx="3200400" cy="1783080"/>
          </a:xfrm>
          <a:prstGeom prst="rect">
            <a:avLst/>
          </a:prstGeom>
          <a:noFill/>
        </p:spPr>
        <p:txBody>
          <a:bodyPr wrap="square" anchor="t">
            <a:spAutoFit/>
          </a:bodyPr>
          <a:lstStyle/>
          <a:p>
            <a:pPr algn="l">
              <a:lnSpc>
                <a:spcPct val="112000"/>
              </a:lnSpc>
            </a:pPr>
            <a:r>
              <a:rPr sz="1200" b="1">
                <a:solidFill>
                  <a:srgbClr val="A6001A"/>
                </a:solidFill>
                <a:latin typeface="Calibri"/>
              </a:rPr>
              <a:t>Neden mağaza toplamından büyük?</a:t>
            </a:r>
          </a:p>
          <a:p>
            <a:pPr algn="l">
              <a:lnSpc>
                <a:spcPct val="112000"/>
              </a:lnSpc>
            </a:pPr>
            <a:r>
              <a:rPr sz="1000" b="0">
                <a:solidFill>
                  <a:srgbClr val="333333"/>
                </a:solidFill>
                <a:latin typeface="Calibri"/>
              </a:rPr>
              <a:t>Bölüm bazında açık 15 kişi, mağaza bazında 14. Aradaki fark, bir mağazada bir bölümün fazlasının başka bölümün açığını maskelemesinden gelir. Gerçek ihtiyaç bölüm bazında okunur. Ayrıca normda tanımlı olduğu hâlde kayıtta hiç personeli olmayan 2 kişilik satır (Oyun Alanı · Muhasebe) açığa DAHİL EDİLMEDİ — teyit bekliyor.</a:t>
            </a:r>
          </a:p>
        </p:txBody>
      </p:sp>
      <p:sp>
        <p:nvSpPr>
          <p:cNvPr id="11" name="TextBox 10"/>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Norm = engelli DIŞINDAKİ personel (yönetim kararı) — engelli bölüm bazında da DÜŞÜLDÜ: Kırtasiye 2 · Mal Kabul 1 · ETKİNLİK normda tanımlı olmadığı için norm dışı satır olarak en altta · Kapsam: norm tablosundaki dört mağaza (Şura yok) · Norm 11.08.2026 tarihli · Gerçek sayılar 31.08 as-of.</a:t>
            </a:r>
          </a:p>
        </p:txBody>
      </p:sp>
      <p:sp>
        <p:nvSpPr>
          <p:cNvPr id="12" name="TextBox 11"/>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Sezonluk Alım Zamanlaması</a:t>
            </a:r>
          </a:p>
        </p:txBody>
      </p:sp>
      <p:sp>
        <p:nvSpPr>
          <p:cNvPr id="3" name="Rectangle 2"/>
          <p:cNvSpPr/>
          <p:nvPr/>
        </p:nvSpPr>
        <p:spPr>
          <a:xfrm>
            <a:off x="54864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18288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orkflow.png"/>
          <p:cNvPicPr>
            <a:picLocks noChangeAspect="1"/>
          </p:cNvPicPr>
          <p:nvPr/>
        </p:nvPicPr>
        <p:blipFill>
          <a:blip r:embed="rId3"/>
          <a:stretch>
            <a:fillRect/>
          </a:stretch>
        </p:blipFill>
        <p:spPr>
          <a:xfrm>
            <a:off x="3639312" y="1536192"/>
            <a:ext cx="274320" cy="274320"/>
          </a:xfrm>
          <a:prstGeom prst="rect">
            <a:avLst/>
          </a:prstGeom>
        </p:spPr>
      </p:pic>
      <p:sp>
        <p:nvSpPr>
          <p:cNvPr id="6" name="TextBox 5"/>
          <p:cNvSpPr txBox="1"/>
          <p:nvPr/>
        </p:nvSpPr>
        <p:spPr>
          <a:xfrm>
            <a:off x="804672"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ORTALAMA ALIM GÜNÜ</a:t>
            </a:r>
          </a:p>
        </p:txBody>
      </p:sp>
      <p:sp>
        <p:nvSpPr>
          <p:cNvPr id="7" name="TextBox 6"/>
          <p:cNvSpPr txBox="1"/>
          <p:nvPr/>
        </p:nvSpPr>
        <p:spPr>
          <a:xfrm>
            <a:off x="804672" y="1975104"/>
            <a:ext cx="3154679" cy="658368"/>
          </a:xfrm>
          <a:prstGeom prst="rect">
            <a:avLst/>
          </a:prstGeom>
          <a:noFill/>
        </p:spPr>
        <p:txBody>
          <a:bodyPr wrap="square" anchor="t">
            <a:spAutoFit/>
          </a:bodyPr>
          <a:lstStyle/>
          <a:p>
            <a:pPr algn="l">
              <a:lnSpc>
                <a:spcPct val="100000"/>
              </a:lnSpc>
            </a:pPr>
            <a:r>
              <a:rPr sz="2200" b="1">
                <a:solidFill>
                  <a:srgbClr val="9A9A9A"/>
                </a:solidFill>
                <a:latin typeface="Calibri"/>
              </a:rPr>
              <a:t>2,5 gün geç</a:t>
            </a:r>
          </a:p>
        </p:txBody>
      </p:sp>
      <p:sp>
        <p:nvSpPr>
          <p:cNvPr id="8" name="TextBox 7"/>
          <p:cNvSpPr txBox="1"/>
          <p:nvPr/>
        </p:nvSpPr>
        <p:spPr>
          <a:xfrm>
            <a:off x="804672"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takvim ölçüsü · 225. → 228. gün</a:t>
            </a:r>
          </a:p>
        </p:txBody>
      </p:sp>
      <p:sp>
        <p:nvSpPr>
          <p:cNvPr id="9" name="Rectangle 8"/>
          <p:cNvSpPr/>
          <p:nvPr/>
        </p:nvSpPr>
        <p:spPr>
          <a:xfrm>
            <a:off x="4279392"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9392"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7370064" y="1536192"/>
            <a:ext cx="274320" cy="274320"/>
          </a:xfrm>
          <a:prstGeom prst="rect">
            <a:avLst/>
          </a:prstGeom>
        </p:spPr>
      </p:pic>
      <p:sp>
        <p:nvSpPr>
          <p:cNvPr id="12" name="TextBox 11"/>
          <p:cNvSpPr txBox="1"/>
          <p:nvPr/>
        </p:nvSpPr>
        <p:spPr>
          <a:xfrm>
            <a:off x="4535424"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TEMMUZ VE ÖNCESİ ALIM</a:t>
            </a:r>
          </a:p>
        </p:txBody>
      </p:sp>
      <p:sp>
        <p:nvSpPr>
          <p:cNvPr id="13" name="TextBox 12"/>
          <p:cNvSpPr txBox="1"/>
          <p:nvPr/>
        </p:nvSpPr>
        <p:spPr>
          <a:xfrm>
            <a:off x="4535424"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6 → 2</a:t>
            </a:r>
          </a:p>
        </p:txBody>
      </p:sp>
      <p:sp>
        <p:nvSpPr>
          <p:cNvPr id="14" name="TextBox 13"/>
          <p:cNvSpPr txBox="1"/>
          <p:nvPr/>
        </p:nvSpPr>
        <p:spPr>
          <a:xfrm>
            <a:off x="4535424"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gerçek erken alım azaldı</a:t>
            </a:r>
          </a:p>
        </p:txBody>
      </p:sp>
      <p:sp>
        <p:nvSpPr>
          <p:cNvPr id="15" name="Rectangle 14"/>
          <p:cNvSpPr/>
          <p:nvPr/>
        </p:nvSpPr>
        <p:spPr>
          <a:xfrm>
            <a:off x="8001000" y="1371600"/>
            <a:ext cx="3566160" cy="18288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001000" y="1371600"/>
            <a:ext cx="68580" cy="18288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ckage.png"/>
          <p:cNvPicPr>
            <a:picLocks noChangeAspect="1"/>
          </p:cNvPicPr>
          <p:nvPr/>
        </p:nvPicPr>
        <p:blipFill>
          <a:blip r:embed="rId5"/>
          <a:stretch>
            <a:fillRect/>
          </a:stretch>
        </p:blipFill>
        <p:spPr>
          <a:xfrm>
            <a:off x="11091672" y="1536192"/>
            <a:ext cx="274320" cy="274320"/>
          </a:xfrm>
          <a:prstGeom prst="rect">
            <a:avLst/>
          </a:prstGeom>
        </p:spPr>
      </p:pic>
      <p:sp>
        <p:nvSpPr>
          <p:cNvPr id="18" name="TextBox 17"/>
          <p:cNvSpPr txBox="1"/>
          <p:nvPr/>
        </p:nvSpPr>
        <p:spPr>
          <a:xfrm>
            <a:off x="8257031" y="1536192"/>
            <a:ext cx="2697480" cy="384048"/>
          </a:xfrm>
          <a:prstGeom prst="rect">
            <a:avLst/>
          </a:prstGeom>
          <a:noFill/>
        </p:spPr>
        <p:txBody>
          <a:bodyPr wrap="square" anchor="t">
            <a:spAutoFit/>
          </a:bodyPr>
          <a:lstStyle/>
          <a:p>
            <a:pPr algn="l">
              <a:lnSpc>
                <a:spcPct val="105000"/>
              </a:lnSpc>
            </a:pPr>
            <a:r>
              <a:rPr sz="900" b="1">
                <a:solidFill>
                  <a:srgbClr val="6E6E6E"/>
                </a:solidFill>
                <a:latin typeface="Calibri"/>
              </a:rPr>
              <a:t>1–14 AĞUSTOS İŞ HACMİ</a:t>
            </a:r>
          </a:p>
        </p:txBody>
      </p:sp>
      <p:sp>
        <p:nvSpPr>
          <p:cNvPr id="19" name="TextBox 18"/>
          <p:cNvSpPr txBox="1"/>
          <p:nvPr/>
        </p:nvSpPr>
        <p:spPr>
          <a:xfrm>
            <a:off x="8257031" y="1975104"/>
            <a:ext cx="3154679" cy="658368"/>
          </a:xfrm>
          <a:prstGeom prst="rect">
            <a:avLst/>
          </a:prstGeom>
          <a:noFill/>
        </p:spPr>
        <p:txBody>
          <a:bodyPr wrap="square" anchor="t">
            <a:spAutoFit/>
          </a:bodyPr>
          <a:lstStyle/>
          <a:p>
            <a:pPr algn="l">
              <a:lnSpc>
                <a:spcPct val="100000"/>
              </a:lnSpc>
            </a:pPr>
            <a:r>
              <a:rPr sz="3000" b="1">
                <a:solidFill>
                  <a:srgbClr val="A6001A"/>
                </a:solidFill>
                <a:latin typeface="Calibri"/>
              </a:rPr>
              <a:t>+%25,1</a:t>
            </a:r>
          </a:p>
        </p:txBody>
      </p:sp>
      <p:sp>
        <p:nvSpPr>
          <p:cNvPr id="20" name="TextBox 19"/>
          <p:cNvSpPr txBox="1"/>
          <p:nvPr/>
        </p:nvSpPr>
        <p:spPr>
          <a:xfrm>
            <a:off x="8257031" y="2688336"/>
            <a:ext cx="3154679" cy="457200"/>
          </a:xfrm>
          <a:prstGeom prst="rect">
            <a:avLst/>
          </a:prstGeom>
          <a:noFill/>
        </p:spPr>
        <p:txBody>
          <a:bodyPr wrap="square" anchor="t">
            <a:spAutoFit/>
          </a:bodyPr>
          <a:lstStyle/>
          <a:p>
            <a:pPr algn="l">
              <a:lnSpc>
                <a:spcPct val="105000"/>
              </a:lnSpc>
            </a:pPr>
            <a:r>
              <a:rPr sz="1000" b="0">
                <a:solidFill>
                  <a:srgbClr val="6E6E6E"/>
                </a:solidFill>
                <a:latin typeface="Calibri"/>
              </a:rPr>
              <a:t>137.483 → 171.957 adet</a:t>
            </a:r>
          </a:p>
        </p:txBody>
      </p:sp>
      <p:graphicFrame>
        <p:nvGraphicFramePr>
          <p:cNvPr id="21" name="Table 20"/>
          <p:cNvGraphicFramePr>
            <a:graphicFrameLocks noGrp="1"/>
          </p:cNvGraphicFramePr>
          <p:nvPr/>
        </p:nvGraphicFramePr>
        <p:xfrm>
          <a:off x="548640" y="3246120"/>
          <a:ext cx="11018520" cy="2011680"/>
        </p:xfrm>
        <a:graphic>
          <a:graphicData uri="http://schemas.openxmlformats.org/drawingml/2006/table">
            <a:tbl>
              <a:tblPr firstRow="1" bandRow="1">
                <a:tableStyleId>{5C22544A-7EE6-4342-B048-85BDC9FD1C3A}</a:tableStyleId>
              </a:tblPr>
              <a:tblGrid>
                <a:gridCol w="3291840"/>
                <a:gridCol w="1737360"/>
                <a:gridCol w="1737360"/>
                <a:gridCol w="4251960"/>
              </a:tblGrid>
              <a:tr h="182880">
                <a:tc>
                  <a:txBody>
                    <a:bodyPr/>
                    <a:lstStyle/>
                    <a:p>
                      <a:pPr algn="l"/>
                      <a:r>
                        <a:rPr sz="800" b="1">
                          <a:solidFill>
                            <a:srgbClr val="FFFFFF"/>
                          </a:solidFill>
                          <a:latin typeface="Calibri"/>
                        </a:rPr>
                        <a:t>Ölçü</a:t>
                      </a:r>
                    </a:p>
                  </a:txBody>
                  <a:tcPr>
                    <a:solidFill>
                      <a:srgbClr val="E30622"/>
                    </a:solidFill>
                  </a:tcPr>
                </a:tc>
                <a:tc>
                  <a:txBody>
                    <a:bodyPr/>
                    <a:lstStyle/>
                    <a:p>
                      <a:pPr algn="ctr"/>
                      <a:r>
                        <a:rPr sz="800" b="1">
                          <a:solidFill>
                            <a:srgbClr val="FFFFFF"/>
                          </a:solidFill>
                          <a:latin typeface="Calibri"/>
                        </a:rPr>
                        <a:t>2025</a:t>
                      </a:r>
                    </a:p>
                  </a:txBody>
                  <a:tcPr>
                    <a:solidFill>
                      <a:srgbClr val="E30622"/>
                    </a:solidFill>
                  </a:tcPr>
                </a:tc>
                <a:tc>
                  <a:txBody>
                    <a:bodyPr/>
                    <a:lstStyle/>
                    <a:p>
                      <a:pPr algn="ctr"/>
                      <a:r>
                        <a:rPr sz="800" b="1">
                          <a:solidFill>
                            <a:srgbClr val="FFFFFF"/>
                          </a:solidFill>
                          <a:latin typeface="Calibri"/>
                        </a:rPr>
                        <a:t>2026</a:t>
                      </a:r>
                    </a:p>
                  </a:txBody>
                  <a:tcPr>
                    <a:solidFill>
                      <a:srgbClr val="E30622"/>
                    </a:solidFill>
                  </a:tcPr>
                </a:tc>
                <a:tc>
                  <a:txBody>
                    <a:bodyPr/>
                    <a:lstStyle/>
                    <a:p>
                      <a:pPr algn="l"/>
                      <a:r>
                        <a:rPr sz="800" b="1">
                          <a:solidFill>
                            <a:srgbClr val="FFFFFF"/>
                          </a:solidFill>
                          <a:latin typeface="Calibri"/>
                        </a:rPr>
                        <a:t>Yorum</a:t>
                      </a:r>
                    </a:p>
                  </a:txBody>
                  <a:tcPr>
                    <a:solidFill>
                      <a:srgbClr val="E30622"/>
                    </a:solidFill>
                  </a:tcPr>
                </a:tc>
              </a:tr>
              <a:tr h="182880">
                <a:tc>
                  <a:txBody>
                    <a:bodyPr/>
                    <a:lstStyle/>
                    <a:p>
                      <a:pPr algn="l"/>
                      <a:r>
                        <a:rPr sz="900" b="0">
                          <a:solidFill>
                            <a:srgbClr val="333333"/>
                          </a:solidFill>
                          <a:latin typeface="Calibri"/>
                        </a:rPr>
                        <a:t>Ortalama alım günü (takvim)</a:t>
                      </a:r>
                    </a:p>
                  </a:txBody>
                  <a:tcPr>
                    <a:solidFill>
                      <a:srgbClr val="FFFFFF"/>
                    </a:solidFill>
                  </a:tcPr>
                </a:tc>
                <a:tc>
                  <a:txBody>
                    <a:bodyPr/>
                    <a:lstStyle/>
                    <a:p>
                      <a:pPr algn="ctr"/>
                      <a:r>
                        <a:rPr sz="900" b="0">
                          <a:solidFill>
                            <a:srgbClr val="333333"/>
                          </a:solidFill>
                          <a:latin typeface="Calibri"/>
                        </a:rPr>
                        <a:t>225. gün</a:t>
                      </a:r>
                    </a:p>
                  </a:txBody>
                  <a:tcPr>
                    <a:solidFill>
                      <a:srgbClr val="FFFFFF"/>
                    </a:solidFill>
                  </a:tcPr>
                </a:tc>
                <a:tc>
                  <a:txBody>
                    <a:bodyPr/>
                    <a:lstStyle/>
                    <a:p>
                      <a:pPr algn="ctr"/>
                      <a:r>
                        <a:rPr sz="900" b="1">
                          <a:solidFill>
                            <a:srgbClr val="333333"/>
                          </a:solidFill>
                          <a:latin typeface="Calibri"/>
                        </a:rPr>
                        <a:t>228. gün</a:t>
                      </a:r>
                    </a:p>
                  </a:txBody>
                  <a:tcPr>
                    <a:solidFill>
                      <a:srgbClr val="FFFFFF"/>
                    </a:solidFill>
                  </a:tcPr>
                </a:tc>
                <a:tc>
                  <a:txBody>
                    <a:bodyPr/>
                    <a:lstStyle/>
                    <a:p>
                      <a:pPr algn="l"/>
                      <a:r>
                        <a:rPr sz="900" b="0">
                          <a:solidFill>
                            <a:srgbClr val="A6001A"/>
                          </a:solidFill>
                          <a:latin typeface="Calibri"/>
                        </a:rPr>
                        <a:t>2026 alımı ortalama 2,5 gün DAHA GEÇ</a:t>
                      </a:r>
                    </a:p>
                  </a:txBody>
                  <a:tcPr>
                    <a:solidFill>
                      <a:srgbClr val="FFFFFF"/>
                    </a:solidFill>
                  </a:tcPr>
                </a:tc>
              </a:tr>
              <a:tr h="182880">
                <a:tc>
                  <a:txBody>
                    <a:bodyPr/>
                    <a:lstStyle/>
                    <a:p>
                      <a:pPr algn="l"/>
                      <a:r>
                        <a:rPr sz="900" b="0">
                          <a:solidFill>
                            <a:srgbClr val="333333"/>
                          </a:solidFill>
                          <a:latin typeface="Calibri"/>
                        </a:rPr>
                        <a:t>Temmuz ve öncesi alınan</a:t>
                      </a:r>
                    </a:p>
                  </a:txBody>
                  <a:tcPr>
                    <a:solidFill>
                      <a:srgbClr val="FAFAFA"/>
                    </a:solidFill>
                  </a:tcPr>
                </a:tc>
                <a:tc>
                  <a:txBody>
                    <a:bodyPr/>
                    <a:lstStyle/>
                    <a:p>
                      <a:pPr algn="ctr"/>
                      <a:r>
                        <a:rPr sz="900" b="0">
                          <a:solidFill>
                            <a:srgbClr val="333333"/>
                          </a:solidFill>
                          <a:latin typeface="Calibri"/>
                        </a:rPr>
                        <a:t>6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azaldı</a:t>
                      </a:r>
                    </a:p>
                  </a:txBody>
                  <a:tcPr>
                    <a:solidFill>
                      <a:srgbClr val="FAFAFA"/>
                    </a:solidFill>
                  </a:tcPr>
                </a:tc>
              </a:tr>
              <a:tr h="182880">
                <a:tc>
                  <a:txBody>
                    <a:bodyPr/>
                    <a:lstStyle/>
                    <a:p>
                      <a:pPr algn="l"/>
                      <a:r>
                        <a:rPr sz="900" b="0">
                          <a:solidFill>
                            <a:srgbClr val="333333"/>
                          </a:solidFill>
                          <a:latin typeface="Calibri"/>
                        </a:rPr>
                        <a:t>Açılıştan 45+ gün önce alınan</a:t>
                      </a:r>
                    </a:p>
                  </a:txBody>
                  <a:tcPr>
                    <a:solidFill>
                      <a:srgbClr val="FFFFFF"/>
                    </a:solidFill>
                  </a:tcPr>
                </a:tc>
                <a:tc>
                  <a:txBody>
                    <a:bodyPr/>
                    <a:lstStyle/>
                    <a:p>
                      <a:pPr algn="ctr"/>
                      <a:r>
                        <a:rPr sz="900" b="0">
                          <a:solidFill>
                            <a:srgbClr val="333333"/>
                          </a:solidFill>
                          <a:latin typeface="Calibri"/>
                        </a:rPr>
                        <a:t>4 kişi</a:t>
                      </a:r>
                    </a:p>
                  </a:txBody>
                  <a:tcPr>
                    <a:solidFill>
                      <a:srgbClr val="FFFFFF"/>
                    </a:solidFill>
                  </a:tcPr>
                </a:tc>
                <a:tc>
                  <a:txBody>
                    <a:bodyPr/>
                    <a:lstStyle/>
                    <a:p>
                      <a:pPr algn="ctr"/>
                      <a:r>
                        <a:rPr sz="900" b="1">
                          <a:solidFill>
                            <a:srgbClr val="333333"/>
                          </a:solidFill>
                          <a:latin typeface="Calibri"/>
                        </a:rPr>
                        <a:t>2 kişi</a:t>
                      </a:r>
                    </a:p>
                  </a:txBody>
                  <a:tcPr>
                    <a:solidFill>
                      <a:srgbClr val="FFFFFF"/>
                    </a:solidFill>
                  </a:tcPr>
                </a:tc>
                <a:tc>
                  <a:txBody>
                    <a:bodyPr/>
                    <a:lstStyle/>
                    <a:p>
                      <a:pPr algn="l"/>
                      <a:r>
                        <a:rPr sz="900" b="0">
                          <a:solidFill>
                            <a:srgbClr val="A6001A"/>
                          </a:solidFill>
                          <a:latin typeface="Calibri"/>
                        </a:rPr>
                        <a:t>çok erken alım azaldı</a:t>
                      </a:r>
                    </a:p>
                  </a:txBody>
                  <a:tcPr>
                    <a:solidFill>
                      <a:srgbClr val="FFFFFF"/>
                    </a:solidFill>
                  </a:tcPr>
                </a:tc>
              </a:tr>
              <a:tr h="182880">
                <a:tc>
                  <a:txBody>
                    <a:bodyPr/>
                    <a:lstStyle/>
                    <a:p>
                      <a:pPr algn="l"/>
                      <a:r>
                        <a:rPr sz="900" b="0">
                          <a:solidFill>
                            <a:srgbClr val="333333"/>
                          </a:solidFill>
                          <a:latin typeface="Calibri"/>
                        </a:rPr>
                        <a:t>1–14 Ağustos alınan</a:t>
                      </a:r>
                    </a:p>
                  </a:txBody>
                  <a:tcPr>
                    <a:solidFill>
                      <a:srgbClr val="FAFAFA"/>
                    </a:solidFill>
                  </a:tcPr>
                </a:tc>
                <a:tc>
                  <a:txBody>
                    <a:bodyPr/>
                    <a:lstStyle/>
                    <a:p>
                      <a:pPr algn="ctr"/>
                      <a:r>
                        <a:rPr sz="900" b="0">
                          <a:solidFill>
                            <a:srgbClr val="333333"/>
                          </a:solidFill>
                          <a:latin typeface="Calibri"/>
                        </a:rPr>
                        <a:t>12 kişi</a:t>
                      </a:r>
                    </a:p>
                  </a:txBody>
                  <a:tcPr>
                    <a:solidFill>
                      <a:srgbClr val="FAFAFA"/>
                    </a:solidFill>
                  </a:tcPr>
                </a:tc>
                <a:tc>
                  <a:txBody>
                    <a:bodyPr/>
                    <a:lstStyle/>
                    <a:p>
                      <a:pPr algn="ctr"/>
                      <a:r>
                        <a:rPr sz="900" b="1">
                          <a:solidFill>
                            <a:srgbClr val="333333"/>
                          </a:solidFill>
                          <a:latin typeface="Calibri"/>
                        </a:rPr>
                        <a:t>30 kişi</a:t>
                      </a:r>
                    </a:p>
                  </a:txBody>
                  <a:tcPr>
                    <a:solidFill>
                      <a:srgbClr val="FAFAFA"/>
                    </a:solidFill>
                  </a:tcPr>
                </a:tc>
                <a:tc>
                  <a:txBody>
                    <a:bodyPr/>
                    <a:lstStyle/>
                    <a:p>
                      <a:pPr algn="l"/>
                      <a:r>
                        <a:rPr sz="900" b="0">
                          <a:solidFill>
                            <a:srgbClr val="A6001A"/>
                          </a:solidFill>
                          <a:latin typeface="Calibri"/>
                        </a:rPr>
                        <a:t>artış bu iki haftada</a:t>
                      </a:r>
                    </a:p>
                  </a:txBody>
                  <a:tcPr>
                    <a:solidFill>
                      <a:srgbClr val="FAFAFA"/>
                    </a:solidFill>
                  </a:tcPr>
                </a:tc>
              </a:tr>
              <a:tr h="182880">
                <a:tc>
                  <a:txBody>
                    <a:bodyPr/>
                    <a:lstStyle/>
                    <a:p>
                      <a:pPr algn="l"/>
                      <a:r>
                        <a:rPr sz="900" b="0">
                          <a:solidFill>
                            <a:srgbClr val="333333"/>
                          </a:solidFill>
                          <a:latin typeface="Calibri"/>
                        </a:rPr>
                        <a:t>1–14 Ağustos ürün adedi</a:t>
                      </a:r>
                    </a:p>
                  </a:txBody>
                  <a:tcPr>
                    <a:solidFill>
                      <a:srgbClr val="FFFFFF"/>
                    </a:solidFill>
                  </a:tcPr>
                </a:tc>
                <a:tc>
                  <a:txBody>
                    <a:bodyPr/>
                    <a:lstStyle/>
                    <a:p>
                      <a:pPr algn="ctr"/>
                      <a:r>
                        <a:rPr sz="900" b="0">
                          <a:solidFill>
                            <a:srgbClr val="333333"/>
                          </a:solidFill>
                          <a:latin typeface="Calibri"/>
                        </a:rPr>
                        <a:t>137.483</a:t>
                      </a:r>
                    </a:p>
                  </a:txBody>
                  <a:tcPr>
                    <a:solidFill>
                      <a:srgbClr val="FFFFFF"/>
                    </a:solidFill>
                  </a:tcPr>
                </a:tc>
                <a:tc>
                  <a:txBody>
                    <a:bodyPr/>
                    <a:lstStyle/>
                    <a:p>
                      <a:pPr algn="ctr"/>
                      <a:r>
                        <a:rPr sz="900" b="1">
                          <a:solidFill>
                            <a:srgbClr val="333333"/>
                          </a:solidFill>
                          <a:latin typeface="Calibri"/>
                        </a:rPr>
                        <a:t>171.957</a:t>
                      </a:r>
                    </a:p>
                  </a:txBody>
                  <a:tcPr>
                    <a:solidFill>
                      <a:srgbClr val="FFFFFF"/>
                    </a:solidFill>
                  </a:tcPr>
                </a:tc>
                <a:tc>
                  <a:txBody>
                    <a:bodyPr/>
                    <a:lstStyle/>
                    <a:p>
                      <a:pPr algn="l"/>
                      <a:r>
                        <a:rPr sz="900" b="0">
                          <a:solidFill>
                            <a:srgbClr val="A6001A"/>
                          </a:solidFill>
                          <a:latin typeface="Calibri"/>
                        </a:rPr>
                        <a:t>iş +%25,1 büyüdü — alım işi takip etti</a:t>
                      </a:r>
                    </a:p>
                  </a:txBody>
                  <a:tcPr>
                    <a:solidFill>
                      <a:srgbClr val="FFFFFF"/>
                    </a:solidFill>
                  </a:tcPr>
                </a:tc>
              </a:tr>
              <a:tr h="182880">
                <a:tc>
                  <a:txBody>
                    <a:bodyPr/>
                    <a:lstStyle/>
                    <a:p>
                      <a:pPr algn="l"/>
                      <a:r>
                        <a:rPr sz="900" b="0">
                          <a:solidFill>
                            <a:srgbClr val="333333"/>
                          </a:solidFill>
                          <a:latin typeface="Calibri"/>
                        </a:rPr>
                        <a:t>15–31 Ağustos ürün adedi</a:t>
                      </a:r>
                    </a:p>
                  </a:txBody>
                  <a:tcPr>
                    <a:solidFill>
                      <a:srgbClr val="FAFAFA"/>
                    </a:solidFill>
                  </a:tcPr>
                </a:tc>
                <a:tc>
                  <a:txBody>
                    <a:bodyPr/>
                    <a:lstStyle/>
                    <a:p>
                      <a:pPr algn="ctr"/>
                      <a:r>
                        <a:rPr sz="900" b="0">
                          <a:solidFill>
                            <a:srgbClr val="333333"/>
                          </a:solidFill>
                          <a:latin typeface="Calibri"/>
                        </a:rPr>
                        <a:t>320.776</a:t>
                      </a:r>
                    </a:p>
                  </a:txBody>
                  <a:tcPr>
                    <a:solidFill>
                      <a:srgbClr val="FAFAFA"/>
                    </a:solidFill>
                  </a:tcPr>
                </a:tc>
                <a:tc>
                  <a:txBody>
                    <a:bodyPr/>
                    <a:lstStyle/>
                    <a:p>
                      <a:pPr algn="ctr"/>
                      <a:r>
                        <a:rPr sz="900" b="1">
                          <a:solidFill>
                            <a:srgbClr val="333333"/>
                          </a:solidFill>
                          <a:latin typeface="Calibri"/>
                        </a:rPr>
                        <a:t>311.542</a:t>
                      </a:r>
                    </a:p>
                  </a:txBody>
                  <a:tcPr>
                    <a:solidFill>
                      <a:srgbClr val="FAFAFA"/>
                    </a:solidFill>
                  </a:tcPr>
                </a:tc>
                <a:tc>
                  <a:txBody>
                    <a:bodyPr/>
                    <a:lstStyle/>
                    <a:p>
                      <a:pPr algn="l"/>
                      <a:r>
                        <a:rPr sz="900" b="0">
                          <a:solidFill>
                            <a:srgbClr val="A6001A"/>
                          </a:solidFill>
                          <a:latin typeface="Calibri"/>
                        </a:rPr>
                        <a:t>−%2,9 — dalga Eylül'e kaydı</a:t>
                      </a:r>
                    </a:p>
                  </a:txBody>
                  <a:tcPr>
                    <a:solidFill>
                      <a:srgbClr val="FAFAFA"/>
                    </a:solidFill>
                  </a:tcPr>
                </a:tc>
              </a:tr>
              <a:tr h="182880">
                <a:tc>
                  <a:txBody>
                    <a:bodyPr/>
                    <a:lstStyle/>
                    <a:p>
                      <a:pPr algn="l"/>
                      <a:r>
                        <a:rPr sz="900" b="0">
                          <a:solidFill>
                            <a:srgbClr val="333333"/>
                          </a:solidFill>
                          <a:latin typeface="Calibri"/>
                        </a:rPr>
                        <a:t>31.08'de çalışan sezonluk</a:t>
                      </a:r>
                    </a:p>
                  </a:txBody>
                  <a:tcPr>
                    <a:solidFill>
                      <a:srgbClr val="FFFFFF"/>
                    </a:solidFill>
                  </a:tcPr>
                </a:tc>
                <a:tc>
                  <a:txBody>
                    <a:bodyPr/>
                    <a:lstStyle/>
                    <a:p>
                      <a:pPr algn="ctr"/>
                      <a:r>
                        <a:rPr sz="900" b="0">
                          <a:solidFill>
                            <a:srgbClr val="333333"/>
                          </a:solidFill>
                          <a:latin typeface="Calibri"/>
                        </a:rPr>
                        <a:t>65 kişi</a:t>
                      </a:r>
                    </a:p>
                  </a:txBody>
                  <a:tcPr>
                    <a:solidFill>
                      <a:srgbClr val="FFFFFF"/>
                    </a:solidFill>
                  </a:tcPr>
                </a:tc>
                <a:tc>
                  <a:txBody>
                    <a:bodyPr/>
                    <a:lstStyle/>
                    <a:p>
                      <a:pPr algn="ctr"/>
                      <a:r>
                        <a:rPr sz="900" b="1">
                          <a:solidFill>
                            <a:srgbClr val="333333"/>
                          </a:solidFill>
                          <a:latin typeface="Calibri"/>
                        </a:rPr>
                        <a:t>62 kişi</a:t>
                      </a:r>
                    </a:p>
                  </a:txBody>
                  <a:tcPr>
                    <a:solidFill>
                      <a:srgbClr val="FFFFFF"/>
                    </a:solidFill>
                  </a:tcPr>
                </a:tc>
                <a:tc>
                  <a:txBody>
                    <a:bodyPr/>
                    <a:lstStyle/>
                    <a:p>
                      <a:pPr algn="l"/>
                      <a:r>
                        <a:rPr sz="900" b="0">
                          <a:solidFill>
                            <a:srgbClr val="A6001A"/>
                          </a:solidFill>
                          <a:latin typeface="Calibri"/>
                        </a:rPr>
                        <a:t>kesimde 3 kişi DAHA AZ</a:t>
                      </a:r>
                    </a:p>
                  </a:txBody>
                  <a:tcPr>
                    <a:solidFill>
                      <a:srgbClr val="FFFFFF"/>
                    </a:solidFill>
                  </a:tcPr>
                </a:tc>
              </a:tr>
              <a:tr h="182880">
                <a:tc>
                  <a:txBody>
                    <a:bodyPr/>
                    <a:lstStyle/>
                    <a:p>
                      <a:pPr algn="l"/>
                      <a:r>
                        <a:rPr sz="900" b="0">
                          <a:solidFill>
                            <a:srgbClr val="333333"/>
                          </a:solidFill>
                          <a:latin typeface="Calibri"/>
                        </a:rPr>
                        <a:t>   — Temmuz alımı</a:t>
                      </a:r>
                    </a:p>
                  </a:txBody>
                  <a:tcPr>
                    <a:solidFill>
                      <a:srgbClr val="FAFAFA"/>
                    </a:solidFill>
                  </a:tcPr>
                </a:tc>
                <a:tc>
                  <a:txBody>
                    <a:bodyPr/>
                    <a:lstStyle/>
                    <a:p>
                      <a:pPr algn="ctr"/>
                      <a:r>
                        <a:rPr sz="900" b="0">
                          <a:solidFill>
                            <a:srgbClr val="333333"/>
                          </a:solidFill>
                          <a:latin typeface="Calibri"/>
                        </a:rPr>
                        <a:t>4 kişi</a:t>
                      </a:r>
                    </a:p>
                  </a:txBody>
                  <a:tcPr>
                    <a:solidFill>
                      <a:srgbClr val="FAFAFA"/>
                    </a:solidFill>
                  </a:tcPr>
                </a:tc>
                <a:tc>
                  <a:txBody>
                    <a:bodyPr/>
                    <a:lstStyle/>
                    <a:p>
                      <a:pPr algn="ctr"/>
                      <a:r>
                        <a:rPr sz="900" b="1">
                          <a:solidFill>
                            <a:srgbClr val="333333"/>
                          </a:solidFill>
                          <a:latin typeface="Calibri"/>
                        </a:rPr>
                        <a:t>2 kişi</a:t>
                      </a:r>
                    </a:p>
                  </a:txBody>
                  <a:tcPr>
                    <a:solidFill>
                      <a:srgbClr val="FAFAFA"/>
                    </a:solidFill>
                  </a:tcPr>
                </a:tc>
                <a:tc>
                  <a:txBody>
                    <a:bodyPr/>
                    <a:lstStyle/>
                    <a:p>
                      <a:pPr algn="l"/>
                      <a:r>
                        <a:rPr sz="900" b="0">
                          <a:solidFill>
                            <a:srgbClr val="A6001A"/>
                          </a:solidFill>
                          <a:latin typeface="Calibri"/>
                        </a:rPr>
                        <a:t>erken alım payı düştü</a:t>
                      </a:r>
                    </a:p>
                  </a:txBody>
                  <a:tcPr>
                    <a:solidFill>
                      <a:srgbClr val="FAFAFA"/>
                    </a:solidFill>
                  </a:tcPr>
                </a:tc>
              </a:tr>
              <a:tr h="182880">
                <a:tc>
                  <a:txBody>
                    <a:bodyPr/>
                    <a:lstStyle/>
                    <a:p>
                      <a:pPr algn="l"/>
                      <a:r>
                        <a:rPr sz="900" b="0">
                          <a:solidFill>
                            <a:srgbClr val="333333"/>
                          </a:solidFill>
                          <a:latin typeface="Calibri"/>
                        </a:rPr>
                        <a:t>   — 1–14 Ağustos alımı</a:t>
                      </a:r>
                    </a:p>
                  </a:txBody>
                  <a:tcPr>
                    <a:solidFill>
                      <a:srgbClr val="FFFFFF"/>
                    </a:solidFill>
                  </a:tcPr>
                </a:tc>
                <a:tc>
                  <a:txBody>
                    <a:bodyPr/>
                    <a:lstStyle/>
                    <a:p>
                      <a:pPr algn="ctr"/>
                      <a:r>
                        <a:rPr sz="900" b="0">
                          <a:solidFill>
                            <a:srgbClr val="333333"/>
                          </a:solidFill>
                          <a:latin typeface="Calibri"/>
                        </a:rPr>
                        <a:t>12 kişi</a:t>
                      </a:r>
                    </a:p>
                  </a:txBody>
                  <a:tcPr>
                    <a:solidFill>
                      <a:srgbClr val="FFFFFF"/>
                    </a:solidFill>
                  </a:tcPr>
                </a:tc>
                <a:tc>
                  <a:txBody>
                    <a:bodyPr/>
                    <a:lstStyle/>
                    <a:p>
                      <a:pPr algn="ctr"/>
                      <a:r>
                        <a:rPr sz="900" b="1">
                          <a:solidFill>
                            <a:srgbClr val="333333"/>
                          </a:solidFill>
                          <a:latin typeface="Calibri"/>
                        </a:rPr>
                        <a:t>27 kişi</a:t>
                      </a:r>
                    </a:p>
                  </a:txBody>
                  <a:tcPr>
                    <a:solidFill>
                      <a:srgbClr val="FFFFFF"/>
                    </a:solidFill>
                  </a:tcPr>
                </a:tc>
                <a:tc>
                  <a:txBody>
                    <a:bodyPr/>
                    <a:lstStyle/>
                    <a:p>
                      <a:pPr algn="l"/>
                      <a:r>
                        <a:rPr sz="900" b="0">
                          <a:solidFill>
                            <a:srgbClr val="A6001A"/>
                          </a:solidFill>
                          <a:latin typeface="Calibri"/>
                        </a:rPr>
                        <a:t>iş +%25,1 büyüyen dönem</a:t>
                      </a:r>
                    </a:p>
                  </a:txBody>
                  <a:tcPr>
                    <a:solidFill>
                      <a:srgbClr val="FFFFFF"/>
                    </a:solidFill>
                  </a:tcPr>
                </a:tc>
              </a:tr>
              <a:tr h="182880">
                <a:tc>
                  <a:txBody>
                    <a:bodyPr/>
                    <a:lstStyle/>
                    <a:p>
                      <a:pPr algn="l"/>
                      <a:r>
                        <a:rPr sz="900" b="0">
                          <a:solidFill>
                            <a:srgbClr val="333333"/>
                          </a:solidFill>
                          <a:latin typeface="Calibri"/>
                        </a:rPr>
                        <a:t>   — 15–31 Ağustos alımı</a:t>
                      </a:r>
                    </a:p>
                  </a:txBody>
                  <a:tcPr>
                    <a:solidFill>
                      <a:srgbClr val="FAFAFA"/>
                    </a:solidFill>
                  </a:tcPr>
                </a:tc>
                <a:tc>
                  <a:txBody>
                    <a:bodyPr/>
                    <a:lstStyle/>
                    <a:p>
                      <a:pPr algn="ctr"/>
                      <a:r>
                        <a:rPr sz="900" b="0">
                          <a:solidFill>
                            <a:srgbClr val="333333"/>
                          </a:solidFill>
                          <a:latin typeface="Calibri"/>
                        </a:rPr>
                        <a:t>49 kişi</a:t>
                      </a:r>
                    </a:p>
                  </a:txBody>
                  <a:tcPr>
                    <a:solidFill>
                      <a:srgbClr val="FAFAFA"/>
                    </a:solidFill>
                  </a:tcPr>
                </a:tc>
                <a:tc>
                  <a:txBody>
                    <a:bodyPr/>
                    <a:lstStyle/>
                    <a:p>
                      <a:pPr algn="ctr"/>
                      <a:r>
                        <a:rPr sz="900" b="1">
                          <a:solidFill>
                            <a:srgbClr val="333333"/>
                          </a:solidFill>
                          <a:latin typeface="Calibri"/>
                        </a:rPr>
                        <a:t>32 kişi</a:t>
                      </a:r>
                    </a:p>
                  </a:txBody>
                  <a:tcPr>
                    <a:solidFill>
                      <a:srgbClr val="FAFAFA"/>
                    </a:solidFill>
                  </a:tcPr>
                </a:tc>
                <a:tc>
                  <a:txBody>
                    <a:bodyPr/>
                    <a:lstStyle/>
                    <a:p>
                      <a:pPr algn="l"/>
                      <a:r>
                        <a:rPr sz="900" b="0">
                          <a:solidFill>
                            <a:srgbClr val="A6001A"/>
                          </a:solidFill>
                          <a:latin typeface="Calibri"/>
                        </a:rPr>
                        <a:t>iş −%2,9 → alım azaltıldı</a:t>
                      </a:r>
                    </a:p>
                  </a:txBody>
                  <a:tcPr>
                    <a:solidFill>
                      <a:srgbClr val="FAFAFA"/>
                    </a:solidFill>
                  </a:tcPr>
                </a:tc>
              </a:tr>
            </a:tbl>
          </a:graphicData>
        </a:graphic>
      </p:graphicFrame>
      <p:sp>
        <p:nvSpPr>
          <p:cNvPr id="22" name="TextBox 21"/>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İK'da düzeltme bekleyen 1 kayıt: 2025 girişli bir sezonluk personel çıkış tarihi işlenmediği için 31.08'de aktif görünüyor; düzeltilince sezonluk 62 → 61 olur (rakamlar İK'nın resmi kaydıyla birebir tutulsun diye şimdilik düzeltilmedi) · Kapsam: beş mağaza (FSM · Özlüce · İst. Yolu · Heykel · Şura) · Kohortlar okul açılışına göre AYNI ofsette kesildi (T−12: 27.08.2025 ve 02.09.2026) · İş hacmi üç POS mağazası · ⚠ "açılıştan kaç gün önce" ölçüsü açılış 6 gün kaydığı için 2026'yı mekanik olarak erken gösterir, takvim ölçüsü esastır.</a:t>
            </a:r>
          </a:p>
        </p:txBody>
      </p:sp>
      <p:sp>
        <p:nvSpPr>
          <p:cNvPr id="23" name="TextBox 22"/>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Yöntem ve Açıklamalar</a:t>
            </a:r>
          </a:p>
        </p:txBody>
      </p:sp>
      <p:sp>
        <p:nvSpPr>
          <p:cNvPr id="3" name="Rectangle 2"/>
          <p:cNvSpPr/>
          <p:nvPr/>
        </p:nvSpPr>
        <p:spPr>
          <a:xfrm>
            <a:off x="548640" y="1325880"/>
            <a:ext cx="11018520" cy="740664"/>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25880"/>
            <a:ext cx="68580" cy="740664"/>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ircle-check.png"/>
          <p:cNvPicPr>
            <a:picLocks noChangeAspect="1"/>
          </p:cNvPicPr>
          <p:nvPr/>
        </p:nvPicPr>
        <p:blipFill>
          <a:blip r:embed="rId3"/>
          <a:stretch>
            <a:fillRect/>
          </a:stretch>
        </p:blipFill>
        <p:spPr>
          <a:xfrm>
            <a:off x="777240" y="1453895"/>
            <a:ext cx="256032" cy="256032"/>
          </a:xfrm>
          <a:prstGeom prst="rect">
            <a:avLst/>
          </a:prstGeom>
        </p:spPr>
      </p:pic>
      <p:sp>
        <p:nvSpPr>
          <p:cNvPr id="6" name="TextBox 5"/>
          <p:cNvSpPr txBox="1"/>
          <p:nvPr/>
        </p:nvSpPr>
        <p:spPr>
          <a:xfrm>
            <a:off x="1143000" y="1389888"/>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Büyüme kurumsal kanaldan mı geldi?</a:t>
            </a:r>
          </a:p>
        </p:txBody>
      </p:sp>
      <p:sp>
        <p:nvSpPr>
          <p:cNvPr id="7" name="TextBox 6"/>
          <p:cNvSpPr txBox="1"/>
          <p:nvPr/>
        </p:nvSpPr>
        <p:spPr>
          <a:xfrm>
            <a:off x="1143000" y="1673352"/>
            <a:ext cx="10058400" cy="356615"/>
          </a:xfrm>
          <a:prstGeom prst="rect">
            <a:avLst/>
          </a:prstGeom>
          <a:noFill/>
        </p:spPr>
        <p:txBody>
          <a:bodyPr wrap="square" anchor="t">
            <a:spAutoFit/>
          </a:bodyPr>
          <a:lstStyle/>
          <a:p>
            <a:pPr algn="l">
              <a:lnSpc>
                <a:spcPct val="106000"/>
              </a:lnSpc>
            </a:pPr>
            <a:r>
              <a:rPr sz="950" b="0">
                <a:solidFill>
                  <a:srgbClr val="333333"/>
                </a:solidFill>
                <a:latin typeface="Calibri"/>
              </a:rPr>
              <a:t>Tersi: Sınav Okulları küçüldü. Ocak–Ağustos cirosu 136,2 → 105,6 milyon TL (−%22,4). Mağaza tarafı +%54,9 büyüdü — büyümenin tamamı raftan geldi.</a:t>
            </a:r>
          </a:p>
        </p:txBody>
      </p:sp>
      <p:sp>
        <p:nvSpPr>
          <p:cNvPr id="8" name="Rectangle 7"/>
          <p:cNvSpPr/>
          <p:nvPr/>
        </p:nvSpPr>
        <p:spPr>
          <a:xfrm>
            <a:off x="548640" y="2157984"/>
            <a:ext cx="11018520" cy="740664"/>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157984"/>
            <a:ext cx="68580" cy="740664"/>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ircle-check.png"/>
          <p:cNvPicPr>
            <a:picLocks noChangeAspect="1"/>
          </p:cNvPicPr>
          <p:nvPr/>
        </p:nvPicPr>
        <p:blipFill>
          <a:blip r:embed="rId3"/>
          <a:stretch>
            <a:fillRect/>
          </a:stretch>
        </p:blipFill>
        <p:spPr>
          <a:xfrm>
            <a:off x="777240" y="2286000"/>
            <a:ext cx="256032" cy="256032"/>
          </a:xfrm>
          <a:prstGeom prst="rect">
            <a:avLst/>
          </a:prstGeom>
        </p:spPr>
      </p:pic>
      <p:sp>
        <p:nvSpPr>
          <p:cNvPr id="11" name="TextBox 10"/>
          <p:cNvSpPr txBox="1"/>
          <p:nvPr/>
        </p:nvSpPr>
        <p:spPr>
          <a:xfrm>
            <a:off x="1143000" y="2221991"/>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Ciro artışı enflasyon kaynaklı mı?</a:t>
            </a:r>
          </a:p>
        </p:txBody>
      </p:sp>
      <p:sp>
        <p:nvSpPr>
          <p:cNvPr id="12" name="TextBox 11"/>
          <p:cNvSpPr txBox="1"/>
          <p:nvPr/>
        </p:nvSpPr>
        <p:spPr>
          <a:xfrm>
            <a:off x="1143000" y="2505456"/>
            <a:ext cx="10058400" cy="356615"/>
          </a:xfrm>
          <a:prstGeom prst="rect">
            <a:avLst/>
          </a:prstGeom>
          <a:noFill/>
        </p:spPr>
        <p:txBody>
          <a:bodyPr wrap="square" anchor="t">
            <a:spAutoFit/>
          </a:bodyPr>
          <a:lstStyle/>
          <a:p>
            <a:pPr algn="l">
              <a:lnSpc>
                <a:spcPct val="106000"/>
              </a:lnSpc>
            </a:pPr>
            <a:r>
              <a:rPr sz="950" b="0">
                <a:solidFill>
                  <a:srgbClr val="333333"/>
                </a:solidFill>
                <a:latin typeface="Calibri"/>
              </a:rPr>
              <a:t>Kısmen doğru: eşleşen ürünlerde fiyat endeksi +%19,8. Bu yüzden savunma ciroya değil ADEDE dayanıyor: ürün adedi +%34,9 ve adet fiyattan etkilenmez.</a:t>
            </a:r>
          </a:p>
        </p:txBody>
      </p:sp>
      <p:sp>
        <p:nvSpPr>
          <p:cNvPr id="13" name="Rectangle 12"/>
          <p:cNvSpPr/>
          <p:nvPr/>
        </p:nvSpPr>
        <p:spPr>
          <a:xfrm>
            <a:off x="548640" y="2990087"/>
            <a:ext cx="11018520" cy="740664"/>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990087"/>
            <a:ext cx="68580" cy="740664"/>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ircle-check.png"/>
          <p:cNvPicPr>
            <a:picLocks noChangeAspect="1"/>
          </p:cNvPicPr>
          <p:nvPr/>
        </p:nvPicPr>
        <p:blipFill>
          <a:blip r:embed="rId3"/>
          <a:stretch>
            <a:fillRect/>
          </a:stretch>
        </p:blipFill>
        <p:spPr>
          <a:xfrm>
            <a:off x="777240" y="3118103"/>
            <a:ext cx="256032" cy="256032"/>
          </a:xfrm>
          <a:prstGeom prst="rect">
            <a:avLst/>
          </a:prstGeom>
        </p:spPr>
      </p:pic>
      <p:sp>
        <p:nvSpPr>
          <p:cNvPr id="16" name="TextBox 15"/>
          <p:cNvSpPr txBox="1"/>
          <p:nvPr/>
        </p:nvSpPr>
        <p:spPr>
          <a:xfrm>
            <a:off x="1143000" y="3054095"/>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Kasa sistemi değişti, karşılaştırma geçerli mi?</a:t>
            </a:r>
          </a:p>
        </p:txBody>
      </p:sp>
      <p:sp>
        <p:nvSpPr>
          <p:cNvPr id="17" name="TextBox 16"/>
          <p:cNvSpPr txBox="1"/>
          <p:nvPr/>
        </p:nvSpPr>
        <p:spPr>
          <a:xfrm>
            <a:off x="1143000" y="3337559"/>
            <a:ext cx="10058400" cy="356615"/>
          </a:xfrm>
          <a:prstGeom prst="rect">
            <a:avLst/>
          </a:prstGeom>
          <a:noFill/>
        </p:spPr>
        <p:txBody>
          <a:bodyPr wrap="square" anchor="t">
            <a:spAutoFit/>
          </a:bodyPr>
          <a:lstStyle/>
          <a:p>
            <a:pPr algn="l">
              <a:lnSpc>
                <a:spcPct val="106000"/>
              </a:lnSpc>
            </a:pPr>
            <a:r>
              <a:rPr sz="950" b="0">
                <a:solidFill>
                  <a:srgbClr val="333333"/>
                </a:solidFill>
                <a:latin typeface="Calibri"/>
              </a:rPr>
              <a:t>Bu yüzden ölçüm POS'tan değil ERP'den (DerinSIS) alındı — iki yılda da aynı kaynak, aynı belge tipi. Temmuz 2025 kasa geçişi ölçüye girmiyor.</a:t>
            </a:r>
          </a:p>
        </p:txBody>
      </p:sp>
      <p:sp>
        <p:nvSpPr>
          <p:cNvPr id="18" name="Rectangle 17"/>
          <p:cNvSpPr/>
          <p:nvPr/>
        </p:nvSpPr>
        <p:spPr>
          <a:xfrm>
            <a:off x="548640" y="3822191"/>
            <a:ext cx="11018520" cy="740664"/>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3822191"/>
            <a:ext cx="68580" cy="740664"/>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png"/>
          <p:cNvPicPr>
            <a:picLocks noChangeAspect="1"/>
          </p:cNvPicPr>
          <p:nvPr/>
        </p:nvPicPr>
        <p:blipFill>
          <a:blip r:embed="rId3"/>
          <a:stretch>
            <a:fillRect/>
          </a:stretch>
        </p:blipFill>
        <p:spPr>
          <a:xfrm>
            <a:off x="777240" y="3950207"/>
            <a:ext cx="256032" cy="256032"/>
          </a:xfrm>
          <a:prstGeom prst="rect">
            <a:avLst/>
          </a:prstGeom>
        </p:spPr>
      </p:pic>
      <p:sp>
        <p:nvSpPr>
          <p:cNvPr id="21" name="TextBox 20"/>
          <p:cNvSpPr txBox="1"/>
          <p:nvPr/>
        </p:nvSpPr>
        <p:spPr>
          <a:xfrm>
            <a:off x="1143000" y="3886200"/>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Sezonluk personel erken mi alındı?</a:t>
            </a:r>
          </a:p>
        </p:txBody>
      </p:sp>
      <p:sp>
        <p:nvSpPr>
          <p:cNvPr id="22" name="TextBox 21"/>
          <p:cNvSpPr txBox="1"/>
          <p:nvPr/>
        </p:nvSpPr>
        <p:spPr>
          <a:xfrm>
            <a:off x="1143000" y="4169663"/>
            <a:ext cx="10058400" cy="356615"/>
          </a:xfrm>
          <a:prstGeom prst="rect">
            <a:avLst/>
          </a:prstGeom>
          <a:noFill/>
        </p:spPr>
        <p:txBody>
          <a:bodyPr wrap="square" anchor="t">
            <a:spAutoFit/>
          </a:bodyPr>
          <a:lstStyle/>
          <a:p>
            <a:pPr algn="l">
              <a:lnSpc>
                <a:spcPct val="106000"/>
              </a:lnSpc>
            </a:pPr>
            <a:r>
              <a:rPr sz="950" b="0">
                <a:solidFill>
                  <a:srgbClr val="333333"/>
                </a:solidFill>
                <a:latin typeface="Calibri"/>
              </a:rPr>
              <a:t>Hayır: takvim ölçüsünde 2026 alımı ortalama 2,5 gün DAHA GEÇ; Temmuz ve öncesi alım 6 kişiden 2'ye indi. Artış 1–14 Ağustos'ta ve o iki haftada ürün adedi +%25,1 büyüdü — alım işi takip etti.</a:t>
            </a:r>
          </a:p>
        </p:txBody>
      </p:sp>
      <p:sp>
        <p:nvSpPr>
          <p:cNvPr id="23" name="Rectangle 22"/>
          <p:cNvSpPr/>
          <p:nvPr/>
        </p:nvSpPr>
        <p:spPr>
          <a:xfrm>
            <a:off x="548640" y="4654296"/>
            <a:ext cx="11018520" cy="740664"/>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4654296"/>
            <a:ext cx="68580" cy="740664"/>
          </a:xfrm>
          <a:prstGeom prst="rect">
            <a:avLst/>
          </a:prstGeom>
          <a:solidFill>
            <a:srgbClr val="E306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ircle-check.png"/>
          <p:cNvPicPr>
            <a:picLocks noChangeAspect="1"/>
          </p:cNvPicPr>
          <p:nvPr/>
        </p:nvPicPr>
        <p:blipFill>
          <a:blip r:embed="rId3"/>
          <a:stretch>
            <a:fillRect/>
          </a:stretch>
        </p:blipFill>
        <p:spPr>
          <a:xfrm>
            <a:off x="777240" y="4782312"/>
            <a:ext cx="256032" cy="256032"/>
          </a:xfrm>
          <a:prstGeom prst="rect">
            <a:avLst/>
          </a:prstGeom>
        </p:spPr>
      </p:pic>
      <p:sp>
        <p:nvSpPr>
          <p:cNvPr id="26" name="TextBox 25"/>
          <p:cNvSpPr txBox="1"/>
          <p:nvPr/>
        </p:nvSpPr>
        <p:spPr>
          <a:xfrm>
            <a:off x="1143000" y="4718304"/>
            <a:ext cx="10058400" cy="292608"/>
          </a:xfrm>
          <a:prstGeom prst="rect">
            <a:avLst/>
          </a:prstGeom>
          <a:noFill/>
        </p:spPr>
        <p:txBody>
          <a:bodyPr wrap="square" anchor="t">
            <a:spAutoFit/>
          </a:bodyPr>
          <a:lstStyle/>
          <a:p>
            <a:pPr algn="l">
              <a:lnSpc>
                <a:spcPct val="100000"/>
              </a:lnSpc>
            </a:pPr>
            <a:r>
              <a:rPr sz="1150" b="1">
                <a:solidFill>
                  <a:srgbClr val="A6001A"/>
                </a:solidFill>
                <a:latin typeface="Calibri"/>
              </a:rPr>
              <a:t>Ağustos ayında ivme düşüşü var mı?</a:t>
            </a:r>
          </a:p>
        </p:txBody>
      </p:sp>
      <p:sp>
        <p:nvSpPr>
          <p:cNvPr id="27" name="TextBox 26"/>
          <p:cNvSpPr txBox="1"/>
          <p:nvPr/>
        </p:nvSpPr>
        <p:spPr>
          <a:xfrm>
            <a:off x="1143000" y="5001768"/>
            <a:ext cx="10058400" cy="356615"/>
          </a:xfrm>
          <a:prstGeom prst="rect">
            <a:avLst/>
          </a:prstGeom>
          <a:noFill/>
        </p:spPr>
        <p:txBody>
          <a:bodyPr wrap="square" anchor="t">
            <a:spAutoFit/>
          </a:bodyPr>
          <a:lstStyle/>
          <a:p>
            <a:pPr algn="l">
              <a:lnSpc>
                <a:spcPct val="106000"/>
              </a:lnSpc>
            </a:pPr>
            <a:r>
              <a:rPr sz="950" b="0">
                <a:solidFill>
                  <a:srgbClr val="333333"/>
                </a:solidFill>
                <a:latin typeface="Calibri"/>
              </a:rPr>
              <a:t>Takvim etkisi: okullar 2025'te 8 Eylül, 2026'da 14 Eylül açıldı — sezon 6 gün geriye kaydı. Açılışa hizalanınca haftalık büyüme %65–79 bandında düz seyrediyor.</a:t>
            </a:r>
          </a:p>
        </p:txBody>
      </p:sp>
      <p:sp>
        <p:nvSpPr>
          <p:cNvPr id="28" name="TextBox 27"/>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üç POS mağazası — FSM · Özlüce · İst. Yolu · Dönem: 01.01 – 31.08 (her iki yıl, kümülatif) (kurumsal/mağaza kıyası) · hizalı dönem: 01.07 – 25.08.2025 (2025) · 07.07 – 31.08.2026 (2026), her iki yıl 56 gün, okul açılışına hizalı</a:t>
            </a:r>
          </a:p>
        </p:txBody>
      </p:sp>
      <p:sp>
        <p:nvSpPr>
          <p:cNvPr id="29" name="TextBox 28"/>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title"/>
          </p:nvPr>
        </p:nvSpPr>
        <p:spPr>
          <a:xfrm>
            <a:off x="548640" y="274320"/>
            <a:ext cx="11018520" cy="914400"/>
          </a:xfrm>
        </p:spPr>
        <p:txBody>
          <a:bodyPr/>
          <a:lstStyle/>
          <a:p>
            <a:r>
              <a:t>İyileştirme Alanı</a:t>
            </a:r>
          </a:p>
        </p:txBody>
      </p:sp>
      <p:sp>
        <p:nvSpPr>
          <p:cNvPr id="3" name="Rectangle 2"/>
          <p:cNvSpPr/>
          <p:nvPr/>
        </p:nvSpPr>
        <p:spPr>
          <a:xfrm>
            <a:off x="54864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371600"/>
            <a:ext cx="68580" cy="2286000"/>
          </a:xfrm>
          <a:prstGeom prst="rect">
            <a:avLst/>
          </a:prstGeom>
          <a:solidFill>
            <a:srgbClr val="A60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lert-triangle.png"/>
          <p:cNvPicPr>
            <a:picLocks noChangeAspect="1"/>
          </p:cNvPicPr>
          <p:nvPr/>
        </p:nvPicPr>
        <p:blipFill>
          <a:blip r:embed="rId3"/>
          <a:stretch>
            <a:fillRect/>
          </a:stretch>
        </p:blipFill>
        <p:spPr>
          <a:xfrm>
            <a:off x="5468112" y="1536192"/>
            <a:ext cx="274320" cy="274320"/>
          </a:xfrm>
          <a:prstGeom prst="rect">
            <a:avLst/>
          </a:prstGeom>
        </p:spPr>
      </p:pic>
      <p:sp>
        <p:nvSpPr>
          <p:cNvPr id="6" name="TextBox 5"/>
          <p:cNvSpPr txBox="1"/>
          <p:nvPr/>
        </p:nvSpPr>
        <p:spPr>
          <a:xfrm>
            <a:off x="77724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KADROLU ALIMDA KALMA ORANI</a:t>
            </a:r>
          </a:p>
        </p:txBody>
      </p:sp>
      <p:sp>
        <p:nvSpPr>
          <p:cNvPr id="7" name="TextBox 6"/>
          <p:cNvSpPr txBox="1"/>
          <p:nvPr/>
        </p:nvSpPr>
        <p:spPr>
          <a:xfrm>
            <a:off x="777240" y="1847088"/>
            <a:ext cx="4937760" cy="786384"/>
          </a:xfrm>
          <a:prstGeom prst="rect">
            <a:avLst/>
          </a:prstGeom>
          <a:noFill/>
        </p:spPr>
        <p:txBody>
          <a:bodyPr wrap="square" anchor="t">
            <a:spAutoFit/>
          </a:bodyPr>
          <a:lstStyle/>
          <a:p>
            <a:pPr algn="l">
              <a:lnSpc>
                <a:spcPct val="100000"/>
              </a:lnSpc>
            </a:pPr>
            <a:r>
              <a:rPr sz="3000" b="1">
                <a:solidFill>
                  <a:srgbClr val="A6001A"/>
                </a:solidFill>
                <a:latin typeface="Calibri"/>
              </a:rPr>
              <a:t>%95,7 → %75,0</a:t>
            </a:r>
          </a:p>
        </p:txBody>
      </p:sp>
      <p:sp>
        <p:nvSpPr>
          <p:cNvPr id="8" name="TextBox 7"/>
          <p:cNvSpPr txBox="1"/>
          <p:nvPr/>
        </p:nvSpPr>
        <p:spPr>
          <a:xfrm>
            <a:off x="77724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İlk 14 günü tamamlama oranı (22/23 → 21/28). 32 alımdan 10'si kesim tarihine kadar ayrılmıştır (önceki yıl 24 alımdan 2). Aynı pozisyonun iki kez doldurulması maliyet yaratmaktadır.</a:t>
            </a:r>
          </a:p>
        </p:txBody>
      </p:sp>
      <p:sp>
        <p:nvSpPr>
          <p:cNvPr id="9" name="Rectangle 8"/>
          <p:cNvSpPr/>
          <p:nvPr/>
        </p:nvSpPr>
        <p:spPr>
          <a:xfrm>
            <a:off x="6172200" y="1371600"/>
            <a:ext cx="5394960" cy="2286000"/>
          </a:xfrm>
          <a:prstGeom prst="rect">
            <a:avLst/>
          </a:prstGeom>
          <a:solidFill>
            <a:srgbClr val="FFFFFF"/>
          </a:solidFill>
          <a:ln w="12700">
            <a:solidFill>
              <a:srgbClr val="DCDC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72200" y="1371600"/>
            <a:ext cx="68580" cy="2286000"/>
          </a:xfrm>
          <a:prstGeom prst="rect">
            <a:avLst/>
          </a:prstGeom>
          <a:solidFill>
            <a:srgbClr val="9A9A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png"/>
          <p:cNvPicPr>
            <a:picLocks noChangeAspect="1"/>
          </p:cNvPicPr>
          <p:nvPr/>
        </p:nvPicPr>
        <p:blipFill>
          <a:blip r:embed="rId4"/>
          <a:stretch>
            <a:fillRect/>
          </a:stretch>
        </p:blipFill>
        <p:spPr>
          <a:xfrm>
            <a:off x="11091672" y="1536192"/>
            <a:ext cx="274320" cy="274320"/>
          </a:xfrm>
          <a:prstGeom prst="rect">
            <a:avLst/>
          </a:prstGeom>
        </p:spPr>
      </p:pic>
      <p:sp>
        <p:nvSpPr>
          <p:cNvPr id="12" name="TextBox 11"/>
          <p:cNvSpPr txBox="1"/>
          <p:nvPr/>
        </p:nvSpPr>
        <p:spPr>
          <a:xfrm>
            <a:off x="6400800" y="1481328"/>
            <a:ext cx="4572000" cy="329184"/>
          </a:xfrm>
          <a:prstGeom prst="rect">
            <a:avLst/>
          </a:prstGeom>
          <a:noFill/>
        </p:spPr>
        <p:txBody>
          <a:bodyPr wrap="square" anchor="t">
            <a:spAutoFit/>
          </a:bodyPr>
          <a:lstStyle/>
          <a:p>
            <a:pPr algn="l">
              <a:lnSpc>
                <a:spcPct val="100000"/>
              </a:lnSpc>
            </a:pPr>
            <a:r>
              <a:rPr sz="1000" b="1">
                <a:solidFill>
                  <a:srgbClr val="6E6E6E"/>
                </a:solidFill>
                <a:latin typeface="Calibri"/>
              </a:rPr>
              <a:t>SEZONLUK KADRODA KALMA ORANI</a:t>
            </a:r>
          </a:p>
        </p:txBody>
      </p:sp>
      <p:sp>
        <p:nvSpPr>
          <p:cNvPr id="13" name="TextBox 12"/>
          <p:cNvSpPr txBox="1"/>
          <p:nvPr/>
        </p:nvSpPr>
        <p:spPr>
          <a:xfrm>
            <a:off x="6400800" y="1847088"/>
            <a:ext cx="4937760" cy="786384"/>
          </a:xfrm>
          <a:prstGeom prst="rect">
            <a:avLst/>
          </a:prstGeom>
          <a:noFill/>
        </p:spPr>
        <p:txBody>
          <a:bodyPr wrap="square" anchor="t">
            <a:spAutoFit/>
          </a:bodyPr>
          <a:lstStyle/>
          <a:p>
            <a:pPr algn="l">
              <a:lnSpc>
                <a:spcPct val="100000"/>
              </a:lnSpc>
            </a:pPr>
            <a:r>
              <a:rPr sz="3000" b="1">
                <a:solidFill>
                  <a:srgbClr val="9A9A9A"/>
                </a:solidFill>
                <a:latin typeface="Calibri"/>
              </a:rPr>
              <a:t>%93,9 → %95,1</a:t>
            </a:r>
          </a:p>
        </p:txBody>
      </p:sp>
      <p:sp>
        <p:nvSpPr>
          <p:cNvPr id="14" name="TextBox 13"/>
          <p:cNvSpPr txBox="1"/>
          <p:nvPr/>
        </p:nvSpPr>
        <p:spPr>
          <a:xfrm>
            <a:off x="6400800" y="2670048"/>
            <a:ext cx="4937760" cy="868680"/>
          </a:xfrm>
          <a:prstGeom prst="rect">
            <a:avLst/>
          </a:prstGeom>
          <a:noFill/>
        </p:spPr>
        <p:txBody>
          <a:bodyPr wrap="square" anchor="t">
            <a:spAutoFit/>
          </a:bodyPr>
          <a:lstStyle/>
          <a:p>
            <a:pPr algn="l">
              <a:lnSpc>
                <a:spcPct val="110000"/>
              </a:lnSpc>
            </a:pPr>
            <a:r>
              <a:rPr sz="1050" b="0">
                <a:solidFill>
                  <a:srgbClr val="333333"/>
                </a:solidFill>
                <a:latin typeface="Calibri"/>
              </a:rPr>
              <a:t>Sezonluk kadroda kalma oranı yükselmiştir (46/49 → 39/41). Sorun sezonluk alımda değil, kadrolu alımın ilk haftasındadır.</a:t>
            </a:r>
          </a:p>
        </p:txBody>
      </p:sp>
      <p:sp>
        <p:nvSpPr>
          <p:cNvPr id="15" name="Rounded Rectangle 14"/>
          <p:cNvSpPr/>
          <p:nvPr/>
        </p:nvSpPr>
        <p:spPr>
          <a:xfrm>
            <a:off x="548640" y="3840480"/>
            <a:ext cx="11018520" cy="1600200"/>
          </a:xfrm>
          <a:prstGeom prst="roundRect">
            <a:avLst/>
          </a:prstGeom>
          <a:solidFill>
            <a:srgbClr val="F2F2F2"/>
          </a:solidFill>
          <a:ln w="19050">
            <a:solidFill>
              <a:srgbClr val="E3062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977639"/>
            <a:ext cx="10515600" cy="1371600"/>
          </a:xfrm>
          <a:prstGeom prst="rect">
            <a:avLst/>
          </a:prstGeom>
          <a:noFill/>
        </p:spPr>
        <p:txBody>
          <a:bodyPr wrap="square" anchor="t">
            <a:spAutoFit/>
          </a:bodyPr>
          <a:lstStyle/>
          <a:p>
            <a:pPr algn="l">
              <a:lnSpc>
                <a:spcPct val="125000"/>
              </a:lnSpc>
            </a:pPr>
            <a:r>
              <a:rPr sz="1350" b="1">
                <a:solidFill>
                  <a:srgbClr val="A6001A"/>
                </a:solidFill>
                <a:latin typeface="Calibri"/>
              </a:rPr>
              <a:t>Planlanan Aksiyonlar</a:t>
            </a:r>
          </a:p>
          <a:p>
            <a:pPr algn="l">
              <a:lnSpc>
                <a:spcPct val="125000"/>
              </a:lnSpc>
            </a:pPr>
            <a:r>
              <a:rPr sz="1200" b="0">
                <a:solidFill>
                  <a:srgbClr val="333333"/>
                </a:solidFill>
                <a:latin typeface="Calibri"/>
              </a:rPr>
              <a:t>• En bozuk üç nokta: Özlüce, Heykel, Merkez Depo → ilk hafta karşılama protokolü.
• İdari İşler pozisyonunda ücret–vardiya revizyonu.
• Ölçüt: gelecek sezon Eylül öncesi kayıp %20'den %12'ye (2025 seviyesi).</a:t>
            </a:r>
          </a:p>
        </p:txBody>
      </p:sp>
      <p:sp>
        <p:nvSpPr>
          <p:cNvPr id="17" name="TextBox 16"/>
          <p:cNvSpPr txBox="1"/>
          <p:nvPr/>
        </p:nvSpPr>
        <p:spPr>
          <a:xfrm>
            <a:off x="1920240" y="5669280"/>
            <a:ext cx="9555480" cy="566928"/>
          </a:xfrm>
          <a:prstGeom prst="rect">
            <a:avLst/>
          </a:prstGeom>
          <a:noFill/>
        </p:spPr>
        <p:txBody>
          <a:bodyPr wrap="square" anchor="t">
            <a:spAutoFit/>
          </a:bodyPr>
          <a:lstStyle/>
          <a:p>
            <a:pPr algn="l">
              <a:lnSpc>
                <a:spcPct val="105000"/>
              </a:lnSpc>
            </a:pPr>
            <a:r>
              <a:rPr sz="800" b="0">
                <a:solidFill>
                  <a:srgbClr val="9A9A9A"/>
                </a:solidFill>
                <a:latin typeface="Calibri"/>
              </a:rPr>
              <a:t>* Kapsam: beş mağazanın tamamı — FSM · Özlüce · İst. Yolu · Heykel · Şura · Ölçüm noktaları: 30.06 tabanı ve 31.08 kesimi (tarih aralığı değil, o gün fiilen çalışan kişi) Tutunma ölçümü mağaza kadrosu üzerinden yapılmıştır.</a:t>
            </a:r>
          </a:p>
        </p:txBody>
      </p:sp>
      <p:sp>
        <p:nvSpPr>
          <p:cNvPr id="18" name="TextBox 17"/>
          <p:cNvSpPr txBox="1"/>
          <p:nvPr/>
        </p:nvSpPr>
        <p:spPr>
          <a:xfrm>
            <a:off x="8503920" y="6355080"/>
            <a:ext cx="3108960" cy="274320"/>
          </a:xfrm>
          <a:prstGeom prst="rect">
            <a:avLst/>
          </a:prstGeom>
          <a:noFill/>
        </p:spPr>
        <p:txBody>
          <a:bodyPr wrap="square" anchor="t">
            <a:spAutoFit/>
          </a:bodyPr>
          <a:lstStyle/>
          <a:p>
            <a:pPr algn="r">
              <a:lnSpc>
                <a:spcPct val="100000"/>
              </a:lnSpc>
            </a:pPr>
            <a:r>
              <a:rPr sz="900" b="0">
                <a:solidFill>
                  <a:srgbClr val="9A9A9A"/>
                </a:solidFill>
                <a:latin typeface="Calibri"/>
              </a:rPr>
              <a:t>© Fikri Eren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dpi="0" rotWithShape="1">
          <a:blip r:embed="rId2">
            <a:lum/>
          </a:blip>
          <a:srcRect/>
          <a:stretch>
            <a:fillRect/>
          </a:stretch>
        </a:blipFill>
        <a:effectLst/>
      </p:bgPr>
    </p:bg>
    <p:spTree>
      <p:nvGrpSpPr>
        <p:cNvPr id="1" name=""/>
        <p:cNvGrpSpPr/>
        <p:nvPr/>
      </p:nvGrpSpPr>
      <p:grpSpPr/>
      <p:sp>
        <p:nvSpPr>
          <p:cNvPr id="2" name="Title 1"/>
          <p:cNvSpPr>
            <a:spLocks noGrp="1"/>
          </p:cNvSpPr>
          <p:nvPr>
            <p:ph type="ctrTitle"/>
          </p:nvPr>
        </p:nvSpPr>
        <p:spPr/>
        <p:txBody>
          <a:bodyPr/>
          <a:lstStyle/>
          <a:p>
            <a:r>
              <a:t>Sonuç</a:t>
            </a:r>
          </a:p>
        </p:txBody>
      </p:sp>
      <p:sp>
        <p:nvSpPr>
          <p:cNvPr id="3" name="Subtitle 2"/>
          <p:cNvSpPr>
            <a:spLocks noGrp="1"/>
          </p:cNvSpPr>
          <p:nvPr>
            <p:ph type="subTitle" idx="1"/>
          </p:nvPr>
        </p:nvSpPr>
        <p:spPr/>
        <p:txBody>
          <a:bodyPr/>
          <a:lstStyle/>
          <a:p>
            <a:r>
              <a:t>Norma göre -28 kişi · kadrolu −4 · ürün adedi +%34,9 · personel başına iş +%20,5</a:t>
            </a:r>
          </a:p>
        </p:txBody>
      </p:sp>
    </p:spTree>
  </p:cSld>
  <p:clrMapOvr>
    <a:masterClrMapping/>
  </p:clrMapOvr>
</p:sld>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10211</TotalTime>
  <Words>12</Words>
  <Application>Microsoft Office PowerPoint</Application>
  <PresentationFormat>Geniş ekran</PresentationFormat>
  <Paragraphs>6</Paragraphs>
  <Slides>3</Slides>
  <Notes>0</Notes>
  <HiddenSlides>0</HiddenSlides>
  <MMClips>0</MMClips>
  <ScaleCrop>false</ScaleCrop>
  <HeadingPairs>
    <vt:vector size="6" baseType="variant">
      <vt:variant>
        <vt:lpstr>Kullanılan Yazı Tipleri</vt:lpstr>
      </vt:variant>
      <vt:variant>
        <vt:i4>3</vt:i4>
      </vt:variant>
      <vt:variant>
        <vt:lpstr>Tema</vt:lpstr>
      </vt:variant>
      <vt:variant>
        <vt:i4>1</vt:i4>
      </vt:variant>
      <vt:variant>
        <vt:lpstr>Slayt Başlıkları</vt:lpstr>
      </vt:variant>
      <vt:variant>
        <vt:i4>3</vt:i4>
      </vt:variant>
    </vt:vector>
  </HeadingPairs>
  <TitlesOfParts>
    <vt:vector size="7" baseType="lpstr">
      <vt:lpstr>Arial</vt:lpstr>
      <vt:lpstr>Calibri</vt:lpstr>
      <vt:lpstr>Calibri Light</vt:lpstr>
      <vt:lpstr>Office Teması</vt:lpstr>
      <vt:lpstr>PowerPoint Sunusu</vt:lpstr>
      <vt:lpstr>PowerPoint Sunusu</vt:lpstr>
      <vt:lpstr>PowerPoint Sunusu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Microsoft Office User</dc:creator>
  <cp:lastModifiedBy>Fikri EREN</cp:lastModifiedBy>
  <cp:revision>38</cp:revision>
  <dcterms:created xsi:type="dcterms:W3CDTF">2021-08-17T14:49:48Z</dcterms:created>
  <dcterms:modified xsi:type="dcterms:W3CDTF">2026-06-03T21:08:53Z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2026-04-28T14:42:08Z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ce838670-1954-4442-b940-eac0d507ddc2</vt:lpwstr>
  </property>
  <property fmtid="{D5CDD505-2E9C-101B-9397-08002B2CF9AE}" pid="7" name="MSIP_Label_defa4170-0d19-0005-0004-bc88714345d2_ActionId">
    <vt:lpwstr>6985f007-4c57-476a-a6d9-44ba75cd90f5</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