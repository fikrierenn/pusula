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0000"/>
    <a:srgbClr val="E743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87737" autoAdjust="0"/>
  </p:normalViewPr>
  <p:slideViewPr>
    <p:cSldViewPr snapToGrid="0" snapToObjects="1">
      <p:cViewPr varScale="1">
        <p:scale>
          <a:sx n="83" d="100"/>
          <a:sy n="83" d="100"/>
        </p:scale>
        <p:origin x="658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139</c:v>
                </c:pt>
                <c:pt idx="1">
                  <c:v>135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Sheet1!$A$2:$A$3</c:f>
              <c:strCache>
                <c:ptCount val="2"/>
                <c:pt idx="0">
                  <c:v>Taban 30.06</c:v>
                </c:pt>
                <c:pt idx="1">
                  <c:v>Kesim 31.08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153</c:v>
                </c:pt>
                <c:pt idx="1">
                  <c:v>149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574.6556999999999</c:v>
                </c:pt>
                <c:pt idx="1">
                  <c:v>71.81704576999522</c:v>
                </c:pt>
                <c:pt idx="2">
                  <c:v>143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Ürün adedi (bin)</c:v>
                </c:pt>
                <c:pt idx="1">
                  <c:v>Ciro (milyon TL)</c:v>
                </c:pt>
                <c:pt idx="2">
                  <c:v>Kadro (kişi)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775.03155</c:v>
                </c:pt>
                <c:pt idx="1">
                  <c:v>122.53417560999479</c:v>
                </c:pt>
                <c:pt idx="2">
                  <c:v>160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4524.798039215687</c:v>
                </c:pt>
                <c:pt idx="1">
                  <c:v>3466.72</c:v>
                </c:pt>
                <c:pt idx="2">
                  <c:v>4060.8333333333335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5578.704629629629</c:v>
                </c:pt>
                <c:pt idx="1">
                  <c:v>4229.647540983607</c:v>
                </c:pt>
                <c:pt idx="2">
                  <c:v>4794.955555555555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Oca-Ağu adet ÷ kadrolu</c:v>
                </c:pt>
              </c:strCache>
            </c:strRef>
          </c:tx>
          <c:spPr>
            <a:ln w="31750">
              <a:solidFill>
                <a:srgbClr val="E30622"/>
              </a:solidFill>
            </a:ln>
          </c:spPr>
          <c:marker>
            <c:symbol val="circle"/>
            <c:size val="7"/>
            <c:spPr>
              <a:solidFill>
                <a:srgbClr val="E30622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34377.72383333333</c:v>
                </c:pt>
                <c:pt idx="1">
                  <c:v>25227.68604395604</c:v>
                </c:pt>
                <c:pt idx="2">
                  <c:v>28668.031666666666</c:v>
                </c:pt>
                <c:pt idx="3">
                  <c:v>32496.782972972975</c:v>
                </c:pt>
              </c:numCache>
            </c:numRef>
          </c:val>
          <c:smooth val="0"/>
        </c:ser>
        <c:dLbls>
          <c:numFmt sourceLinked="0" formatCode="#,##0"/>
          <c:txPr>
            <a:bodyPr/>
            <a:lstStyle/>
            <a:p>
              <a:pPr>
                <a:defRPr sz="10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kadrolu değişim (kişi)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Sheet1!$A$2:$A$9</c:f>
              <c:strCache>
                <c:ptCount val="8"/>
                <c:pt idx="0">
                  <c:v>Yardımcı Kitap</c:v>
                </c:pt>
                <c:pt idx="1">
                  <c:v>Kırtasiye</c:v>
                </c:pt>
                <c:pt idx="2">
                  <c:v>Kasa</c:v>
                </c:pt>
                <c:pt idx="3">
                  <c:v>Akademi</c:v>
                </c:pt>
                <c:pt idx="4">
                  <c:v>Şura</c:v>
                </c:pt>
                <c:pt idx="5">
                  <c:v>Mağaza</c:v>
                </c:pt>
                <c:pt idx="6">
                  <c:v>Mal Kabul</c:v>
                </c:pt>
                <c:pt idx="7">
                  <c:v>İdari İşler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3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sourceLinked="0" formatCode="+0;-0;0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05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1000">
          <a:latin typeface="Calibr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kadro Δ%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5.882352941176472</c:v>
                </c:pt>
                <c:pt idx="1">
                  <c:v>21.999999999999996</c:v>
                </c:pt>
                <c:pt idx="2">
                  <c:v>7.14285714285714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30.54425135213488</c:v>
                </c:pt>
                <c:pt idx="1">
                  <c:v>48.848767711265985</c:v>
                </c:pt>
                <c:pt idx="2">
                  <c:v>26.512268769605107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ciro Δ%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Sheet1!$A$2:$A$4</c:f>
              <c:strCache>
                <c:ptCount val="3"/>
                <c:pt idx="0">
                  <c:v>Özlüce</c:v>
                </c:pt>
                <c:pt idx="1">
                  <c:v>İst. Yolu</c:v>
                </c:pt>
                <c:pt idx="2">
                  <c:v>FSM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57.558623758164586</c:v>
                </c:pt>
                <c:pt idx="1">
                  <c:v>96.00493094593223</c:v>
                </c:pt>
                <c:pt idx="2">
                  <c:v>62.2675266100448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ürün adedi Δ%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Sheet1!$A$2:$A$7</c:f>
              <c:strCache>
                <c:ptCount val="6"/>
                <c:pt idx="0">
                  <c:v>Hazırlık Kitapları</c:v>
                </c:pt>
                <c:pt idx="1">
                  <c:v>Kırtasiye</c:v>
                </c:pt>
                <c:pt idx="2">
                  <c:v>Akademi</c:v>
                </c:pt>
                <c:pt idx="3">
                  <c:v>Kitap</c:v>
                </c:pt>
                <c:pt idx="4">
                  <c:v>Oyuncak</c:v>
                </c:pt>
                <c:pt idx="5">
                  <c:v>Çocuk Kitabı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38.90163723088822</c:v>
                </c:pt>
                <c:pt idx="1">
                  <c:v>33.552172719623094</c:v>
                </c:pt>
                <c:pt idx="2">
                  <c:v>238.98744541484714</c:v>
                </c:pt>
                <c:pt idx="3">
                  <c:v>25.988343197939724</c:v>
                </c:pt>
                <c:pt idx="4">
                  <c:v>57.96957048606437</c:v>
                </c:pt>
                <c:pt idx="5">
                  <c:v>16.997283165180832</c:v>
                </c:pt>
              </c:numCache>
            </c:numRef>
          </c:val>
        </c:ser>
        <c:dLbls>
          <c:numFmt sourceLinked="0" formatCode="0&quot;%&quot;"/>
          <c:txPr>
            <a:bodyPr/>
            <a:lstStyle/>
            <a:p>
              <a:pPr>
                <a:defRPr sz="85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458.25870000000003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483.49955000000006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kayma olmasaydı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Sheet1!$A$2:$A$2</c:f>
              <c:strCache>
                <c:ptCount val="1"/>
                <c:pt idx="0">
                  <c:v>Ağustos (adet, bin)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614.955640162407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fiili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Sheet1!$A$2:$A$2</c:f>
              <c:strCache>
                <c:ptCount val="1"/>
                <c:pt idx="0">
                  <c:v>Kişi başına yıllık fazla mesai (saat)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79.43719972546329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fiili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Sheet1!$A$2:$A$2</c:f>
              <c:strCache>
                <c:ptCount val="1"/>
                <c:pt idx="0">
                  <c:v>Kişi başına yıllık fazla mesai (saat)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83.56952268010673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Kadro artmasaydı</c:v>
                </c:pt>
              </c:strCache>
            </c:strRef>
          </c:tx>
          <c:spPr>
            <a:solidFill>
              <a:srgbClr val="A6001A"/>
            </a:solidFill>
          </c:spPr>
          <c:cat>
            <c:strRef>
              <c:f>Sheet1!$A$2:$A$2</c:f>
              <c:strCache>
                <c:ptCount val="1"/>
                <c:pt idx="0">
                  <c:v>Kişi başına yıllık fazla mesai (saat)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465.3191489361705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Yasal sınır</c:v>
                </c:pt>
              </c:strCache>
            </c:strRef>
          </c:tx>
          <c:spPr>
            <a:solidFill>
              <a:srgbClr val="4A4A4A"/>
            </a:solidFill>
          </c:spPr>
          <c:cat>
            <c:strRef>
              <c:f>Sheet1!$A$2:$A$2</c:f>
              <c:strCache>
                <c:ptCount val="1"/>
                <c:pt idx="0">
                  <c:v>Kişi başına yıllık fazla mesai (saat)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270.0</c:v>
                </c:pt>
              </c:numCache>
            </c:numRef>
          </c:val>
        </c:ser>
        <c:dLbls>
          <c:numFmt sourceLinked="0" formatCode="#,##0"/>
          <c:txPr>
            <a:bodyPr/>
            <a:lstStyle/>
            <a:p>
              <a:pPr>
                <a:defRPr sz="9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50">
          <a:latin typeface="Calibr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kadrolu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107.5</c:v>
                </c:pt>
                <c:pt idx="1">
                  <c:v>100.7</c:v>
                </c:pt>
                <c:pt idx="2">
                  <c:v>102.8</c:v>
                </c:pt>
                <c:pt idx="3">
                  <c:v>97.6</c:v>
                </c:pt>
                <c:pt idx="4">
                  <c:v>93.9</c:v>
                </c:pt>
                <c:pt idx="5">
                  <c:v>97.5</c:v>
                </c:pt>
                <c:pt idx="6">
                  <c:v>93.8</c:v>
                </c:pt>
                <c:pt idx="7">
                  <c:v>94.1</c:v>
                </c:pt>
                <c:pt idx="8">
                  <c:v>95.8</c:v>
                </c:pt>
                <c:pt idx="9">
                  <c:v>98.4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 sezonluk</c:v>
                </c:pt>
              </c:strCache>
            </c:strRef>
          </c:tx>
          <c:spPr>
            <a:solidFill>
              <a:srgbClr val="7A1020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3.4</c:v>
                </c:pt>
                <c:pt idx="7">
                  <c:v>26.5</c:v>
                </c:pt>
                <c:pt idx="8">
                  <c:v>37.1</c:v>
                </c:pt>
                <c:pt idx="9">
                  <c:v>9.7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kadrolu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106.0</c:v>
                </c:pt>
                <c:pt idx="1">
                  <c:v>107.0</c:v>
                </c:pt>
                <c:pt idx="2">
                  <c:v>108.6</c:v>
                </c:pt>
                <c:pt idx="3">
                  <c:v>106.9</c:v>
                </c:pt>
                <c:pt idx="4">
                  <c:v>109.2</c:v>
                </c:pt>
                <c:pt idx="5">
                  <c:v>107.0</c:v>
                </c:pt>
                <c:pt idx="6">
                  <c:v>110.9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 sezonluk</c:v>
                </c:pt>
              </c:strCache>
            </c:strRef>
          </c:tx>
          <c:spPr>
            <a:solidFill>
              <a:srgbClr val="A6001A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Sheet1!$E$2:$E$11</c:f>
              <c:numCache>
                <c:formatCode>General</c:formatCode>
                <c:ptCount val="10"/>
                <c:pt idx="0">
                  <c:v>4.0</c:v>
                </c:pt>
                <c:pt idx="1">
                  <c:v>3.9</c:v>
                </c:pt>
                <c:pt idx="2">
                  <c:v>4.0</c:v>
                </c:pt>
                <c:pt idx="3">
                  <c:v>3.1</c:v>
                </c:pt>
                <c:pt idx="4">
                  <c:v>2.9</c:v>
                </c:pt>
                <c:pt idx="5">
                  <c:v>1.2</c:v>
                </c:pt>
                <c:pt idx="6">
                  <c:v>1.5</c:v>
                </c:pt>
              </c:numCache>
            </c:numRef>
          </c:val>
        </c:ser>
        <c:dLbls>
          <c:numFmt sourceLinked="0" formatCode="#,##0.0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10.640435897565483</c:v>
                </c:pt>
                <c:pt idx="1">
                  <c:v>10.971390826419475</c:v>
                </c:pt>
                <c:pt idx="2">
                  <c:v>13.88245899802121</c:v>
                </c:pt>
                <c:pt idx="3">
                  <c:v>11.502227588672273</c:v>
                </c:pt>
                <c:pt idx="4">
                  <c:v>15.964872627552854</c:v>
                </c:pt>
                <c:pt idx="5">
                  <c:v>14.259600971987444</c:v>
                </c:pt>
                <c:pt idx="6">
                  <c:v>14.297033783446004</c:v>
                </c:pt>
                <c:pt idx="7">
                  <c:v>2.912397700580454</c:v>
                </c:pt>
                <c:pt idx="8">
                  <c:v>2.0983488104807693</c:v>
                </c:pt>
                <c:pt idx="9">
                  <c:v>6.872611463188822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Sheet1!$A$2:$A$11</c:f>
              <c:strCache>
                <c:ptCount val="10"/>
                <c:pt idx="0">
                  <c:v>Oca</c:v>
                </c:pt>
                <c:pt idx="1">
                  <c:v>Şub</c:v>
                </c:pt>
                <c:pt idx="2">
                  <c:v>Mar</c:v>
                </c:pt>
                <c:pt idx="3">
                  <c:v>Nis</c:v>
                </c:pt>
                <c:pt idx="4">
                  <c:v>May</c:v>
                </c:pt>
                <c:pt idx="5">
                  <c:v>Haz</c:v>
                </c:pt>
                <c:pt idx="6">
                  <c:v>Tem*</c:v>
                </c:pt>
                <c:pt idx="7">
                  <c:v>Ağu*</c:v>
                </c:pt>
                <c:pt idx="8">
                  <c:v>Eyl*</c:v>
                </c:pt>
                <c:pt idx="9">
                  <c:v>Eki*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9.342797291737542</c:v>
                </c:pt>
                <c:pt idx="1">
                  <c:v>11.288098438411463</c:v>
                </c:pt>
                <c:pt idx="2">
                  <c:v>11.702927412298179</c:v>
                </c:pt>
                <c:pt idx="3">
                  <c:v>13.236925983510183</c:v>
                </c:pt>
                <c:pt idx="4">
                  <c:v>13.848433011968481</c:v>
                </c:pt>
                <c:pt idx="5">
                  <c:v>13.921476943829141</c:v>
                </c:pt>
                <c:pt idx="6">
                  <c:v>12.711606463897192</c:v>
                </c:pt>
              </c:numCache>
            </c:numRef>
          </c:val>
        </c:ser>
        <c:dLbls>
          <c:numFmt sourceLinked="0" formatCode="0.0&quot;%&quot;"/>
          <c:txPr>
            <a:bodyPr/>
            <a:lstStyle/>
            <a:p>
              <a:pPr>
                <a:defRPr sz="8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2025 gerçekleşen</c:v>
                </c:pt>
              </c:strCache>
            </c:strRef>
          </c:tx>
          <c:spPr>
            <a:solidFill>
              <a:srgbClr val="9A9A9A"/>
            </a:solidFill>
          </c:spPr>
          <c:cat>
            <c:strRef>
              <c:f>Sheet1!$A$2:$A$5</c:f>
              <c:strCache>
                <c:ptCount val="4"/>
                <c:pt idx="0">
                  <c:v>Tem</c:v>
                </c:pt>
                <c:pt idx="1">
                  <c:v>Ağu</c:v>
                </c:pt>
                <c:pt idx="2">
                  <c:v>Eyl</c:v>
                </c:pt>
                <c:pt idx="3">
                  <c:v>Eki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30.7</c:v>
                </c:pt>
                <c:pt idx="1">
                  <c:v>186.9</c:v>
                </c:pt>
                <c:pt idx="2">
                  <c:v>313.0</c:v>
                </c:pt>
                <c:pt idx="3">
                  <c:v>71.4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gerçekleşen</c:v>
                </c:pt>
              </c:strCache>
            </c:strRef>
          </c:tx>
          <c:spPr>
            <a:solidFill>
              <a:srgbClr val="E30622"/>
            </a:solidFill>
          </c:spPr>
          <c:cat>
            <c:strRef>
              <c:f>Sheet1!$A$2:$A$5</c:f>
              <c:strCache>
                <c:ptCount val="4"/>
                <c:pt idx="0">
                  <c:v>Tem</c:v>
                </c:pt>
                <c:pt idx="1">
                  <c:v>Ağu</c:v>
                </c:pt>
                <c:pt idx="2">
                  <c:v>Eyl</c:v>
                </c:pt>
                <c:pt idx="3">
                  <c:v>Eki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53.4</c:v>
                </c:pt>
                <c:pt idx="1">
                  <c:v>172.1</c:v>
                </c:pt>
                <c:pt idx="2">
                  <c:v>20.7</c:v>
                </c:pt>
                <c:pt idx="3">
                  <c:v>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 tahmin</c:v>
                </c:pt>
              </c:strCache>
            </c:strRef>
          </c:tx>
          <c:spPr>
            <a:solidFill>
              <a:srgbClr val="E8A0A8"/>
            </a:solidFill>
          </c:spPr>
          <c:cat>
            <c:strRef>
              <c:f>Sheet1!$A$2:$A$5</c:f>
              <c:strCache>
                <c:ptCount val="4"/>
                <c:pt idx="0">
                  <c:v>Tem</c:v>
                </c:pt>
                <c:pt idx="1">
                  <c:v>Ağu</c:v>
                </c:pt>
                <c:pt idx="2">
                  <c:v>Eyl</c:v>
                </c:pt>
                <c:pt idx="3">
                  <c:v>Eki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0.0</c:v>
                </c:pt>
                <c:pt idx="1">
                  <c:v>0.0</c:v>
                </c:pt>
                <c:pt idx="2">
                  <c:v>611.2</c:v>
                </c:pt>
                <c:pt idx="3">
                  <c:v>133.0</c:v>
                </c:pt>
              </c:numCache>
            </c:numRef>
          </c:val>
        </c:ser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</c:legend>
    <c:dispBlanksAs val="gap"/>
  </c:chart>
  <c:txPr>
    <a:bodyPr/>
    <a:lstStyle/>
    <a:p>
      <a:pPr>
        <a:defRPr sz="800"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 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300641-7B70-43EC-9136-1D81371FEE47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Slayt Resmi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 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D3DCFB-12CD-4DAE-BBD4-16A1DFAADA0C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574109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A12A0B8-7CD9-B74F-AD7D-AA5C006919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Alt Başlık 2">
            <a:extLst>
              <a:ext uri="{FF2B5EF4-FFF2-40B4-BE49-F238E27FC236}">
                <a16:creationId xmlns:a16="http://schemas.microsoft.com/office/drawing/2014/main" id="{1E65EBCF-2F36-CF46-9DD1-6FFE1AA5A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tr-TR"/>
              <a:t>Asıl alt başlık stilini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0488EE4F-7D91-234B-8366-AA898561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09D6E736-D18C-C440-B2A3-19ECC78493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7A482C50-33CE-4643-B22A-C50A02C7E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354873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6312382-F59E-E44D-94A0-09384B0F9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976D9B72-D3A8-E240-AEF8-FE471ED664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85B1322A-D814-E643-B637-F0282443BB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C2582D07-6D20-5949-950C-B5A20A0F4D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8D4B1F6-7694-B744-8AAA-4BECF121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0865419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 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6EBB9133-18E9-7041-99FE-48C21A3B0A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D142A014-6DBE-244A-8639-0EE92109B3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DA43E15A-394F-0044-AF14-DF4A8E99FA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B36113B3-E6C6-874A-90AD-FD4D22C5E4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F4E3EE12-20EA-8E44-9CBB-3793CBA50C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4588173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9DE5D64-D6D9-1B4C-880B-F020BD5B7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DA614EDC-B75D-FD4A-913F-EB03DAD503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E9E8DC66-2F12-BF45-BDF1-EB4DE2DCF41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50EB4623-12A7-9540-B93C-840D6334EF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EBF5A08-683B-A041-B5AF-469F3D01E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47AF5A4F-3422-8D4C-B532-C19D5521D6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1867228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085C4E5-E52A-DF43-85E4-57E96D05D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F46582EA-A382-1A41-AA8F-C0DD08B5855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4" name="İçerik Yer Tutucusu 3">
            <a:extLst>
              <a:ext uri="{FF2B5EF4-FFF2-40B4-BE49-F238E27FC236}">
                <a16:creationId xmlns:a16="http://schemas.microsoft.com/office/drawing/2014/main" id="{B1AAA910-32F1-1540-8CA3-526201D046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5" name="Metin Yer Tutucusu 4">
            <a:extLst>
              <a:ext uri="{FF2B5EF4-FFF2-40B4-BE49-F238E27FC236}">
                <a16:creationId xmlns:a16="http://schemas.microsoft.com/office/drawing/2014/main" id="{BBDC8A26-902D-E743-9638-6203DB6724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6" name="İçerik Yer Tutucusu 5">
            <a:extLst>
              <a:ext uri="{FF2B5EF4-FFF2-40B4-BE49-F238E27FC236}">
                <a16:creationId xmlns:a16="http://schemas.microsoft.com/office/drawing/2014/main" id="{BF5DAED4-7A45-A34F-956E-DACEA75416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7" name="Veri Yer Tutucusu 6">
            <a:extLst>
              <a:ext uri="{FF2B5EF4-FFF2-40B4-BE49-F238E27FC236}">
                <a16:creationId xmlns:a16="http://schemas.microsoft.com/office/drawing/2014/main" id="{C5ACEEAF-4684-F04E-80D2-76BE898845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8" name="Alt Bilgi Yer Tutucusu 7">
            <a:extLst>
              <a:ext uri="{FF2B5EF4-FFF2-40B4-BE49-F238E27FC236}">
                <a16:creationId xmlns:a16="http://schemas.microsoft.com/office/drawing/2014/main" id="{5B223AD2-9BE0-0A4D-B738-5296F04B1D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ayt Numarası Yer Tutucusu 8">
            <a:extLst>
              <a:ext uri="{FF2B5EF4-FFF2-40B4-BE49-F238E27FC236}">
                <a16:creationId xmlns:a16="http://schemas.microsoft.com/office/drawing/2014/main" id="{BBEB5DF6-944F-E94C-A1BA-10A5A661D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4975449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ED3F0FF1-32E6-FD40-8A9C-E85D7C194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Veri Yer Tutucusu 2">
            <a:extLst>
              <a:ext uri="{FF2B5EF4-FFF2-40B4-BE49-F238E27FC236}">
                <a16:creationId xmlns:a16="http://schemas.microsoft.com/office/drawing/2014/main" id="{6D2C6123-FE18-C44A-A357-D8B6B0B53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4" name="Alt Bilgi Yer Tutucusu 3">
            <a:extLst>
              <a:ext uri="{FF2B5EF4-FFF2-40B4-BE49-F238E27FC236}">
                <a16:creationId xmlns:a16="http://schemas.microsoft.com/office/drawing/2014/main" id="{18C92C8A-24FE-B446-8032-DED13B38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ayt Numarası Yer Tutucusu 4">
            <a:extLst>
              <a:ext uri="{FF2B5EF4-FFF2-40B4-BE49-F238E27FC236}">
                <a16:creationId xmlns:a16="http://schemas.microsoft.com/office/drawing/2014/main" id="{DB36637B-5E7C-0847-BC64-C44714060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559690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i Yer Tutucusu 1">
            <a:extLst>
              <a:ext uri="{FF2B5EF4-FFF2-40B4-BE49-F238E27FC236}">
                <a16:creationId xmlns:a16="http://schemas.microsoft.com/office/drawing/2014/main" id="{EA6A8CB8-EFDA-1841-AB52-284AC13EB0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3" name="Alt Bilgi Yer Tutucusu 2">
            <a:extLst>
              <a:ext uri="{FF2B5EF4-FFF2-40B4-BE49-F238E27FC236}">
                <a16:creationId xmlns:a16="http://schemas.microsoft.com/office/drawing/2014/main" id="{518FACD0-1C0C-F844-A6D9-6990A191D4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ayt Numarası Yer Tutucusu 3">
            <a:extLst>
              <a:ext uri="{FF2B5EF4-FFF2-40B4-BE49-F238E27FC236}">
                <a16:creationId xmlns:a16="http://schemas.microsoft.com/office/drawing/2014/main" id="{536F959D-05A5-F54F-866D-1FC89F6DD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737328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53FE235-85E2-1A43-BF30-191677246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E8CC76E4-8C64-B342-B4EC-44F7600841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0C9758BE-896D-4443-9F29-4E18D53FB0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65AB6F4E-2BB2-9542-83B0-174B6AC19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98C1D8FA-7F1B-BE43-BC85-4673B367B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F695DCC4-1DAA-064E-8320-65BC1EBE64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4003492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CF589E15-52F3-DB45-A42D-3F61DE42DC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Resim Yer Tutucusu 2">
            <a:extLst>
              <a:ext uri="{FF2B5EF4-FFF2-40B4-BE49-F238E27FC236}">
                <a16:creationId xmlns:a16="http://schemas.microsoft.com/office/drawing/2014/main" id="{087BD87E-B3E7-DF45-95D0-286AFA3AB3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tr-TR"/>
          </a:p>
        </p:txBody>
      </p:sp>
      <p:sp>
        <p:nvSpPr>
          <p:cNvPr id="4" name="Metin Yer Tutucusu 3">
            <a:extLst>
              <a:ext uri="{FF2B5EF4-FFF2-40B4-BE49-F238E27FC236}">
                <a16:creationId xmlns:a16="http://schemas.microsoft.com/office/drawing/2014/main" id="{CB831928-3F51-F445-ADB5-05183485EB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tr-TR"/>
              <a:t>Asıl metin stillerini düzenlemek için tıklayın</a:t>
            </a:r>
          </a:p>
        </p:txBody>
      </p:sp>
      <p:sp>
        <p:nvSpPr>
          <p:cNvPr id="5" name="Veri Yer Tutucusu 4">
            <a:extLst>
              <a:ext uri="{FF2B5EF4-FFF2-40B4-BE49-F238E27FC236}">
                <a16:creationId xmlns:a16="http://schemas.microsoft.com/office/drawing/2014/main" id="{ADB8D77B-5A0A-F64D-B935-6497FC341E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6" name="Alt Bilgi Yer Tutucusu 5">
            <a:extLst>
              <a:ext uri="{FF2B5EF4-FFF2-40B4-BE49-F238E27FC236}">
                <a16:creationId xmlns:a16="http://schemas.microsoft.com/office/drawing/2014/main" id="{50606790-016F-E54D-85B0-4B1E659B4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ayt Numarası Yer Tutucusu 6">
            <a:extLst>
              <a:ext uri="{FF2B5EF4-FFF2-40B4-BE49-F238E27FC236}">
                <a16:creationId xmlns:a16="http://schemas.microsoft.com/office/drawing/2014/main" id="{2CED7389-4408-AA49-B7D2-C64C66528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41349623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 ve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3823ABBF-61CE-2343-B786-F51900E18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AE49DC93-9DC1-4049-A045-E6FBD9BEDA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296BD782-94F5-5941-B929-871FD5683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725E8FD7-FD2E-E44E-8873-B0F5664F6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B0F22D4D-9D52-8947-9398-81B831C5A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31473469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key Başlık 1">
            <a:extLst>
              <a:ext uri="{FF2B5EF4-FFF2-40B4-BE49-F238E27FC236}">
                <a16:creationId xmlns:a16="http://schemas.microsoft.com/office/drawing/2014/main" id="{9D8B94DF-9C10-F744-84AC-2D788A9B69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Dikey Metin Yer Tutucusu 2">
            <a:extLst>
              <a:ext uri="{FF2B5EF4-FFF2-40B4-BE49-F238E27FC236}">
                <a16:creationId xmlns:a16="http://schemas.microsoft.com/office/drawing/2014/main" id="{EEE070A1-AF86-9443-AEFA-9B376AB8FE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C693308C-5B7C-B949-A2F9-F004509B35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0646E30-46C7-B14D-9F74-F28EF8347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6943329E-064A-C547-89FC-FB32F81177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6482103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Yer Tutucusu 1">
            <a:extLst>
              <a:ext uri="{FF2B5EF4-FFF2-40B4-BE49-F238E27FC236}">
                <a16:creationId xmlns:a16="http://schemas.microsoft.com/office/drawing/2014/main" id="{1F91565E-1330-4B41-9057-C6551F413C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tr-TR"/>
              <a:t>Asıl başlık stilini düzenlemek için tıklayın</a:t>
            </a:r>
          </a:p>
        </p:txBody>
      </p:sp>
      <p:sp>
        <p:nvSpPr>
          <p:cNvPr id="3" name="Metin Yer Tutucusu 2">
            <a:extLst>
              <a:ext uri="{FF2B5EF4-FFF2-40B4-BE49-F238E27FC236}">
                <a16:creationId xmlns:a16="http://schemas.microsoft.com/office/drawing/2014/main" id="{704A2AE8-5086-4F49-AEF5-F297986E21A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/>
              <a:t>Asıl metin stillerini düzenlemek için tıklayın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4" name="Veri Yer Tutucusu 3">
            <a:extLst>
              <a:ext uri="{FF2B5EF4-FFF2-40B4-BE49-F238E27FC236}">
                <a16:creationId xmlns:a16="http://schemas.microsoft.com/office/drawing/2014/main" id="{AA47F096-3E19-C541-9264-4ADD4AFAB6F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62EC1A-E248-0345-9930-A1AA535348D4}" type="datetimeFigureOut">
              <a:rPr lang="tr-TR" smtClean="0"/>
              <a:t>4.06.2026</a:t>
            </a:fld>
            <a:endParaRPr lang="tr-TR"/>
          </a:p>
        </p:txBody>
      </p:sp>
      <p:sp>
        <p:nvSpPr>
          <p:cNvPr id="5" name="Alt Bilgi Yer Tutucusu 4">
            <a:extLst>
              <a:ext uri="{FF2B5EF4-FFF2-40B4-BE49-F238E27FC236}">
                <a16:creationId xmlns:a16="http://schemas.microsoft.com/office/drawing/2014/main" id="{13A27738-D8F5-9F47-8FC7-84CD34D5D7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tr-TR"/>
          </a:p>
        </p:txBody>
      </p:sp>
      <p:sp>
        <p:nvSpPr>
          <p:cNvPr id="6" name="Slayt Numarası Yer Tutucusu 5">
            <a:extLst>
              <a:ext uri="{FF2B5EF4-FFF2-40B4-BE49-F238E27FC236}">
                <a16:creationId xmlns:a16="http://schemas.microsoft.com/office/drawing/2014/main" id="{33EFD96A-A9C0-114E-84B0-21F7E892BF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0F883-CC7D-2543-97CB-E121364E9FB5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1067886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tr-T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3.png"/><Relationship Id="rId6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chart" Target="../charts/char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chart" Target="../charts/chart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4.png"/><Relationship Id="rId5" Type="http://schemas.openxmlformats.org/officeDocument/2006/relationships/image" Target="../media/image9.png"/><Relationship Id="rId6" Type="http://schemas.openxmlformats.org/officeDocument/2006/relationships/chart" Target="../charts/char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chart" Target="../charts/chart11.xml"/><Relationship Id="rId7" Type="http://schemas.openxmlformats.org/officeDocument/2006/relationships/chart" Target="../charts/char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5.png"/><Relationship Id="rId4" Type="http://schemas.openxmlformats.org/officeDocument/2006/relationships/image" Target="../media/image3.png"/><Relationship Id="rId5" Type="http://schemas.openxmlformats.org/officeDocument/2006/relationships/image" Target="../media/image6.png"/><Relationship Id="rId6" Type="http://schemas.openxmlformats.org/officeDocument/2006/relationships/chart" Target="../charts/char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Kadro ve İş Hacmi Değerlendirmesi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Sezon 2026 · Mağazalar · kadro 30.06 ve 31.08 · iş hacmi 01.07.2025 – 25.08.2025 ile 07.07.2026 – 31.08.2026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Yönetici Özeti — Norma Göre Durum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· KADRO + SEZON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217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145 + sezonluk 72 · 11.08.2026 tarihli norm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GERÇEK · 31 AĞUSTOS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9A9A9A"/>
                </a:solidFill>
                <a:latin typeface="Calibri"/>
              </a:rPr>
              <a:t>189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engelli ve etkinlik sayılmadı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NORM İLE FARK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A6001A"/>
                </a:solidFill>
                <a:latin typeface="Calibri"/>
              </a:rPr>
              <a:t>-28 kişi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-14 · sezonluk -14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310128"/>
            <a:ext cx="11018520" cy="749808"/>
          </a:xfrm>
          <a:prstGeom prst="roundRect">
            <a:avLst/>
          </a:prstGeom>
          <a:solidFill>
            <a:srgbClr val="F2F2F2"/>
          </a:solidFill>
          <a:ln w="2540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310128"/>
            <a:ext cx="1051560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31 Ağustos'ta çalışan personel 189 kişi; norm tablosundaki karşılığı 217 kişi. Aradaki fark 28 kişi.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133087"/>
            <a:ext cx="11018520" cy="111556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133087"/>
            <a:ext cx="68580" cy="1115568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4297679"/>
            <a:ext cx="274320" cy="2743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868680" y="4242816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AYNI DÖNEMDE YAPILAN İŞ · ÜÇ MAĞAZA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53712"/>
            <a:ext cx="10241280" cy="621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ürün adedi +%34,9 (574.656 → 775.032) · ciro +%70,6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321808"/>
            <a:ext cx="110185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Fark sezondan önce oluştu: 30 Haziran'da 139 → 153 (+14). Sezon içinde kadrolu -4 kişi. Personel başına iş +%20,5.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Norm, engelli dışındaki personeli sayar (yönetim kararı). Etkinlik kadrosu da norm dışı; gerçek rakamdan düşüldü (engelli 3, etkinlik 3 kişi). İK kaydında kadrolu 137 + sezonluk 58 = 195 kişi var. Norm tablosu: BKMKİTAP Mağaza Kadro ve Sezon Takip Tablosu, 11.08.2026 · Dört mağaza (Şura yok) · Satış: üç POS mağazası.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Farkının Oluşum Dönemi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2025 tabanı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33472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9" name="Rectangle 8"/>
          <p:cNvSpPr/>
          <p:nvPr/>
        </p:nvSpPr>
        <p:spPr>
          <a:xfrm>
            <a:off x="2779776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79776" y="1417320"/>
            <a:ext cx="68580" cy="17373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öncesi eklenen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E30622"/>
                </a:solidFill>
                <a:latin typeface="Calibri"/>
              </a:rPr>
              <a:t>+14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26080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Temmuz'dan önce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64608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10912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10912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57216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2026 tabanı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57216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57216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30 Haziran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95744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42048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42048" y="1417320"/>
            <a:ext cx="68580" cy="17373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88352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Sezon içi değişim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88352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-4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88352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1 Tem – 31 Ağu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14630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9A9A9A"/>
                </a:solidFill>
                <a:latin typeface="Calibri"/>
              </a:rPr>
              <a:t>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473184" y="1417320"/>
            <a:ext cx="2084831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473184" y="1417320"/>
            <a:ext cx="68580" cy="173736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19488" y="1536192"/>
            <a:ext cx="1828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31 Ağustos 2026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19488" y="1965960"/>
            <a:ext cx="1828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149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19488" y="267004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9A9A9A"/>
                </a:solidFill>
                <a:latin typeface="Calibri"/>
              </a:rPr>
              <a:t>sezon zirvesi</a:t>
            </a:r>
          </a:p>
        </p:txBody>
      </p:sp>
      <p:graphicFrame>
        <p:nvGraphicFramePr>
          <p:cNvPr id="32" name="Chart 31"/>
          <p:cNvGraphicFramePr>
            <a:graphicFrameLocks noGrp="1"/>
          </p:cNvGraphicFramePr>
          <p:nvPr/>
        </p:nvGraphicFramePr>
        <p:xfrm>
          <a:off x="548640" y="3383280"/>
          <a:ext cx="5577840" cy="1874519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33" name="Rounded Rectangle 32"/>
          <p:cNvSpPr/>
          <p:nvPr/>
        </p:nvSpPr>
        <p:spPr>
          <a:xfrm>
            <a:off x="6400800" y="3474720"/>
            <a:ext cx="516636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3584448"/>
            <a:ext cx="4754880" cy="1417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A6001A"/>
                </a:solidFill>
                <a:latin typeface="Calibri"/>
              </a:rPr>
              <a:t>Sezon döneminde kadrolu personel artmadı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Kadrolu personel 153 → 149 (-4). Geçen yıl da aynı yönde (-4). Sezonda alınan kadrolu personel ayrılanların yerine geldi, kadroyu büyütmedi.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Beş mağazanın tamamı: FSM · Özlüce · İst. Yolu · Heykel · Şura · Rakamlar 30 Haziran ve 31 Ağustos günü çalışan kişi sayısıdır.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Bazında Kadro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17320"/>
          <a:ext cx="11018520" cy="308936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005840"/>
                <a:gridCol w="1005840"/>
                <a:gridCol w="1005840"/>
                <a:gridCol w="1005840"/>
                <a:gridCol w="841248"/>
                <a:gridCol w="841248"/>
                <a:gridCol w="1005840"/>
                <a:gridCol w="1005840"/>
                <a:gridCol w="941832"/>
                <a:gridCol w="94183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30.06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Kadrolu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içi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Sezonluk 31.08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GENEL TOPLAM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31.08 ·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61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51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54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4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Şura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+2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431076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153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135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A6001A"/>
                          </a:solidFill>
                          <a:latin typeface="Calibri"/>
                        </a:rPr>
                        <a:t>211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548640" y="4526280"/>
            <a:ext cx="11018520" cy="685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4526280"/>
            <a:ext cx="10607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İŞ HACMİ KAPSAMI — üç POS mağazası (FSM · Özlüce · İst. Yolu): kadrolu 96 → 111 · sezonluk 47 → 49 · toplam 143 → 160 kişi. Diğer slaytlardaki 143 → 160 rakamı budur.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285232"/>
            <a:ext cx="11018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Kadrolu = sezonluk olmayan personel. Sezon içi değişim, 30 Haziran ile 31 Ağustos arasındaki fark: -4 ve -4 — iki yıl da azalış.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Beş mağazanın tamamı: FSM · Özlüce · İst. Yolu · Heykel · Şura · Rakamlar 30 Haziran ve 31 Ağustos günü çalışan kişi sayısıdır. İş hacmi kapsamı üç POS mağazasıdır (FSM · Özlüce · İst. Yolu).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Dönem İş Hacmi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ELLEÇLENEN ÜRÜN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+%34,9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574.656 → 775.032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CİRO · KDV DAHİL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A6001A"/>
                </a:solidFill>
                <a:latin typeface="Calibri"/>
              </a:rPr>
              <a:t>+%70,6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71,8 → 122,5 milyon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· 3 MAĞAZA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9A9A9A"/>
                </a:solidFill>
                <a:latin typeface="Calibri"/>
              </a:rPr>
              <a:t>+%11,9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143 → 160 kişi (sezonluk dahil)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383280"/>
            <a:ext cx="5166360" cy="18288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520440"/>
            <a:ext cx="4754880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A6001A"/>
                </a:solidFill>
                <a:latin typeface="Calibri"/>
              </a:rPr>
              <a:t>Neden adet sayıyoruz?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Adet, fiyat artışından etkilenmez. Kasadan geçen, rafa dizilen, depodan çıkan gerçek mal miktarını gösterir. Ciroya zam karışır, adede karışmaz.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230368"/>
            <a:ext cx="110185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Kaynak: DerinSIS mağaza satışı · Sınav hariç · iadeler düşülmüş · KDV dahil.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(Heykel ve Şura'nın kasa verisi bu sistemde yok) · 2025: 01.07 – 25.08.2025 · 2026: 07.07 – 31.08.2026 (her iki yıl 56 gün, okul dönemine göre eşleşen günler)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Başına İş Hacmi — Okul-Hizalı Pencere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576072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6583680" y="160020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0" y="160020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12280" y="170992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Özlüce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12280" y="205740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4.525 → 5.579 adet/kişi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170992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+%23,3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2788920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0" y="2788920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12280" y="289864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İst. Yolu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12280" y="324612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3.467 → 4.230 adet/kişi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0" y="289864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+%22,0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3977639"/>
            <a:ext cx="49834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3977639"/>
            <a:ext cx="68580" cy="105156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4087368"/>
            <a:ext cx="2743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FSM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34840"/>
            <a:ext cx="2788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333333"/>
                </a:solidFill>
                <a:latin typeface="Calibri"/>
              </a:rPr>
              <a:t>4.061 → 4.795 adet/kişi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4087368"/>
            <a:ext cx="1691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00" b="1">
                <a:solidFill>
                  <a:srgbClr val="A6001A"/>
                </a:solidFill>
                <a:latin typeface="Calibri"/>
              </a:rPr>
              <a:t>+%18,1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19379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6E6E6E"/>
                </a:solidFill>
                <a:latin typeface="Calibri"/>
              </a:rPr>
              <a:t>Kişi = 31 Ağustos'ta o mağazada çalışan tüm personel (sezonluk dahil). Kadrosu en çok büyüyen mağazada bile kişi başına iş arttı (İst. Yolu 50 → 61 kişi).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(Heykel ve Şura'nın kasa verisi bu sistemde yok) · 2025: 01.07 – 25.08.2025 · 2026: 07.07 – 31.08.2026 (her iki yıl 56 gün, okul dönemine göre eşleşen günler)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Dört Yıllık Seyir — Ocak-Ağustos Adedi / Kadrolu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60020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600200"/>
            <a:ext cx="68580" cy="109728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7099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2024'te kadro atladı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03911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Kadrolu 60 → 91. Adet yalnız +%11,3 arttı → kişi başı iş düştü.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283464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2834640"/>
            <a:ext cx="68580" cy="1097280"/>
          </a:xfrm>
          <a:prstGeom prst="rect">
            <a:avLst/>
          </a:prstGeom>
          <a:solidFill>
            <a:srgbClr val="6E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9443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Ama 2023 'norm' değil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27355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O yıl FSM kasada 0, Özlüce kasada 1 kişi çalışıyordu.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4069080"/>
            <a:ext cx="4160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4069080"/>
            <a:ext cx="68580" cy="10972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35240" y="417880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2B2B2B"/>
                </a:solidFill>
                <a:latin typeface="Calibri"/>
              </a:rPr>
              <a:t>2024 → 2026 toparlanma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07992"/>
            <a:ext cx="3703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Kişi başı iş +%28,8 arttı; bu yıl kadro büyürken verim de arttı.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110185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A9A9A"/>
                </a:solidFill>
                <a:latin typeface="Calibri"/>
              </a:rPr>
              <a:t>Ölçü: Ocak–Ağustos ürün adedi ÷ kadrolu personel (sezonluk hariç). Diğer slayttaki ölçüyle seviyeler değil, yönler karşılaştırılır.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· 1 Ocak – 31 Ağustos (her iki yıl) · Kadro her yıl 31 Ağustos günü sayılır · Sınav Okulları satışı adede girmiyor; o işe bakan personel kadroda kalıyor. Etki her yıl aynı yönde, karşılaştırma geçerli.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Bölüm Bazında Kadro Değişimi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548640" y="1463040"/>
          <a:ext cx="6583680" cy="32918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Rectangle 3"/>
          <p:cNvSpPr/>
          <p:nvPr/>
        </p:nvSpPr>
        <p:spPr>
          <a:xfrm>
            <a:off x="7406640" y="1463040"/>
            <a:ext cx="416052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406640" y="1463040"/>
            <a:ext cx="68580" cy="16002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57276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DEĞİŞMEYEN BÖLÜMLER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1901952"/>
            <a:ext cx="37033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2B2B2B"/>
                </a:solidFill>
                <a:latin typeface="Calibri"/>
              </a:rPr>
              <a:t>Mağaza +0  ·  Mal Kabul +0  ·  İdari İşler +0</a:t>
            </a:r>
          </a:p>
          <a:p>
            <a:pPr algn="l">
              <a:lnSpc>
                <a:spcPct val="115000"/>
              </a:lnSpc>
            </a:pPr>
            <a:r>
              <a:rPr sz="1050" b="0">
                <a:solidFill>
                  <a:srgbClr val="6E6E6E"/>
                </a:solidFill>
                <a:latin typeface="Calibri"/>
              </a:rPr>
              <a:t>Bu 3 bölümde kadro değişimi sıfırdır.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3200400"/>
            <a:ext cx="41605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3200400"/>
            <a:ext cx="68580" cy="15544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3310128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6E6E6E"/>
                </a:solidFill>
                <a:latin typeface="Calibri"/>
              </a:rPr>
              <a:t>KADROSU ARTAN BÖLÜMLER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639312"/>
            <a:ext cx="3703320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Yardımcı Kitap +6  ·  Kırtasiye +3  ·  Kasa +2  ·  Akademi +2  ·  Şura +2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28032"/>
            <a:ext cx="11018520" cy="65836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28032"/>
            <a:ext cx="1051560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31 Ağustos'ta kadrolu +14 kişilik artışın tamamı satış ve kasa bölümlerinde; yönetim kadrosu değişmedi.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Beş mağazanın tamamı: FSM · Özlüce · İst. Yolu · Heykel · Şura · Rakamlar 30 Haziran ve 31 Ağustos günü çalışan kişi sayısıdır.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Mağaza Performans Karşılaştırması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37360"/>
                <a:gridCol w="1371600"/>
                <a:gridCol w="1691640"/>
                <a:gridCol w="1371600"/>
                <a:gridCol w="1554480"/>
                <a:gridCol w="1280160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Adet/kişi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İş ÷ kadro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51 → 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+%30,5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+%57,6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+%23,3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5,2x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50 → 61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+%48,8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+%96,0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+%22,0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2,2x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42 → 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+%26,5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+%62,3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A6001A"/>
                          </a:solidFill>
                          <a:latin typeface="Calibri"/>
                        </a:rPr>
                        <a:t>+%18,1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3,7x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143 → 160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+%11,9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+%34,9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+%70,6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+%20,5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2,9x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3291840"/>
          <a:ext cx="6766560" cy="21488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498079" y="3474720"/>
            <a:ext cx="406908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26679" y="3611880"/>
            <a:ext cx="3657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333333"/>
                </a:solidFill>
                <a:latin typeface="Calibri"/>
              </a:rPr>
              <a:t>Üç mağazada da iş, kadrodan daha hızlı arttı. En çok kadro alan İst. Yolu mağazasında bile iş artışı kadronun 2,2 katı.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(Heykel ve Şura'nın kasa verisi bu sistemde yok) · 2025: 01.07 – 25.08.2025 · 2026: 07.07 – 31.08.2026 (her iki yıl 56 gün, okul dönemine göre eşleşen günler)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Kategori Büyümesi ve İlgili Bölüm Kadrosu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11018520" cy="26174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600200"/>
                <a:gridCol w="2148840"/>
                <a:gridCol w="1097280"/>
                <a:gridCol w="1051560"/>
                <a:gridCol w="1143000"/>
                <a:gridCol w="1051560"/>
                <a:gridCol w="960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Kategori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Bakan 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Ürün adedi 2025 →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SEZON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adet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OCA-AĞU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ciro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kadro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Hazırlık Kitapları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38.785 → 53.873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+%38,9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+%91,4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+%21,8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+%46,3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+6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222.233 → 296.797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+%33,6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+%75,0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+%37,5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+3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7.328 → 24.841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+%239,0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+%242,1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+%152,9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+%176,9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Kitap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66.399 → 83.655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+%26,0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+%59,7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+%16,7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+%49,2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37.135 → 58.662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+%58,0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+%50,4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+%45,3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+%66,6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+1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 Kitabı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73.247 → 85.697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+%17,0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+%54,7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+%22,9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+%57,7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-1 kişi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08610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DİĞER (6 kategori)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bölüm eşleşmesi yok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129.221 → 170.476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+%31,9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A6001A"/>
                          </a:solidFill>
                          <a:latin typeface="Calibri"/>
                        </a:rPr>
                        <a:t>+%41,8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333333"/>
                          </a:solidFill>
                          <a:latin typeface="Calibri"/>
                        </a:rPr>
                        <a:t>+%50,5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+%79,8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4224528"/>
          <a:ext cx="6766560" cy="1298448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68496"/>
            <a:ext cx="676656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Ürün adedi büyümesi (%) — kategori bazında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4041648"/>
            <a:ext cx="4069080" cy="148132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4114800"/>
            <a:ext cx="3657600" cy="13533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Değerlendirme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Kadro, satışı en hızlı artan kategorilere gitti. SEZON kolonları okul dönemini, OCA-AĞU kolonları yılın tamamını gösterir; sıralama ikisinde de aynı. DİĞER satırı, tek bir reyona bağlanamayan kategorilerin toplamı.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(Heykel ve Şura'nın kasa verisi bu sistemde yok) · 2025: 01.07 – 25.08.2025 · 2026: 07.07 – 31.08.2026 (her iki yıl 56 gün, okul dönemine göre eşleşen günler) · OCA-AĞU kolonları 1 Ocak – 31 Ağustos · Reyona bağlanabilen 6 kategori ayrı satırda (satışın %78'i); kalan 6 kategori DİĞER satırında.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Takvim Kayması: Ağustos ve Eylül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GERÇEK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+%5,5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458.259 → 483.500 adet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rocke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AĞUSTOS · KAYMASIZ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614.956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tahmini · 101,7 M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EYLÜL'E KAYAN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131.456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adet · 23,6 M TL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200400"/>
          <a:ext cx="5577840" cy="214884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00800" y="3291840"/>
            <a:ext cx="516636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3401568"/>
            <a:ext cx="475488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Eylül'de beklenen dalga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333333"/>
                </a:solidFill>
                <a:latin typeface="Calibri"/>
              </a:rPr>
              <a:t>Geçen yıl okul öncesi alış dalgası 28.08 - 07.09.2025 arasındaydı: 412.212 adet, 54,1 milyon TL. Bu yıl aynı dalga 03.09 - 13.09.2026 arasına düşüyor. Aynı büyüme oranıyla 553.164 adet, 89,8 milyon TL bekliyoruz.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Kapsam: üç POS mağazası — FSM · Özlüce · İst. Yolu · Hizalı pencere 01.08 – 27.08.2025 ile 07.08 – 02.09.2026 (27 gün; bugün hariç, son tam gün 02.09.2026) · Tahmin yöntemi: hizalı büyüme +%34,2, talep kaybı olmadığı varsayımıyla.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Kadro — Mağaza Detayı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Norm 217 kişi (kadrolu 145 + sezonluk 72). Fiilen çalışan 189 kişi (kadrolu 131 + sezonluk 58). Fark -28 kişi. Engelli ve etkinlik sayılmadı.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810512"/>
          <a:ext cx="10515599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932688"/>
                <a:gridCol w="987552"/>
                <a:gridCol w="749808"/>
                <a:gridCol w="960120"/>
                <a:gridCol w="1042415"/>
                <a:gridCol w="749808"/>
                <a:gridCol w="1051560"/>
                <a:gridCol w="1143000"/>
                <a:gridCol w="749808"/>
              </a:tblGrid>
              <a:tr h="347472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Mağaza / Grup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GERÇEK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FARK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Özlüce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62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-9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FSM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47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İst. Yolu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+0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Heykel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-15</a:t>
                      </a:r>
                    </a:p>
                  </a:txBody>
                  <a:tcPr>
                    <a:solidFill>
                      <a:srgbClr val="FDF2F3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Engelli **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OPERASYONEL 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72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217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-28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Kayıt toplamı (İK, tüm gruplar)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195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13632"/>
            <a:ext cx="11018520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>
                <a:solidFill>
                  <a:srgbClr val="6E6E6E"/>
                </a:solidFill>
                <a:latin typeface="Calibri"/>
              </a:rPr>
              <a:t>** Yönetim kararı: engelli ve etkinlik kadrosu norm dışıdır; norm doluluğuna sayılmaz, mağaza satırlarından düşülmüştür. Heykel ve Şura'da engelli kadro yoktur (ayrı tüzel kişilik, 50 çalışan altı → 4857/30 yükümlülüğü doğmaz).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4370832"/>
            <a:ext cx="11018520" cy="475488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10607040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A6001A"/>
                </a:solidFill>
                <a:latin typeface="Calibri"/>
              </a:rPr>
              <a:t>Norm 217 kişi · fiilen çalışan 189 kişi · fark -28 kişi (kadrolu -14 · sezonluk -14).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82896"/>
            <a:ext cx="11018520" cy="676656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4882896"/>
            <a:ext cx="68580" cy="676656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901184"/>
            <a:ext cx="106070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KAPSAM SÖZLÜĞÜ — bu destede üç ayrı kapsam kullanılır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5102352"/>
            <a:ext cx="108356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800" b="0">
                <a:solidFill>
                  <a:srgbClr val="333333"/>
                </a:solidFill>
                <a:latin typeface="Calibri"/>
              </a:rPr>
              <a:t>• 3 POS mağazası (FSM · Özlüce · İst. Yolu) — iş hacminin ölçülebildiği kapsam: kadro 143 → 160
• 4 norm mağazası (+ Heykel) — norm karşılaştırması: norm 217 · kayıt 195 · operasyonel 189
• 5 mağaza (+ Şura) — İK kadro raporu: kadrolu 149 + sezonluk 62 = 211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Norm, engelli dışındaki personeli sayar; etkinlik de norm dışı (engelli 3, etkinlik 3 kişi ayrı satırda). En alttaki satır İK'nın resmi kaydı: kadrolu 137, sezonluk 58. Norm tablosu 11.08.2026 tarihli; Şura kapsam dışı.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Norm Açığı — Bölüm Bazında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371600"/>
          <a:ext cx="6858000" cy="305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731520"/>
                <a:gridCol w="1143000"/>
                <a:gridCol w="960120"/>
                <a:gridCol w="685800"/>
                <a:gridCol w="685800"/>
                <a:gridCol w="9601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Bölüm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Norm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Operasyonel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kadrolu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Engelli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(norm dışı)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Açık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Fazla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Sezonluk</a:t>
                      </a:r>
                    </a:p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31.08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Çocuk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Kültür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Mağaza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İdari İşler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Akademi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Kasa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Kırtasiye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Kıyafet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Mal Kabul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Oyuncak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Yardımcı Kitap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TOPLAM (teyit hariç)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131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Muhasebe (teyit bekliyor)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Oyun Alanı (teyit bekliyor)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Etkinlik (norm dışı)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A6001A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7955279" y="1371600"/>
            <a:ext cx="36118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955279" y="1371600"/>
            <a:ext cx="68580" cy="196596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83879" y="1481328"/>
            <a:ext cx="2743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EN BÜYÜK AÇIKLAR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810512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Çocuk  5 kişi
Kültür  2 kişi
Mağaza  2 kişi
İdari İşler  2 kişi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3520440"/>
            <a:ext cx="3611880" cy="196596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79" y="3630168"/>
            <a:ext cx="3200400" cy="1783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1">
                <a:solidFill>
                  <a:srgbClr val="A6001A"/>
                </a:solidFill>
                <a:latin typeface="Calibri"/>
              </a:rPr>
              <a:t>Neden mağaza toplamından büyük?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Bölüm bölüm bakınca açık 15 kişi, mağaza toplamında 14. Bir bölümdeki fazla, başka bölümün açığını kapatıyor gibi görünüyor. Gerçek ihtiyaç bölüm bazında okunur. Normda yazılı olup kayıtta personeli olmayan 2 kişilik satır (Muhasebe · Oyun Alanı) açığa katılmadı; teyit bekliyor.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Norm, engelli dışındaki personeli sayar (yönetim kararı); engelli bölüm bazında da düşüldü: Kırtasiye 2 · Mal Kabul 1 · Etkinlik normda yok, en altta ayrı satır · Norm tablosundaki dört mağaza (Şura yok) · Norm 11.08.2026 tarihli · Gerçek sayılar 31 Ağustos günü.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Personel Maliyeti — Sezon (Tem)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ay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100 TL SATIŞTA PERSONEL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A6001A"/>
                </a:solidFill>
                <a:latin typeface="Calibri"/>
              </a:rPr>
              <a:t>14,30 ₺ → 12,71 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1,59 ₺ azaldı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ack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BAŞINA SATIŞ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+%50,2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316 → 475 bin TL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us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KİŞİ BAŞINA MALİYET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+%33,6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45 → 60 bin TL (ücret artışı)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91840"/>
          <a:ext cx="722376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1234440"/>
                <a:gridCol w="1234440"/>
                <a:gridCol w="1188720"/>
                <a:gridCol w="1234440"/>
              </a:tblGrid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SEZON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Yılbaşından 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Çalışan (tam gün karşılığı)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97,1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112,4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+%15,8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+%11,3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  — kadrolu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93,8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110,9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+%18,3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+%8,9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  —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-1.8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+17.3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  — bordroda görünen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110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127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+%15,5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+%9,6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Brüt ücret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3,6 M 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5,5 M TL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+%53,5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+%50,5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İşveren SGK + işsizlik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0,8 M TL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1,3 M TL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+%59,5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+%56,3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PERSONEL MALİYETİ (şirkete toplam)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4,4 M TL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333333"/>
                          </a:solidFill>
                          <a:latin typeface="Calibri"/>
                        </a:rPr>
                        <a:t>6,8 M TL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+%54,6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9A9A9A"/>
                          </a:solidFill>
                          <a:latin typeface="Calibri"/>
                        </a:rPr>
                        <a:t>+%51,5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Satış (KDV hariç)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30,7 M TL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53,4 M TL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+%73,9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+%60,3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100 TL SATIŞTA PERSONEL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14,30 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333333"/>
                          </a:solidFill>
                          <a:latin typeface="Calibri"/>
                        </a:rPr>
                        <a:t>12,71 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A6001A"/>
                          </a:solidFill>
                          <a:latin typeface="Calibri"/>
                        </a:rPr>
                        <a:t>-1,59 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0">
                          <a:solidFill>
                            <a:srgbClr val="9A9A9A"/>
                          </a:solidFill>
                          <a:latin typeface="Calibri"/>
                        </a:rPr>
                        <a:t>-0,70 ₺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7955279" y="3291840"/>
            <a:ext cx="3611880" cy="1874519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83879" y="3401568"/>
            <a:ext cx="320040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>
                <a:solidFill>
                  <a:srgbClr val="A6001A"/>
                </a:solidFill>
                <a:latin typeface="Calibri"/>
              </a:rPr>
              <a:t>Maliyet arttı, yükü azaldı</a:t>
            </a:r>
          </a:p>
          <a:p>
            <a:pPr algn="l">
              <a:lnSpc>
                <a:spcPct val="110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Maliyet +%54,6 arttı; sebebi kişi başına ücret (+%33,6), kadro değil. Yine de 100 TL satışta personele giden para 1,59 ₺ azaldı: 14,30 ₺ → 12,71 ₺.</a:t>
            </a:r>
          </a:p>
          <a:p>
            <a:pPr algn="l">
              <a:lnSpc>
                <a:spcPct val="11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Yılbaşından bu yana da -0,70 ₺ azalıyor. Geçen yılın tam sezonunda bu tutar 3,54 ₺ idi; sezonda satış birkaç katına çıkınca bu tutar doğal olarak düşer.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Çalışan sayısı tam gün karşılığı: yarım ay çalışan yarım sayılır. Maliyet = brüt ücret + işveren SGK payı (kıdem ve yan haklar hariç). 2026 sezonu bitmedi: Ağu, Eyl, Eki ayları henüz bordroya girmedi. Karşılaştırma Tem ayı ile yapıldı; geçen yılın tam sezonu ayrıca gösteriliyor.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Kadro Alınmasaydı: Fazla Mesai Sınırı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BUGÜNKÜ FAZLA MESAİ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9A9A9A"/>
                </a:solidFill>
                <a:latin typeface="Calibri"/>
              </a:rPr>
              <a:t>84 sa/yıl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kişi başına yılda · yılbaşından bu yana 118 saat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lert-triang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 ARTMASAYDI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465 sa/yıl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aynı iş, 15 kişi eksik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chec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YASAL ÜST SINIR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270 sa/yıl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kanunun izin verdiği üst sınır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383280"/>
          <a:ext cx="5760720" cy="20574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6492240" y="3383280"/>
            <a:ext cx="5074920" cy="178308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493008"/>
            <a:ext cx="4617720" cy="16276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1">
                <a:solidFill>
                  <a:srgbClr val="A6001A"/>
                </a:solidFill>
                <a:latin typeface="Calibri"/>
              </a:rPr>
              <a:t>Kadro artmasaydı ne olurdu?</a:t>
            </a:r>
          </a:p>
          <a:p>
            <a:pPr algn="l">
              <a:lnSpc>
                <a:spcPct val="112000"/>
              </a:lnSpc>
            </a:pPr>
            <a:r>
              <a:rPr sz="1000" b="0">
                <a:solidFill>
                  <a:srgbClr val="333333"/>
                </a:solidFill>
                <a:latin typeface="Calibri"/>
              </a:rPr>
              <a:t>Kadro 2025 seviyesinde kalsaydı, aynı işi çıkarmak 2.984 saat ek fazla mesai isterdi. Kişi başına yılda 465 saat eder; yasal sınır 270 saat. Bugünkü fazla mesai 84 saat, sınırın içinde. Sınıra yaklaşan kişi sayısı 1'den 2'ye çıktı.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Kaynak: Zirve bordro fazla mesai saatleri · Sezon Tem · Üç mağaza · Şu kabul edildi: iş yükü kişi sayısıyla doğru orantılı ve eksik kapasite ancak fazla mesaiyle kapanır. Kişi başına normal çalışma ayda 195 saat; yasal fazla mesai sınırı yılda 270 saat.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Aylık Kadro ve Personel Maliyeti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AYI ÇALIŞAN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30622"/>
                </a:solidFill>
                <a:latin typeface="Calibri"/>
              </a:rPr>
              <a:t>97,1 → 112,4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Tem · +%15,8 · bordroda 110 → 127 kişi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lay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100 TL SATIŞTA PERSONEL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A6001A"/>
                </a:solidFill>
                <a:latin typeface="Calibri"/>
              </a:rPr>
              <a:t>14,3 ₺ → 12,7 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Tem ayı · -1,6 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workflow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KADROLU / SEZONLUK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9A9A9A"/>
                </a:solidFill>
                <a:latin typeface="Calibri"/>
              </a:rPr>
              <a:t>110,9 / 1,5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kişi · kadro 7/7 ayda arttı</a:t>
            </a:r>
          </a:p>
        </p:txBody>
      </p:sp>
      <p:graphicFrame>
        <p:nvGraphicFramePr>
          <p:cNvPr id="21" name="Chart 20"/>
          <p:cNvGraphicFramePr>
            <a:graphicFrameLocks noGrp="1"/>
          </p:cNvGraphicFramePr>
          <p:nvPr/>
        </p:nvGraphicFramePr>
        <p:xfrm>
          <a:off x="548640" y="3520440"/>
          <a:ext cx="5486400" cy="196596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548640" y="3291840"/>
            <a:ext cx="548640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Aylık çalışan sayısı: kadrolu + sezonluk, iki yıl (2026 sezonu Ağustos–Ekim'de dolacak)</a:t>
            </a:r>
          </a:p>
        </p:txBody>
      </p:sp>
      <p:graphicFrame>
        <p:nvGraphicFramePr>
          <p:cNvPr id="23" name="Chart 22"/>
          <p:cNvGraphicFramePr>
            <a:graphicFrameLocks noGrp="1"/>
          </p:cNvGraphicFramePr>
          <p:nvPr/>
        </p:nvGraphicFramePr>
        <p:xfrm>
          <a:off x="6172200" y="3520440"/>
          <a:ext cx="5394960" cy="196596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6172200" y="3291840"/>
            <a:ext cx="539496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>
                <a:solidFill>
                  <a:srgbClr val="6E6E6E"/>
                </a:solidFill>
                <a:latin typeface="Calibri"/>
              </a:rPr>
              <a:t>100 TL satışta personele giden para — aylık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Sezon Tem–Eki: Temmuz hazırlık, asıl satış ve sezonluk kadro Ağustos–Ekim. 2026'nın boş ayları henüz bordroya girmedi. * işaretli aylar sezon ayı (Tem–Eki). Ağustos, Eylül, Ekim bordrosu işlendiğinde tabloya eklenir Üç mağaza · Ayrıntı Excel «Maliyet» sayfasında.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Sezonun Kalanı — Eylül–Ekim Tahmini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pack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SATIŞI (TAHMİN)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990 M 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2025: 602 M · +%64,5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SEZON ÇALIŞANI (TAHMİN)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9A9A9A"/>
                </a:solidFill>
                <a:latin typeface="Calibri"/>
              </a:rPr>
              <a:t>531,0 FTE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2025: 458,7 kişi · +%15,8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layer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100 TL SATIŞTA PERSONEL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A6001A"/>
                </a:solidFill>
                <a:latin typeface="Calibri"/>
              </a:rPr>
              <a:t>%3,23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2025: 3,54 ₺ · tahmin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337560"/>
          <a:ext cx="7223760" cy="14081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77240"/>
                <a:gridCol w="777240"/>
                <a:gridCol w="868680"/>
                <a:gridCol w="1051560"/>
                <a:gridCol w="1051560"/>
                <a:gridCol w="777240"/>
                <a:gridCol w="822960"/>
                <a:gridCol w="1097280"/>
              </a:tblGrid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Ay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Satış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Maliyet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Satış 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Satış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Δ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Çalışan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Maliyet 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Tem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gerçek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gerçek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30,7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53,4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+%73,9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112,4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6,8 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Ağu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gerçek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TAHMİN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186,9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172,1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−%7,9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139,6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8,4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Eyl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KISMI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TAHMİN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313,0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631,9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+%101,9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153,8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9,3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Eki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TAHMIN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A6001A"/>
                          </a:solidFill>
                          <a:latin typeface="Calibri"/>
                        </a:rPr>
                        <a:t>TAHMİN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71,4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133,0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+%86,3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125,2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333333"/>
                          </a:solidFill>
                          <a:latin typeface="Calibri"/>
                        </a:rPr>
                        <a:t>7,6 M</a:t>
                      </a:r>
                    </a:p>
                  </a:txBody>
                  <a:tcPr>
                    <a:solidFill>
                      <a:srgbClr val="FFF6E6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Ağu+Eyl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kayma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nötr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499,9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804,0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+%60,8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293,4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17,7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TOPLAM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602,0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990,4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+%64,5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531,0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333333"/>
                          </a:solidFill>
                          <a:latin typeface="Calibri"/>
                        </a:rPr>
                        <a:t>32,0 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7955279" y="3520440"/>
          <a:ext cx="3611880" cy="192024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7955279" y="3291840"/>
            <a:ext cx="361188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Satış (milyon TL) — gerçekleşen + tahmin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47488"/>
            <a:ext cx="7223760" cy="40233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0">
                <a:solidFill>
                  <a:srgbClr val="A6001A"/>
                </a:solidFill>
                <a:latin typeface="Calibri"/>
              </a:rPr>
              <a:t>TAKVİM AYI KIYASI KAYMAYI YANSITIR: okul 08.09.2025'de değil 14.09.2026'te açıldı — 2025'te Ağustos sonunda gerçekleşen yoğunluk 2026'da Eylül başına düştü. Bu yüzden Ağustos -8%, Eylül +102% görünür; ay ay okumak yanıltır, SEZON TOPLAMI (veya Ağustos+Eylül birlikte) esas alınır.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02.09.2026 tarihine kadar gerçek veri, sonrası tahmin. Geçen yılın günlük satışı okul açılışına göre bu yılın takvimine taşındı (08.09.2025 yerine 14.09.2026 açıldı) ve ölçülen +%66,0 satış artışı uygulandı. Ücretler sabit kabul edildi; üç mağaza, satış KDV hariç.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Sezonluk Alım Zamanlaması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18288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work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93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ORTALAMA ALIM GÜNÜ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A9A9A"/>
                </a:solidFill>
                <a:latin typeface="Calibri"/>
              </a:rPr>
              <a:t>2,5 gün geç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takvim ölçüsü · 225. → 228. gün</a:t>
            </a:r>
          </a:p>
        </p:txBody>
      </p:sp>
      <p:sp>
        <p:nvSpPr>
          <p:cNvPr id="9" name="Rectangle 8"/>
          <p:cNvSpPr/>
          <p:nvPr/>
        </p:nvSpPr>
        <p:spPr>
          <a:xfrm>
            <a:off x="4279392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79392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0064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535424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TEMMUZ VE ÖNCESİ ALIM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35424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6 →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5424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gerçek erken alım azaldı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5661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371600"/>
            <a:ext cx="68580" cy="18288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ack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257031" y="1536192"/>
            <a:ext cx="26974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>
                <a:solidFill>
                  <a:srgbClr val="6E6E6E"/>
                </a:solidFill>
                <a:latin typeface="Calibri"/>
              </a:rPr>
              <a:t>1–14 AĞUSTOS İŞ HACMİ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7031" y="1975104"/>
            <a:ext cx="3154679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+%25,1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1" y="2688336"/>
            <a:ext cx="3154679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6E6E6E"/>
                </a:solidFill>
                <a:latin typeface="Calibri"/>
              </a:rPr>
              <a:t>137.483 → 171.957 adet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48640" y="3246120"/>
          <a:ext cx="1101852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737360"/>
                <a:gridCol w="1737360"/>
                <a:gridCol w="4251960"/>
              </a:tblGrid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Ölçü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Yorum</a:t>
                      </a:r>
                    </a:p>
                  </a:txBody>
                  <a:tcPr>
                    <a:solidFill>
                      <a:srgbClr val="E30622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Ortalama alım günü (takvim)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225.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228. gün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2026 alımı ortalama 2,5 gün DAHA GEÇ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Temmuz ve öncesi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azaldı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Açılıştan 45+ gün önce alınan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çok erken alım azaldı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alınan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30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artış bu iki haftada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1–14 Ağustos ürün adedi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137.483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171.957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büyüdü — alım işi takip etti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15–31 Ağustos ürün adedi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320.776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311.542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−%2,9 — dalga Eylül'e kaydı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31.08'de çalışan sezonluk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65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62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kesimde 3 kişi DAHA AZ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Temmuz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erken alım payı düştü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1–14 Ağustos alımı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12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27 kişi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+%25,1 büyüyen dönem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   — 15–31 Ağustos alımı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333333"/>
                          </a:solidFill>
                          <a:latin typeface="Calibri"/>
                        </a:rPr>
                        <a:t>49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333333"/>
                          </a:solidFill>
                          <a:latin typeface="Calibri"/>
                        </a:rPr>
                        <a:t>32 kişi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A6001A"/>
                          </a:solidFill>
                          <a:latin typeface="Calibri"/>
                        </a:rPr>
                        <a:t>iş −%2,9 → alım azaltıldı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İK'da bir kayıt düzeltme bekliyor: 2025 girişli bir sezonluk personelin çıkışı işlenmemiş, 31 Ağustos'ta aktif görünüyor (düzeltilince sezonluk 62 → 61). Beş mağaza; iki yıl aynı ofsette kesildi. «Açılıştan kaç gün önce» ölçüsü 6 günlük kaymadan etkilenir, bu yüzden takvim ölçüsü esas alınmıştır.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Yöntem ve Açıklamalar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25880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25880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53895"/>
            <a:ext cx="256032" cy="2560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3000" y="1389888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Büyüme kurumsal kanaldan mı geldi?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673352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Sınav Okulları küçüldü: Ocak–Ağustos satışı 136,2 → 105,6 milyon TL (−%22,4). Mağaza tarafı +%54,9 büyüdü; büyüme mağaza satışından geldi.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1929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01929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147316"/>
            <a:ext cx="256032" cy="25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43000" y="208330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Ciro artışı enflasyon kaynaklı mı?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36677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Aynı ürünlerde fiyatlar %19,8 arttı. Bu yüzden ciroya değil adede bakıyoruz: ürün adedi +%34,9; adede zam karışmaz.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71271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71271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840736"/>
            <a:ext cx="256032" cy="256032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43000" y="277672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Kasa sistemi değişti, karşılaştırma geçerli mi?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06019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Bu yüzden rakamlar kasa sisteminden değil ERP'den alındı; iki yılda da aynı kaynak. Temmuz 2025 kasa değişimi rakamları etkilemiyor.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40613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40613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534156"/>
            <a:ext cx="256032" cy="2560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143000" y="347014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Sezonluk personel erken mi alındı?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5361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Takvime göre 2026 alımı ortalama 2,5 gün daha geç. Temmuz ve öncesi alım 6 kişiden 2'ye indi. Artış 1–14 Ağustos'ta; o iki haftada ürün adedi +%25,1 büyüdü. Alım işi takip etti.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09955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9955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27575"/>
            <a:ext cx="256032" cy="256032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143000" y="416356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Personel maliyeti çok mu arttı?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3000" y="444703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Sezonda maliyet +%54,6 arttı. Sebebi kişi başına ücret artışı (+%33,6), kadro değil. 100 TL satışta personele giden para 1,59 ₺ GERİLEMİŞTİR: 14,30 ₺ → 12,71 ₺ (yılbaşından bu yana -0,70 ₺).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792979"/>
            <a:ext cx="11018520" cy="60198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792979"/>
            <a:ext cx="68580" cy="601980"/>
          </a:xfrm>
          <a:prstGeom prst="rect">
            <a:avLst/>
          </a:prstGeom>
          <a:solidFill>
            <a:srgbClr val="E306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ircle-ch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920995"/>
            <a:ext cx="256032" cy="25603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143000" y="4856987"/>
            <a:ext cx="100584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>
                <a:solidFill>
                  <a:srgbClr val="A6001A"/>
                </a:solidFill>
                <a:latin typeface="Calibri"/>
              </a:rPr>
              <a:t>Ağustos ayında ivme düşüşü var mı?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140451"/>
            <a:ext cx="10058400" cy="2179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950" b="0">
                <a:solidFill>
                  <a:srgbClr val="333333"/>
                </a:solidFill>
                <a:latin typeface="Calibri"/>
              </a:rPr>
              <a:t>Takvim etkisi: okul 2025'te 8 Eylül, 2026'da 14 Eylül açıldı; sezon 6 gün geriye kaydı. Açılış gününe göre hizalanınca haftalık büyüme %65–79 arasında sabit.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Mağazalar: FSM · Özlüce · İst. Yolu · 1 Ocak – 31 Ağustos (her iki yıl) (kurumsal/mağaza kıyası) · hizalı dönem: 2025: 01.07 – 25.08.2025 · 2026: 07.07 – 31.08.2026 (her iki yıl 56 gün, okul dönemine göre eşleşen günler)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74320"/>
            <a:ext cx="11018520" cy="914400"/>
          </a:xfrm>
        </p:spPr>
        <p:txBody>
          <a:bodyPr/>
          <a:lstStyle/>
          <a:p>
            <a:r>
              <a:t>İyileştirme Alanı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68580" cy="2286000"/>
          </a:xfrm>
          <a:prstGeom prst="rect">
            <a:avLst/>
          </a:prstGeom>
          <a:solidFill>
            <a:srgbClr val="A60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lert-triang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112" y="1536192"/>
            <a:ext cx="274320" cy="274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1481328"/>
            <a:ext cx="4572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KADROLU ALIMDA KALMA ORANI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847088"/>
            <a:ext cx="4937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A6001A"/>
                </a:solidFill>
                <a:latin typeface="Calibri"/>
              </a:rPr>
              <a:t>%95,7 → %75,0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67004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İlk 14 günü tamamlayanlar (22/23 → 21/28). 32 yeni alımdan 10'si 31 Ağustos'a kadar ayrıldı (geçen yıl 24 alımdan 2). Aynı pozisyonu iki kez doldurmak maliyet demek.</a:t>
            </a:r>
          </a:p>
        </p:txBody>
      </p:sp>
      <p:sp>
        <p:nvSpPr>
          <p:cNvPr id="9" name="Rectangle 8"/>
          <p:cNvSpPr/>
          <p:nvPr/>
        </p:nvSpPr>
        <p:spPr>
          <a:xfrm>
            <a:off x="6172200" y="1371600"/>
            <a:ext cx="53949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72200" y="1371600"/>
            <a:ext cx="68580" cy="2286000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user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91672" y="1536192"/>
            <a:ext cx="274320" cy="2743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1481328"/>
            <a:ext cx="45720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6E6E6E"/>
                </a:solidFill>
                <a:latin typeface="Calibri"/>
              </a:rPr>
              <a:t>SEZONLUK KADRODA KALMA ORANI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47088"/>
            <a:ext cx="4937760" cy="7863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9A9A9A"/>
                </a:solidFill>
                <a:latin typeface="Calibri"/>
              </a:rPr>
              <a:t>%93,9 → %95,1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70048"/>
            <a:ext cx="49377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333333"/>
                </a:solidFill>
                <a:latin typeface="Calibri"/>
              </a:rPr>
              <a:t>Sezonlukta kalma oranı yükseldi (46/49 → 39/41). Sorun sezonluk alımda değil, kadrolu alımın ilk haftasında.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840480"/>
            <a:ext cx="11018520" cy="1600200"/>
          </a:xfrm>
          <a:prstGeom prst="roundRect">
            <a:avLst/>
          </a:prstGeom>
          <a:solidFill>
            <a:srgbClr val="F2F2F2"/>
          </a:solidFill>
          <a:ln w="19050">
            <a:solidFill>
              <a:srgbClr val="E3062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3977639"/>
            <a:ext cx="105156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1">
                <a:solidFill>
                  <a:srgbClr val="A6001A"/>
                </a:solidFill>
                <a:latin typeface="Calibri"/>
              </a:rPr>
              <a:t>Planlanan Aksiyonlar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33333"/>
                </a:solidFill>
                <a:latin typeface="Calibri"/>
              </a:rPr>
              <a:t>• En bozuk üç nokta: Özlüce, Heykel, Merkez Depo → ilk hafta karşılama protokolü.
• İdari İşler pozisyonunda ücret–vardiya revizyonu.
• Ölçüt: gelecek sezon Eylül öncesi kayıp %20'den %12'ye (2025 seviyesi).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5669280"/>
            <a:ext cx="955548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>
                <a:solidFill>
                  <a:srgbClr val="9A9A9A"/>
                </a:solidFill>
                <a:latin typeface="Calibri"/>
              </a:rPr>
              <a:t>* Beş mağazanın tamamı: FSM · Özlüce · İst. Yolu · Heykel · Şura · Rakamlar 30 Haziran ve 31 Ağustos günü çalışan kişi sayısıdır. Ölçüm mağaza kadrosu üzerinden yapıldı.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6355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A9A9A"/>
                </a:solidFill>
                <a:latin typeface="Calibri"/>
              </a:rPr>
              <a:t>© Fikri Eren 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Sonuç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Norm tablosuna göre fark -28 kişi · kadrolu −4 · ürün adedi +%34,9 · personel başına iş +%20,5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10211</TotalTime>
  <Words>12</Words>
  <Application>Microsoft Office PowerPoint</Application>
  <PresentationFormat>Geniş ekran</PresentationFormat>
  <Paragraphs>6</Paragraphs>
  <Slides>3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Teması</vt:lpstr>
      <vt:lpstr>PowerPoint Sunusu</vt:lpstr>
      <vt:lpstr>PowerPoint Sunusu</vt:lpstr>
      <vt:lpstr>PowerPoint Sunusu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creator>Microsoft Office User</dc:creator>
  <cp:lastModifiedBy>Fikri EREN</cp:lastModifiedBy>
  <cp:revision>38</cp:revision>
  <dcterms:created xsi:type="dcterms:W3CDTF">2021-08-17T14:49:48Z</dcterms:created>
  <dcterms:modified xsi:type="dcterms:W3CDTF">2026-06-03T21:08:53Z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2026-04-28T14:42:08Z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ce838670-1954-4442-b940-eac0d507ddc2</vt:lpwstr>
  </property>
  <property fmtid="{D5CDD505-2E9C-101B-9397-08002B2CF9AE}" pid="7" name="MSIP_Label_defa4170-0d19-0005-0004-bc88714345d2_ActionId">
    <vt:lpwstr>6985f007-4c57-476a-a6d9-44ba75cd90f5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