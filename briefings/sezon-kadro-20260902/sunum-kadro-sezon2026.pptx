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122.53417561000006</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5578.70462962963</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30.5442513521349</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57.55862375814162</c:v>
                </c:pt>
                <c:pt idx="1">
                  <c:v>96.00493094594302</c:v>
                </c:pt>
                <c:pt idx="2">
                  <c:v>62.267526610057274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fiili</c:v>
                </c:pt>
              </c:strCache>
            </c:strRef>
          </c:tx>
          <c:spPr>
            <a:solidFill>
              <a:srgbClr val="9A9A9A"/>
            </a:solidFill>
          </c:spPr>
          <c:cat>
            <c:strRef>
              <c:f>Sheet1!$A$2:$A$2</c:f>
              <c:strCache>
                <c:ptCount val="1"/>
                <c:pt idx="0">
                  <c:v>Kişi başına yıllık fazla mesai (saat)</c:v>
                </c:pt>
              </c:strCache>
            </c:strRef>
          </c:cat>
          <c:val>
            <c:numRef>
              <c:f>Sheet1!$B$2:$B$2</c:f>
              <c:numCache>
                <c:formatCode>General</c:formatCode>
                <c:ptCount val="1"/>
                <c:pt idx="0">
                  <c:v>97.23687580025609</c:v>
                </c:pt>
              </c:numCache>
            </c:numRef>
          </c:val>
        </c:ser>
        <c:ser>
          <c:idx val="1"/>
          <c:order val="1"/>
          <c:tx>
            <c:strRef>
              <c:f>Sheet1!$C$1</c:f>
              <c:strCache>
                <c:ptCount val="1"/>
                <c:pt idx="0">
                  <c:v>2026 fiili</c:v>
                </c:pt>
              </c:strCache>
            </c:strRef>
          </c:tx>
          <c:spPr>
            <a:solidFill>
              <a:srgbClr val="E30622"/>
            </a:solidFill>
          </c:spPr>
          <c:cat>
            <c:strRef>
              <c:f>Sheet1!$A$2:$A$2</c:f>
              <c:strCache>
                <c:ptCount val="1"/>
                <c:pt idx="0">
                  <c:v>Kişi başına yıllık fazla mesai (saat)</c:v>
                </c:pt>
              </c:strCache>
            </c:strRef>
          </c:cat>
          <c:val>
            <c:numRef>
              <c:f>Sheet1!$C$2:$C$2</c:f>
              <c:numCache>
                <c:formatCode>General</c:formatCode>
                <c:ptCount val="1"/>
                <c:pt idx="0">
                  <c:v>106.94172897196262</c:v>
                </c:pt>
              </c:numCache>
            </c:numRef>
          </c:val>
        </c:ser>
        <c:ser>
          <c:idx val="2"/>
          <c:order val="2"/>
          <c:tx>
            <c:strRef>
              <c:f>Sheet1!$D$1</c:f>
              <c:strCache>
                <c:ptCount val="1"/>
                <c:pt idx="0">
                  <c:v>Kadro artmasaydı</c:v>
                </c:pt>
              </c:strCache>
            </c:strRef>
          </c:tx>
          <c:spPr>
            <a:solidFill>
              <a:srgbClr val="A6001A"/>
            </a:solidFill>
          </c:spPr>
          <c:cat>
            <c:strRef>
              <c:f>Sheet1!$A$2:$A$2</c:f>
              <c:strCache>
                <c:ptCount val="1"/>
                <c:pt idx="0">
                  <c:v>Kişi başına yıllık fazla mesai (saat)</c:v>
                </c:pt>
              </c:strCache>
            </c:strRef>
          </c:cat>
          <c:val>
            <c:numRef>
              <c:f>Sheet1!$D$2:$D$2</c:f>
              <c:numCache>
                <c:formatCode>General</c:formatCode>
                <c:ptCount val="1"/>
                <c:pt idx="0">
                  <c:v>341.9233290653009</c:v>
                </c:pt>
              </c:numCache>
            </c:numRef>
          </c:val>
        </c:ser>
        <c:ser>
          <c:idx val="3"/>
          <c:order val="3"/>
          <c:tx>
            <c:strRef>
              <c:f>Sheet1!$E$1</c:f>
              <c:strCache>
                <c:ptCount val="1"/>
                <c:pt idx="0">
                  <c:v>Yasal sınır</c:v>
                </c:pt>
              </c:strCache>
            </c:strRef>
          </c:tx>
          <c:spPr>
            <a:solidFill>
              <a:srgbClr val="4A4A4A"/>
            </a:solidFill>
          </c:spPr>
          <c:cat>
            <c:strRef>
              <c:f>Sheet1!$A$2:$A$2</c:f>
              <c:strCache>
                <c:ptCount val="1"/>
                <c:pt idx="0">
                  <c:v>Kişi başına yıllık fazla mesai (saat)</c:v>
                </c:pt>
              </c:strCache>
            </c:strRef>
          </c:cat>
          <c:val>
            <c:numRef>
              <c:f>Sheet1!$E$2:$E$2</c:f>
              <c:numCache>
                <c:formatCode>General</c:formatCode>
                <c:ptCount val="1"/>
                <c:pt idx="0">
                  <c:v>270.0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chart" Target="../charts/char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Kültür</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c>
                  <a:txBody>
                    <a:bodyPr/>
                    <a:lstStyle/>
                    <a:p>
                      <a:pPr algn="ctr"/>
                      <a:r>
                        <a:rPr sz="900" b="0">
                          <a:solidFill>
                            <a:srgbClr val="333333"/>
                          </a:solidFill>
                          <a:latin typeface="Calibri"/>
                        </a:rPr>
                        <a:t>20</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r>
              <a:tr h="182880">
                <a:tc>
                  <a:txBody>
                    <a:bodyPr/>
                    <a:lstStyle/>
                    <a:p>
                      <a:pPr algn="l"/>
                      <a:r>
                        <a:rPr sz="900" b="0">
                          <a:solidFill>
                            <a:srgbClr val="333333"/>
                          </a:solidFill>
                          <a:latin typeface="Calibri"/>
                        </a:rPr>
                        <a:t>Mağaza</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Kasa</a:t>
                      </a:r>
                    </a:p>
                  </a:txBody>
                  <a:tcPr>
                    <a:solidFill>
                      <a:srgbClr val="FFFFFF"/>
                    </a:solidFill>
                  </a:tcPr>
                </a:tc>
                <a:tc>
                  <a:txBody>
                    <a:bodyPr/>
                    <a:lstStyle/>
                    <a:p>
                      <a:pPr algn="ctr"/>
                      <a:r>
                        <a:rPr sz="900" b="0">
                          <a:solidFill>
                            <a:srgbClr val="333333"/>
                          </a:solidFill>
                          <a:latin typeface="Calibri"/>
                        </a:rPr>
                        <a:t>16</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r>
              <a:tr h="182880">
                <a:tc>
                  <a:txBody>
                    <a:bodyPr/>
                    <a:lstStyle/>
                    <a:p>
                      <a:pPr algn="l"/>
                      <a:r>
                        <a:rPr sz="900" b="0">
                          <a:solidFill>
                            <a:srgbClr val="333333"/>
                          </a:solidFill>
                          <a:latin typeface="Calibri"/>
                        </a:rPr>
                        <a:t>Akademi</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Yardımcı Kitap</a:t>
                      </a:r>
                    </a:p>
                  </a:txBody>
                  <a:tcPr>
                    <a:solidFill>
                      <a:srgbClr val="FFFFFF"/>
                    </a:solidFill>
                  </a:tcPr>
                </a:tc>
                <a:tc>
                  <a:txBody>
                    <a:bodyPr/>
                    <a:lstStyle/>
                    <a:p>
                      <a:pPr algn="ctr"/>
                      <a:r>
                        <a:rPr sz="900" b="0">
                          <a:solidFill>
                            <a:srgbClr val="333333"/>
                          </a:solidFill>
                          <a:latin typeface="Calibri"/>
                        </a:rPr>
                        <a:t>18</a:t>
                      </a:r>
                    </a:p>
                  </a:txBody>
                  <a:tcPr>
                    <a:solidFill>
                      <a:srgbClr val="FFFFFF"/>
                    </a:solidFill>
                  </a:tcPr>
                </a:tc>
                <a:tc>
                  <a:txBody>
                    <a:bodyPr/>
                    <a:lstStyle/>
                    <a:p>
                      <a:pPr algn="ctr"/>
                      <a:r>
                        <a:rPr sz="900" b="0">
                          <a:solidFill>
                            <a:srgbClr val="333333"/>
                          </a:solidFill>
                          <a:latin typeface="Calibri"/>
                        </a:rPr>
                        <a:t>21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3</a:t>
                      </a:r>
                    </a:p>
                  </a:txBody>
                  <a:tcPr>
                    <a:solidFill>
                      <a:srgbClr val="FFFFFF"/>
                    </a:solidFill>
                  </a:tcPr>
                </a:tc>
                <a:tc>
                  <a:txBody>
                    <a:bodyPr/>
                    <a:lstStyle/>
                    <a:p>
                      <a:pPr algn="ctr"/>
                      <a:r>
                        <a:rPr sz="900" b="0">
                          <a:solidFill>
                            <a:srgbClr val="333333"/>
                          </a:solidFill>
                          <a:latin typeface="Calibri"/>
                        </a:rPr>
                        <a:t>15</a:t>
                      </a:r>
                    </a:p>
                  </a:txBody>
                  <a:tcPr>
                    <a:solidFill>
                      <a:srgbClr val="FFFFFF"/>
                    </a:solidFill>
                  </a:tcPr>
                </a:tc>
              </a:tr>
              <a:tr h="182880">
                <a:tc>
                  <a:txBody>
                    <a:bodyPr/>
                    <a:lstStyle/>
                    <a:p>
                      <a:pPr algn="l"/>
                      <a:r>
                        <a:rPr sz="900" b="0">
                          <a:solidFill>
                            <a:srgbClr val="333333"/>
                          </a:solidFill>
                          <a:latin typeface="Calibri"/>
                        </a:rPr>
                        <a:t>Mal Kabul</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5</a:t>
                      </a:r>
                    </a:p>
                  </a:txBody>
                  <a:tcPr>
                    <a:solidFill>
                      <a:srgbClr val="FAFAFA"/>
                    </a:solidFill>
                  </a:tcPr>
                </a:tc>
                <a:tc>
                  <a:txBody>
                    <a:bodyPr/>
                    <a:lstStyle/>
                    <a:p>
                      <a:pPr algn="ctr"/>
                      <a:r>
                        <a:rPr sz="900" b="0">
                          <a:solidFill>
                            <a:srgbClr val="333333"/>
                          </a:solidFill>
                          <a:latin typeface="Calibri"/>
                        </a:rPr>
                        <a:t>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1</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Oyuncak</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Kıyafet</a:t>
                      </a:r>
                    </a:p>
                  </a:txBody>
                  <a:tcPr>
                    <a:solidFill>
                      <a:srgbClr val="FFFFFF"/>
                    </a:solidFill>
                  </a:tcPr>
                </a:tc>
                <a:tc>
                  <a:txBody>
                    <a:bodyPr/>
                    <a:lstStyle/>
                    <a:p>
                      <a:pPr algn="ctr"/>
                      <a:r>
                        <a:rPr sz="900" b="0">
                          <a:solidFill>
                            <a:srgbClr val="333333"/>
                          </a:solidFill>
                          <a:latin typeface="Calibri"/>
                        </a:rPr>
                        <a:t>0</a:t>
                      </a:r>
                    </a:p>
                  </a:txBody>
                  <a:tcPr>
                    <a:solidFill>
                      <a:srgbClr val="FFFFFF"/>
                    </a:solidFill>
                  </a:tcPr>
                </a:tc>
                <a:tc>
                  <a:txBody>
                    <a:bodyPr/>
                    <a:lstStyle/>
                    <a:p>
                      <a:pPr algn="ctr"/>
                      <a:r>
                        <a:rPr sz="900" b="0">
                          <a:solidFill>
                            <a:srgbClr val="333333"/>
                          </a:solidFill>
                          <a:latin typeface="Calibri"/>
                        </a:rPr>
                        <a:t>0</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4</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İdari İşler  2 kişi
Kültür  2 kişi
Mağaza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(Muhasebe · Oyun Alanı)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Maliyeti ve Ciro Oranı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PERSONEL MALİYETİ / CİRO</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A6001A"/>
                </a:solidFill>
                <a:latin typeface="Calibri"/>
              </a:rPr>
              <a:t>%12,85 → %12,15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0,70 puan azaldı</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KİŞİ-AY BAŞINA CİRO</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+%46,2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310 → 454 bin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KİŞİ-AY BAŞINA MALİYET</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+%38,3</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40 → 55 bin TL (ücret artışı)</a:t>
            </a:r>
          </a:p>
        </p:txBody>
      </p:sp>
      <p:graphicFrame>
        <p:nvGraphicFramePr>
          <p:cNvPr id="21" name="Table 20"/>
          <p:cNvGraphicFramePr>
            <a:graphicFrameLocks noGrp="1"/>
          </p:cNvGraphicFramePr>
          <p:nvPr/>
        </p:nvGraphicFramePr>
        <p:xfrm>
          <a:off x="548640" y="3429000"/>
          <a:ext cx="7223760" cy="1316736"/>
        </p:xfrm>
        <a:graphic>
          <a:graphicData uri="http://schemas.openxmlformats.org/drawingml/2006/table">
            <a:tbl>
              <a:tblPr firstRow="1" bandRow="1">
                <a:tableStyleId>{5C22544A-7EE6-4342-B048-85BDC9FD1C3A}</a:tableStyleId>
              </a:tblPr>
              <a:tblGrid>
                <a:gridCol w="2834640"/>
                <a:gridCol w="1463040"/>
                <a:gridCol w="1463040"/>
                <a:gridCol w="1463040"/>
              </a:tblGrid>
              <a:tr h="219456">
                <a:tc>
                  <a:txBody>
                    <a:bodyPr/>
                    <a:lstStyle/>
                    <a:p>
                      <a:pPr algn="l"/>
                      <a:r>
                        <a:rPr sz="850" b="1">
                          <a:solidFill>
                            <a:srgbClr val="FFFFFF"/>
                          </a:solidFill>
                          <a:latin typeface="Calibri"/>
                        </a:rPr>
                        <a:t>Ölçü</a:t>
                      </a:r>
                    </a:p>
                  </a:txBody>
                  <a:tcPr>
                    <a:solidFill>
                      <a:srgbClr val="E30622"/>
                    </a:solidFill>
                  </a:tcPr>
                </a:tc>
                <a:tc>
                  <a:txBody>
                    <a:bodyPr/>
                    <a:lstStyle/>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Değişim</a:t>
                      </a:r>
                    </a:p>
                  </a:txBody>
                  <a:tcPr>
                    <a:solidFill>
                      <a:srgbClr val="E30622"/>
                    </a:solidFill>
                  </a:tcPr>
                </a:tc>
              </a:tr>
              <a:tr h="219456">
                <a:tc>
                  <a:txBody>
                    <a:bodyPr/>
                    <a:lstStyle/>
                    <a:p>
                      <a:pPr algn="l"/>
                      <a:r>
                        <a:rPr sz="950" b="0">
                          <a:solidFill>
                            <a:srgbClr val="333333"/>
                          </a:solidFill>
                          <a:latin typeface="Calibri"/>
                        </a:rPr>
                        <a:t>Kişi-ay (bordro)</a:t>
                      </a:r>
                    </a:p>
                  </a:txBody>
                  <a:tcPr>
                    <a:solidFill>
                      <a:srgbClr val="FFFFFF"/>
                    </a:solidFill>
                  </a:tcPr>
                </a:tc>
                <a:tc>
                  <a:txBody>
                    <a:bodyPr/>
                    <a:lstStyle/>
                    <a:p>
                      <a:pPr algn="ctr"/>
                      <a:r>
                        <a:rPr sz="950" b="0">
                          <a:solidFill>
                            <a:srgbClr val="333333"/>
                          </a:solidFill>
                          <a:latin typeface="Calibri"/>
                        </a:rPr>
                        <a:t>781</a:t>
                      </a:r>
                    </a:p>
                  </a:txBody>
                  <a:tcPr>
                    <a:solidFill>
                      <a:srgbClr val="FFFFFF"/>
                    </a:solidFill>
                  </a:tcPr>
                </a:tc>
                <a:tc>
                  <a:txBody>
                    <a:bodyPr/>
                    <a:lstStyle/>
                    <a:p>
                      <a:pPr algn="ctr"/>
                      <a:r>
                        <a:rPr sz="950" b="0">
                          <a:solidFill>
                            <a:srgbClr val="333333"/>
                          </a:solidFill>
                          <a:latin typeface="Calibri"/>
                        </a:rPr>
                        <a:t>856</a:t>
                      </a:r>
                    </a:p>
                  </a:txBody>
                  <a:tcPr>
                    <a:solidFill>
                      <a:srgbClr val="FFFFFF"/>
                    </a:solidFill>
                  </a:tcPr>
                </a:tc>
                <a:tc>
                  <a:txBody>
                    <a:bodyPr/>
                    <a:lstStyle/>
                    <a:p>
                      <a:pPr algn="ctr"/>
                      <a:r>
                        <a:rPr sz="950" b="1">
                          <a:solidFill>
                            <a:srgbClr val="A6001A"/>
                          </a:solidFill>
                          <a:latin typeface="Calibri"/>
                        </a:rPr>
                        <a:t>+%9,6</a:t>
                      </a:r>
                    </a:p>
                  </a:txBody>
                  <a:tcPr>
                    <a:solidFill>
                      <a:srgbClr val="FFFFFF"/>
                    </a:solidFill>
                  </a:tcPr>
                </a:tc>
              </a:tr>
              <a:tr h="219456">
                <a:tc>
                  <a:txBody>
                    <a:bodyPr/>
                    <a:lstStyle/>
                    <a:p>
                      <a:pPr algn="l"/>
                      <a:r>
                        <a:rPr sz="950" b="0">
                          <a:solidFill>
                            <a:srgbClr val="333333"/>
                          </a:solidFill>
                          <a:latin typeface="Calibri"/>
                        </a:rPr>
                        <a:t>Brüt ücret</a:t>
                      </a:r>
                    </a:p>
                  </a:txBody>
                  <a:tcPr>
                    <a:solidFill>
                      <a:srgbClr val="FAFAFA"/>
                    </a:solidFill>
                  </a:tcPr>
                </a:tc>
                <a:tc>
                  <a:txBody>
                    <a:bodyPr/>
                    <a:lstStyle/>
                    <a:p>
                      <a:pPr algn="ctr"/>
                      <a:r>
                        <a:rPr sz="950" b="0">
                          <a:solidFill>
                            <a:srgbClr val="333333"/>
                          </a:solidFill>
                          <a:latin typeface="Calibri"/>
                        </a:rPr>
                        <a:t>25,3 M TL</a:t>
                      </a:r>
                    </a:p>
                  </a:txBody>
                  <a:tcPr>
                    <a:solidFill>
                      <a:srgbClr val="FAFAFA"/>
                    </a:solidFill>
                  </a:tcPr>
                </a:tc>
                <a:tc>
                  <a:txBody>
                    <a:bodyPr/>
                    <a:lstStyle/>
                    <a:p>
                      <a:pPr algn="ctr"/>
                      <a:r>
                        <a:rPr sz="950" b="0">
                          <a:solidFill>
                            <a:srgbClr val="333333"/>
                          </a:solidFill>
                          <a:latin typeface="Calibri"/>
                        </a:rPr>
                        <a:t>38,1 M TL</a:t>
                      </a:r>
                    </a:p>
                  </a:txBody>
                  <a:tcPr>
                    <a:solidFill>
                      <a:srgbClr val="FAFAFA"/>
                    </a:solidFill>
                  </a:tcPr>
                </a:tc>
                <a:tc>
                  <a:txBody>
                    <a:bodyPr/>
                    <a:lstStyle/>
                    <a:p>
                      <a:pPr algn="ctr"/>
                      <a:r>
                        <a:rPr sz="950" b="1">
                          <a:solidFill>
                            <a:srgbClr val="A6001A"/>
                          </a:solidFill>
                          <a:latin typeface="Calibri"/>
                        </a:rPr>
                        <a:t>+%50,5</a:t>
                      </a:r>
                    </a:p>
                  </a:txBody>
                  <a:tcPr>
                    <a:solidFill>
                      <a:srgbClr val="FAFAFA"/>
                    </a:solidFill>
                  </a:tcPr>
                </a:tc>
              </a:tr>
              <a:tr h="219456">
                <a:tc>
                  <a:txBody>
                    <a:bodyPr/>
                    <a:lstStyle/>
                    <a:p>
                      <a:pPr algn="l"/>
                      <a:r>
                        <a:rPr sz="950" b="0">
                          <a:solidFill>
                            <a:srgbClr val="333333"/>
                          </a:solidFill>
                          <a:latin typeface="Calibri"/>
                        </a:rPr>
                        <a:t>İşveren SGK + işsizlik payı</a:t>
                      </a:r>
                    </a:p>
                  </a:txBody>
                  <a:tcPr>
                    <a:solidFill>
                      <a:srgbClr val="FFFFFF"/>
                    </a:solidFill>
                  </a:tcPr>
                </a:tc>
                <a:tc>
                  <a:txBody>
                    <a:bodyPr/>
                    <a:lstStyle/>
                    <a:p>
                      <a:pPr algn="ctr"/>
                      <a:r>
                        <a:rPr sz="950" b="0">
                          <a:solidFill>
                            <a:srgbClr val="333333"/>
                          </a:solidFill>
                          <a:latin typeface="Calibri"/>
                        </a:rPr>
                        <a:t>5,8 M TL</a:t>
                      </a:r>
                    </a:p>
                  </a:txBody>
                  <a:tcPr>
                    <a:solidFill>
                      <a:srgbClr val="FFFFFF"/>
                    </a:solidFill>
                  </a:tcPr>
                </a:tc>
                <a:tc>
                  <a:txBody>
                    <a:bodyPr/>
                    <a:lstStyle/>
                    <a:p>
                      <a:pPr algn="ctr"/>
                      <a:r>
                        <a:rPr sz="950" b="0">
                          <a:solidFill>
                            <a:srgbClr val="333333"/>
                          </a:solidFill>
                          <a:latin typeface="Calibri"/>
                        </a:rPr>
                        <a:t>9,1 M TL</a:t>
                      </a:r>
                    </a:p>
                  </a:txBody>
                  <a:tcPr>
                    <a:solidFill>
                      <a:srgbClr val="FFFFFF"/>
                    </a:solidFill>
                  </a:tcPr>
                </a:tc>
                <a:tc>
                  <a:txBody>
                    <a:bodyPr/>
                    <a:lstStyle/>
                    <a:p>
                      <a:pPr algn="ctr"/>
                      <a:r>
                        <a:rPr sz="950" b="1">
                          <a:solidFill>
                            <a:srgbClr val="A6001A"/>
                          </a:solidFill>
                          <a:latin typeface="Calibri"/>
                        </a:rPr>
                        <a:t>+%56,3</a:t>
                      </a:r>
                    </a:p>
                  </a:txBody>
                  <a:tcPr>
                    <a:solidFill>
                      <a:srgbClr val="FFFFFF"/>
                    </a:solidFill>
                  </a:tcPr>
                </a:tc>
              </a:tr>
              <a:tr h="219456">
                <a:tc>
                  <a:txBody>
                    <a:bodyPr/>
                    <a:lstStyle/>
                    <a:p>
                      <a:pPr algn="l"/>
                      <a:r>
                        <a:rPr sz="950" b="1">
                          <a:solidFill>
                            <a:srgbClr val="333333"/>
                          </a:solidFill>
                          <a:latin typeface="Calibri"/>
                        </a:rPr>
                        <a:t>PERSONEL MALİYETİ (brüt işveren)</a:t>
                      </a:r>
                    </a:p>
                  </a:txBody>
                  <a:tcPr>
                    <a:solidFill>
                      <a:srgbClr val="F2F2F2"/>
                    </a:solidFill>
                  </a:tcPr>
                </a:tc>
                <a:tc>
                  <a:txBody>
                    <a:bodyPr/>
                    <a:lstStyle/>
                    <a:p>
                      <a:pPr algn="ctr"/>
                      <a:r>
                        <a:rPr sz="950" b="1">
                          <a:solidFill>
                            <a:srgbClr val="333333"/>
                          </a:solidFill>
                          <a:latin typeface="Calibri"/>
                        </a:rPr>
                        <a:t>31,2 M TL</a:t>
                      </a:r>
                    </a:p>
                  </a:txBody>
                  <a:tcPr>
                    <a:solidFill>
                      <a:srgbClr val="F2F2F2"/>
                    </a:solidFill>
                  </a:tcPr>
                </a:tc>
                <a:tc>
                  <a:txBody>
                    <a:bodyPr/>
                    <a:lstStyle/>
                    <a:p>
                      <a:pPr algn="ctr"/>
                      <a:r>
                        <a:rPr sz="950" b="1">
                          <a:solidFill>
                            <a:srgbClr val="333333"/>
                          </a:solidFill>
                          <a:latin typeface="Calibri"/>
                        </a:rPr>
                        <a:t>47,2 M TL</a:t>
                      </a:r>
                    </a:p>
                  </a:txBody>
                  <a:tcPr>
                    <a:solidFill>
                      <a:srgbClr val="F2F2F2"/>
                    </a:solidFill>
                  </a:tcPr>
                </a:tc>
                <a:tc>
                  <a:txBody>
                    <a:bodyPr/>
                    <a:lstStyle/>
                    <a:p>
                      <a:pPr algn="ctr"/>
                      <a:r>
                        <a:rPr sz="950" b="1">
                          <a:solidFill>
                            <a:srgbClr val="A6001A"/>
                          </a:solidFill>
                          <a:latin typeface="Calibri"/>
                        </a:rPr>
                        <a:t>+%51,5</a:t>
                      </a:r>
                    </a:p>
                  </a:txBody>
                  <a:tcPr>
                    <a:solidFill>
                      <a:srgbClr val="F2F2F2"/>
                    </a:solidFill>
                  </a:tcPr>
                </a:tc>
              </a:tr>
              <a:tr h="219456">
                <a:tc>
                  <a:txBody>
                    <a:bodyPr/>
                    <a:lstStyle/>
                    <a:p>
                      <a:pPr algn="l"/>
                      <a:r>
                        <a:rPr sz="950" b="0">
                          <a:solidFill>
                            <a:srgbClr val="333333"/>
                          </a:solidFill>
                          <a:latin typeface="Calibri"/>
                        </a:rPr>
                        <a:t>Ciro (KDV hariç)</a:t>
                      </a:r>
                    </a:p>
                  </a:txBody>
                  <a:tcPr>
                    <a:solidFill>
                      <a:srgbClr val="FFFFFF"/>
                    </a:solidFill>
                  </a:tcPr>
                </a:tc>
                <a:tc>
                  <a:txBody>
                    <a:bodyPr/>
                    <a:lstStyle/>
                    <a:p>
                      <a:pPr algn="ctr"/>
                      <a:r>
                        <a:rPr sz="950" b="0">
                          <a:solidFill>
                            <a:srgbClr val="333333"/>
                          </a:solidFill>
                          <a:latin typeface="Calibri"/>
                        </a:rPr>
                        <a:t>242,5 M TL</a:t>
                      </a:r>
                    </a:p>
                  </a:txBody>
                  <a:tcPr>
                    <a:solidFill>
                      <a:srgbClr val="FFFFFF"/>
                    </a:solidFill>
                  </a:tcPr>
                </a:tc>
                <a:tc>
                  <a:txBody>
                    <a:bodyPr/>
                    <a:lstStyle/>
                    <a:p>
                      <a:pPr algn="ctr"/>
                      <a:r>
                        <a:rPr sz="950" b="0">
                          <a:solidFill>
                            <a:srgbClr val="333333"/>
                          </a:solidFill>
                          <a:latin typeface="Calibri"/>
                        </a:rPr>
                        <a:t>388,7 M TL</a:t>
                      </a:r>
                    </a:p>
                  </a:txBody>
                  <a:tcPr>
                    <a:solidFill>
                      <a:srgbClr val="FFFFFF"/>
                    </a:solidFill>
                  </a:tcPr>
                </a:tc>
                <a:tc>
                  <a:txBody>
                    <a:bodyPr/>
                    <a:lstStyle/>
                    <a:p>
                      <a:pPr algn="ctr"/>
                      <a:r>
                        <a:rPr sz="950" b="1">
                          <a:solidFill>
                            <a:srgbClr val="A6001A"/>
                          </a:solidFill>
                          <a:latin typeface="Calibri"/>
                        </a:rPr>
                        <a:t>+%60,3</a:t>
                      </a:r>
                    </a:p>
                  </a:txBody>
                  <a:tcPr>
                    <a:solidFill>
                      <a:srgbClr val="FFFFFF"/>
                    </a:solidFill>
                  </a:tcPr>
                </a:tc>
              </a:tr>
            </a:tbl>
          </a:graphicData>
        </a:graphic>
      </p:graphicFrame>
      <p:sp>
        <p:nvSpPr>
          <p:cNvPr id="22" name="Rounded Rectangle 21"/>
          <p:cNvSpPr/>
          <p:nvPr/>
        </p:nvSpPr>
        <p:spPr>
          <a:xfrm>
            <a:off x="7955279" y="3429000"/>
            <a:ext cx="3611880" cy="17373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538728"/>
            <a:ext cx="3200400" cy="1554480"/>
          </a:xfrm>
          <a:prstGeom prst="rect">
            <a:avLst/>
          </a:prstGeom>
          <a:noFill/>
        </p:spPr>
        <p:txBody>
          <a:bodyPr wrap="square" anchor="t">
            <a:spAutoFit/>
          </a:bodyPr>
          <a:lstStyle/>
          <a:p>
            <a:pPr algn="l">
              <a:lnSpc>
                <a:spcPct val="112000"/>
              </a:lnSpc>
            </a:pPr>
            <a:r>
              <a:rPr sz="1250" b="1">
                <a:solidFill>
                  <a:srgbClr val="A6001A"/>
                </a:solidFill>
                <a:latin typeface="Calibri"/>
              </a:rPr>
              <a:t>Maliyet arttı, yükü azaldı</a:t>
            </a:r>
          </a:p>
          <a:p>
            <a:pPr algn="l">
              <a:lnSpc>
                <a:spcPct val="112000"/>
              </a:lnSpc>
            </a:pPr>
            <a:r>
              <a:rPr sz="1000" b="0">
                <a:solidFill>
                  <a:srgbClr val="333333"/>
                </a:solidFill>
                <a:latin typeface="Calibri"/>
              </a:rPr>
              <a:t>Personel maliyeti +%51,5 artmıştır; artışın ana kaynağı kişi başına ücret (+%38,3). Buna karşın cironun içindeki personel yükü 0,70 puan gerilemiştir: %12,85 → %12,15.</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(vw_PuanBil) — maliyet = brüt toplam + işveren SGK hissesi + işveren işsizlik payı · Dönem: 01-07 ay (Oca–Tem), her iki yıl (Ağustos bordrosu henüz işlenmediği için son tam bordro ayı esas) · Kapsam: üç POS mağazası · Ciro KDV HARİÇ ve Sınav DAHİL (o satışı da aynı mağaza personeli yapar) · Kıdem karşılığı ve yan haklar hariç.</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Alınmasaydı: Fazla Mesai Sınırı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FİİLİ FAZLA MESAİ · 2026</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600" b="1">
                <a:solidFill>
                  <a:srgbClr val="9A9A9A"/>
                </a:solidFill>
                <a:latin typeface="Calibri"/>
              </a:rPr>
              <a:t>107 sa/yıl</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kişi başına · yasal sınır 270 sa</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triangle.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ARTMASAYDI</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342 sa/yıl</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aynı iş, 75 kişi-ay eksik kapasite</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YASAL ÜST SINIR</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270 sa/yıl</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4857 s.K. m.41 · kişi başına</a:t>
            </a:r>
          </a:p>
        </p:txBody>
      </p:sp>
      <p:graphicFrame>
        <p:nvGraphicFramePr>
          <p:cNvPr id="21" name="Chart 20"/>
          <p:cNvGraphicFramePr>
            <a:graphicFrameLocks noGrp="1"/>
          </p:cNvGraphicFramePr>
          <p:nvPr/>
        </p:nvGraphicFramePr>
        <p:xfrm>
          <a:off x="548640" y="3383280"/>
          <a:ext cx="5760720" cy="2057400"/>
        </p:xfrm>
        <a:graphic>
          <a:graphicData uri="http://schemas.openxmlformats.org/drawingml/2006/chart">
            <c:chart xmlns:c="http://schemas.openxmlformats.org/drawingml/2006/chart" r:id="rId6"/>
          </a:graphicData>
        </a:graphic>
      </p:graphicFrame>
      <p:sp>
        <p:nvSpPr>
          <p:cNvPr id="22" name="Rounded Rectangle 21"/>
          <p:cNvSpPr/>
          <p:nvPr/>
        </p:nvSpPr>
        <p:spPr>
          <a:xfrm>
            <a:off x="6492240" y="3383280"/>
            <a:ext cx="507492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493008"/>
            <a:ext cx="4617720" cy="1627632"/>
          </a:xfrm>
          <a:prstGeom prst="rect">
            <a:avLst/>
          </a:prstGeom>
          <a:noFill/>
        </p:spPr>
        <p:txBody>
          <a:bodyPr wrap="square" anchor="t">
            <a:spAutoFit/>
          </a:bodyPr>
          <a:lstStyle/>
          <a:p>
            <a:pPr algn="l">
              <a:lnSpc>
                <a:spcPct val="112000"/>
              </a:lnSpc>
            </a:pPr>
            <a:r>
              <a:rPr sz="1250" b="1">
                <a:solidFill>
                  <a:srgbClr val="A6001A"/>
                </a:solidFill>
                <a:latin typeface="Calibri"/>
              </a:rPr>
              <a:t>Alım tercih değil, zorunluluktu</a:t>
            </a:r>
          </a:p>
          <a:p>
            <a:pPr algn="l">
              <a:lnSpc>
                <a:spcPct val="112000"/>
              </a:lnSpc>
            </a:pPr>
            <a:r>
              <a:rPr sz="1000" b="0">
                <a:solidFill>
                  <a:srgbClr val="333333"/>
                </a:solidFill>
                <a:latin typeface="Calibri"/>
              </a:rPr>
              <a:t>Kadro 2025 seviyesinde kalsaydı aynı işi çıkarmak için 14.625 saat ek fazla mesai gerekirdi; kişi başına yıllık 342 saate çıkardı ve 270 saatlik yasal sınır AŞILIRDI. Fiili fazla mesai 107 saat/yıl ile sınırın içindedir; ancak sınır hızında çalışan kişi-ay sayısı 32'den 95'ye yükselmiştir — kadro hâlâ dar.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Kaynak: Zirve bordro fazla mesai saatleri (fm1+fm2+fm3) · Dönem: 01-07 ay (Oca–Tem), her iki yıl · Kapsam: üç POS mağazası · VARSAYIM: işgücü ihtiyacı kişi sayısıyla doğru orantılıdır ve eksik kapasite ancak fazla mesaiyle kapanır; kişi-ay başına normal çalışma 195 saat (45 sa/hafta) · Yasal çerçeve 4857 s.K. m.41 (yıllık 270 saat).</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01929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1929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147316"/>
            <a:ext cx="256032" cy="256032"/>
          </a:xfrm>
          <a:prstGeom prst="rect">
            <a:avLst/>
          </a:prstGeom>
        </p:spPr>
      </p:pic>
      <p:sp>
        <p:nvSpPr>
          <p:cNvPr id="11" name="TextBox 10"/>
          <p:cNvSpPr txBox="1"/>
          <p:nvPr/>
        </p:nvSpPr>
        <p:spPr>
          <a:xfrm>
            <a:off x="1143000" y="208330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36677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71271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1271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2840736"/>
            <a:ext cx="256032" cy="256032"/>
          </a:xfrm>
          <a:prstGeom prst="rect">
            <a:avLst/>
          </a:prstGeom>
        </p:spPr>
      </p:pic>
      <p:sp>
        <p:nvSpPr>
          <p:cNvPr id="16" name="TextBox 15"/>
          <p:cNvSpPr txBox="1"/>
          <p:nvPr/>
        </p:nvSpPr>
        <p:spPr>
          <a:xfrm>
            <a:off x="1143000" y="277672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06019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40613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40613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534156"/>
            <a:ext cx="256032" cy="256032"/>
          </a:xfrm>
          <a:prstGeom prst="rect">
            <a:avLst/>
          </a:prstGeom>
        </p:spPr>
      </p:pic>
      <p:sp>
        <p:nvSpPr>
          <p:cNvPr id="21" name="TextBox 20"/>
          <p:cNvSpPr txBox="1"/>
          <p:nvPr/>
        </p:nvSpPr>
        <p:spPr>
          <a:xfrm>
            <a:off x="1143000" y="347014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375361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09955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09955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227575"/>
            <a:ext cx="256032" cy="256032"/>
          </a:xfrm>
          <a:prstGeom prst="rect">
            <a:avLst/>
          </a:prstGeom>
        </p:spPr>
      </p:pic>
      <p:sp>
        <p:nvSpPr>
          <p:cNvPr id="26" name="TextBox 25"/>
          <p:cNvSpPr txBox="1"/>
          <p:nvPr/>
        </p:nvSpPr>
        <p:spPr>
          <a:xfrm>
            <a:off x="1143000" y="416356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Personel maliyeti çok mu arttı?</a:t>
            </a:r>
          </a:p>
        </p:txBody>
      </p:sp>
      <p:sp>
        <p:nvSpPr>
          <p:cNvPr id="27" name="TextBox 26"/>
          <p:cNvSpPr txBox="1"/>
          <p:nvPr/>
        </p:nvSpPr>
        <p:spPr>
          <a:xfrm>
            <a:off x="1143000" y="444703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Maliyet +%51,5 artmıştır; artışın ana kaynağı kişi başına ücret (+%38,3), kadro artışı değil. Cironun içindeki personel yükü ise 0,70 puan GERİLEMİŞTİR: %12,85 → %12,15.</a:t>
            </a:r>
          </a:p>
        </p:txBody>
      </p:sp>
      <p:sp>
        <p:nvSpPr>
          <p:cNvPr id="28" name="Rectangle 27"/>
          <p:cNvSpPr/>
          <p:nvPr/>
        </p:nvSpPr>
        <p:spPr>
          <a:xfrm>
            <a:off x="548640" y="4792979"/>
            <a:ext cx="11018520" cy="6019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792979"/>
            <a:ext cx="68580" cy="6019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png"/>
          <p:cNvPicPr>
            <a:picLocks noChangeAspect="1"/>
          </p:cNvPicPr>
          <p:nvPr/>
        </p:nvPicPr>
        <p:blipFill>
          <a:blip r:embed="rId3"/>
          <a:stretch>
            <a:fillRect/>
          </a:stretch>
        </p:blipFill>
        <p:spPr>
          <a:xfrm>
            <a:off x="777240" y="4920995"/>
            <a:ext cx="256032" cy="256032"/>
          </a:xfrm>
          <a:prstGeom prst="rect">
            <a:avLst/>
          </a:prstGeom>
        </p:spPr>
      </p:pic>
      <p:sp>
        <p:nvSpPr>
          <p:cNvPr id="31" name="TextBox 30"/>
          <p:cNvSpPr txBox="1"/>
          <p:nvPr/>
        </p:nvSpPr>
        <p:spPr>
          <a:xfrm>
            <a:off x="1143000" y="4856987"/>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32" name="TextBox 31"/>
          <p:cNvSpPr txBox="1"/>
          <p:nvPr/>
        </p:nvSpPr>
        <p:spPr>
          <a:xfrm>
            <a:off x="1143000" y="5140451"/>
            <a:ext cx="10058400" cy="217932"/>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33" name="TextBox 32"/>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34" name="TextBox 33"/>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