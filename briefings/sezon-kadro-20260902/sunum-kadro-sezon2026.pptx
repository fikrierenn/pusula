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71.83742911999343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122.60138084999475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25239.927802197803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57.5586237581637</c:v>
                </c:pt>
                <c:pt idx="1">
                  <c:v>96.12850541161808</c:v>
                </c:pt>
                <c:pt idx="2">
                  <c:v>62.26752661004522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356616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3566160" cy="64008"/>
          </a:xfrm>
          <a:prstGeom prst="rect">
            <a:avLst/>
          </a:prstGeom>
          <a:solidFill>
            <a:srgbClr val="7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3566160" cy="640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3566160" cy="6400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337560"/>
            <a:ext cx="35661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35661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Yönetici Özeti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6517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6517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371600"/>
            <a:ext cx="26517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400" y="1371600"/>
            <a:ext cx="26517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7276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847088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50545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91840"/>
            <a:ext cx="11018520" cy="9144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8912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389120"/>
            <a:ext cx="53949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49884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773168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389120"/>
            <a:ext cx="53949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389120"/>
            <a:ext cx="539496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49884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773168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9776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2084831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0912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42048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2084831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73184" y="1417320"/>
            <a:ext cx="2084831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2084831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19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88720"/>
                <a:gridCol w="1188720"/>
                <a:gridCol w="1188720"/>
                <a:gridCol w="1188720"/>
                <a:gridCol w="1005840"/>
                <a:gridCol w="1005840"/>
                <a:gridCol w="118872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CİRO (KDV DAHİL)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371600"/>
            <a:ext cx="3566160" cy="64008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3 POS MAĞAZASI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B2B2B"/>
                </a:solidFill>
                <a:latin typeface="Calibri"/>
              </a:rPr>
              <a:t>+%11,9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48640" y="3200400"/>
          <a:ext cx="557784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406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Kıyas okul açılışına hizalı: 2025 açılış 8 Eylül → dönem 01.07.2025 – 25.08.2025 · 2026 açılış 14 Eylül → dönem 07.07.2026 – 31.08.2026 (her iki yıl 56 gün). Kaynak: DerinSIS mağaza satışı, Sınav hariç, iadeler düşülmüş.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583680" y="160020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788920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977639"/>
            <a:ext cx="4983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498348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20640"/>
            <a:ext cx="11018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Kişi başı = o mağazada 31 Ağustos'ta fiilen çalışan TÜM personel (sezonluk dahil). En çok kadro büyüyen mağazada (İst. Yolu 50 → 61 kişi) bile kişi başı iş arttı.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60020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416052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283464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4160520" cy="64008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069080"/>
            <a:ext cx="4160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4160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A9A9A"/>
                </a:solidFill>
                <a:latin typeface="Calibri"/>
              </a:rPr>
              <a:t>Ocak–Ağustos kümülatif, üç POS mağazası, Sınav hariç. Kadro = 31.08 itibarıyla kadrolu (sezonluk hariç —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06640" y="1463040"/>
            <a:ext cx="41605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416052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3200400"/>
            <a:ext cx="4160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4160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11018520" cy="7772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Bilgi İşlem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85232"/>
            <a:ext cx="11018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'—' ilgili mağazada o bölümün bulunmadığını gösterir. Yönetim (Mağaza),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651760"/>
                <a:gridCol w="1371600"/>
                <a:gridCol w="1371600"/>
                <a:gridCol w="123444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 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977639"/>
          <a:ext cx="6766560" cy="1600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03320"/>
            <a:ext cx="6766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23360"/>
            <a:ext cx="4069080" cy="15544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Artışın en düşük olduğu kategoride (Çocuk Kitabı) kadro azaltılmıştır.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5661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AĞUSTOS · GERÇEKLEŞEN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AĞUSTOS · KAYMA OLMASAYDI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371600"/>
            <a:ext cx="35661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371600"/>
            <a:ext cx="35661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157276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184708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505456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18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70432" y="1417320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737360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04872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04872"/>
            <a:ext cx="1101852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70432" y="249631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16352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83863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83863"/>
            <a:ext cx="11018520" cy="6400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39311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0432" y="3575303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895344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62855"/>
            <a:ext cx="1101852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62855"/>
            <a:ext cx="11018520" cy="64008"/>
          </a:xfrm>
          <a:prstGeom prst="rect">
            <a:avLst/>
          </a:prstGeom>
          <a:solidFill>
            <a:srgbClr val="C0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18303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432" y="4654295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974336"/>
            <a:ext cx="10058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394960" cy="64008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5394960" cy="64008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04688"/>
            <a:ext cx="7772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dönemi kadrolu -4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