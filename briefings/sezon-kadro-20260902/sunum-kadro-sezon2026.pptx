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71.837429119994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122.60138084999437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5578.704629629629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25239.927802197803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30.54425135213488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57.55862375816307</c:v>
                </c:pt>
                <c:pt idx="1">
                  <c:v>96.12850541161279</c:v>
                </c:pt>
                <c:pt idx="2">
                  <c:v>62.26752661004467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Sezon 2026 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Beş mağaza kadrosu · üç POS mağazası iş hacmi · 2025 karşılaştırmalı · 2 Eylül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Kapsam ve İçerik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5661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69" y="1692097"/>
            <a:ext cx="291693" cy="291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gelişimi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Taban 30.06 · sezon içi hareket · sezonluk kadro.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3566160" cy="64008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329" y="1692097"/>
            <a:ext cx="291693" cy="2916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İş hacmi gelişimi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Elleçlenen ürün adedi ve ciro, aynı dönemde.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3566160" cy="64008"/>
          </a:xfrm>
          <a:prstGeom prst="rect">
            <a:avLst/>
          </a:prstGeom>
          <a:solidFill>
            <a:srgbClr val="7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089" y="1692097"/>
            <a:ext cx="291693" cy="2916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Personel başına iş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Kadro büyümesiyle iş büyümesinin karşılaştırması.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3566160" cy="6400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69" y="3658057"/>
            <a:ext cx="291693" cy="29169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dağılımı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Bölüm ve mağaza bazında artışın dağılımı.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337560"/>
            <a:ext cx="3566160" cy="640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329" y="3658057"/>
            <a:ext cx="291693" cy="29169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7200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Yöntem ve açıklamalar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Enflasyon · kurumsal kanal · sistem geçişi · takvim.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337560"/>
            <a:ext cx="35661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6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lert-triang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089" y="3658057"/>
            <a:ext cx="291693" cy="29169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6676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İyileştirme alanı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Yeni alınan personelin ilk iki haftada kalma oranı.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Yönetici Özeti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6517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6517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TABAN FARKI · 30.06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847088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50545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139 → 153 kişi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517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517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SEZON İÇİ KADROLU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1847088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-4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50545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153 → 149 · geçen yıl 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371600"/>
            <a:ext cx="26517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26517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1847088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50545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371600"/>
            <a:ext cx="26517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15400" y="1371600"/>
            <a:ext cx="26517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57276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KİŞİ BAŞI ÜRÜN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1847088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+%20,6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50545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4.019 → 4.845 adet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291840"/>
            <a:ext cx="11018520" cy="9144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291840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farkı sezon öncesinde oluşmuştur; sezon döneminde kadro azalırken iş hacmi %34,9 artmıştır.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8912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389120"/>
            <a:ext cx="539496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49884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ÜÇ POS MAĞAZASI (SEZONLUK DAHİL)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773168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  <a:latin typeface="Calibri"/>
              </a:rPr>
              <a:t>143 → 160 kişi  (+%11,9)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38912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389120"/>
            <a:ext cx="53949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49884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İŞ HACMİ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773168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30622"/>
                </a:solidFill>
                <a:latin typeface="Calibri"/>
              </a:rPr>
              <a:t>iş hacmi, kadronun 2,9 katı oranında artmıştır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2084831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9776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2084831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10912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2084831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42048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2084831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73184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2084831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19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88720"/>
                <a:gridCol w="1188720"/>
                <a:gridCol w="1188720"/>
                <a:gridCol w="1188720"/>
                <a:gridCol w="1005840"/>
                <a:gridCol w="1005840"/>
                <a:gridCol w="1188720"/>
                <a:gridCol w="1188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 · Heykel ve Şura POS raporlamasında yok, kadro tablosunda beş mağazanın tamamı yer alır.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72768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847088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505456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71600"/>
            <a:ext cx="35661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572768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CİRO (KDV DAHİL)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1847088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505456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371600"/>
            <a:ext cx="35661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1371600"/>
            <a:ext cx="3566160" cy="64008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1572768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3 POS MAĞAZASI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1847088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2B2B2B"/>
                </a:solidFill>
                <a:latin typeface="Calibri"/>
              </a:rPr>
              <a:t>+%11,9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505456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48640" y="3200400"/>
          <a:ext cx="5577840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406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Kıyas okul açılışına hizalı: 2025 açılış 8 Eylül, 2026 açılış 14 Eylül — her iki yıl da açılıştan geriye 56 gün. Kaynak: DerinSIS mağaza satışı, Sınav hariç, iadeler düşülmüş.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583680" y="160020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498348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78892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498348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977639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498348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20640"/>
            <a:ext cx="11018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Kişi başı = o mağazada 31 Ağustos'ta fiilen çalışan TÜM personel (sezonluk dahil). En çok kadro büyüyen mağazada (İst. Yolu 50 → 61 kişi) bile kişi başı iş arttı.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06640" y="160020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416052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283464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4160520" cy="64008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406908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4160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9A9A"/>
                </a:solidFill>
                <a:latin typeface="Calibri"/>
              </a:rPr>
              <a:t>Ocak–Ağustos kümülatif, üç POS mağazası, Sınav hariç. Kadro = 31.08 itibarıyla kadrolu (sezonluk hariç —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06640" y="1463040"/>
            <a:ext cx="41605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416052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3200400"/>
            <a:ext cx="41605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4160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37760"/>
            <a:ext cx="11018520" cy="7772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10515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Mağaza × Bölüm Kadro Değişimi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08760"/>
                <a:gridCol w="1371600"/>
                <a:gridCol w="1234440"/>
                <a:gridCol w="1417320"/>
                <a:gridCol w="12344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Bilgi İşlem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85232"/>
            <a:ext cx="11018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'—' ilgili mağazada o bölümün bulunmadığını gösterir. Yönetim (Mağaza), Mal Kabul ve İdari İşler satırları tüm mağazalarda sıfır veya negatiftir.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651760"/>
                <a:gridCol w="1371600"/>
                <a:gridCol w="1371600"/>
                <a:gridCol w="123444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 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977639"/>
          <a:ext cx="6766560" cy="1600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03320"/>
            <a:ext cx="6766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23360"/>
            <a:ext cx="4069080" cy="15544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Artışın en düşük olduğu kategoride (Çocuk Kitabı) kadro azaltılmıştır.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18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81328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70432" y="1417320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737360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04872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04872"/>
            <a:ext cx="11018520" cy="64008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70432" y="2496312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16352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83863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483863"/>
            <a:ext cx="11018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639311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70432" y="3575303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895344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62855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562855"/>
            <a:ext cx="11018520" cy="64008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18303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0432" y="4654295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974336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3949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539496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Kadro farkı sezon öncesinde oluşmuştur · sezon dönemi kadrolu -4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