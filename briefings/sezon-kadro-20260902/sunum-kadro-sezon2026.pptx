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71.81704576999546</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122.53417560999475</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5578.70462962963</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30.5442513521349</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57.558623758167606</c:v>
                </c:pt>
                <c:pt idx="1">
                  <c:v>96.00493094592596</c:v>
                </c:pt>
                <c:pt idx="2">
                  <c:v>62.267526610043845</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fiili</c:v>
                </c:pt>
              </c:strCache>
            </c:strRef>
          </c:tx>
          <c:spPr>
            <a:solidFill>
              <a:srgbClr val="9A9A9A"/>
            </a:solidFill>
          </c:spPr>
          <c:cat>
            <c:strRef>
              <c:f>Sheet1!$A$2:$A$2</c:f>
              <c:strCache>
                <c:ptCount val="1"/>
                <c:pt idx="0">
                  <c:v>Kişi başına yıllık fazla mesai (saat)</c:v>
                </c:pt>
              </c:strCache>
            </c:strRef>
          </c:cat>
          <c:val>
            <c:numRef>
              <c:f>Sheet1!$B$2:$B$2</c:f>
              <c:numCache>
                <c:formatCode>General</c:formatCode>
                <c:ptCount val="1"/>
                <c:pt idx="0">
                  <c:v>79.43719972546329</c:v>
                </c:pt>
              </c:numCache>
            </c:numRef>
          </c:val>
        </c:ser>
        <c:ser>
          <c:idx val="1"/>
          <c:order val="1"/>
          <c:tx>
            <c:strRef>
              <c:f>Sheet1!$C$1</c:f>
              <c:strCache>
                <c:ptCount val="1"/>
                <c:pt idx="0">
                  <c:v>2026 fiili</c:v>
                </c:pt>
              </c:strCache>
            </c:strRef>
          </c:tx>
          <c:spPr>
            <a:solidFill>
              <a:srgbClr val="E30622"/>
            </a:solidFill>
          </c:spPr>
          <c:cat>
            <c:strRef>
              <c:f>Sheet1!$A$2:$A$2</c:f>
              <c:strCache>
                <c:ptCount val="1"/>
                <c:pt idx="0">
                  <c:v>Kişi başına yıllık fazla mesai (saat)</c:v>
                </c:pt>
              </c:strCache>
            </c:strRef>
          </c:cat>
          <c:val>
            <c:numRef>
              <c:f>Sheet1!$C$2:$C$2</c:f>
              <c:numCache>
                <c:formatCode>General</c:formatCode>
                <c:ptCount val="1"/>
                <c:pt idx="0">
                  <c:v>83.56952268010673</c:v>
                </c:pt>
              </c:numCache>
            </c:numRef>
          </c:val>
        </c:ser>
        <c:ser>
          <c:idx val="2"/>
          <c:order val="2"/>
          <c:tx>
            <c:strRef>
              <c:f>Sheet1!$D$1</c:f>
              <c:strCache>
                <c:ptCount val="1"/>
                <c:pt idx="0">
                  <c:v>Kadro artmasaydı</c:v>
                </c:pt>
              </c:strCache>
            </c:strRef>
          </c:tx>
          <c:spPr>
            <a:solidFill>
              <a:srgbClr val="A6001A"/>
            </a:solidFill>
          </c:spPr>
          <c:cat>
            <c:strRef>
              <c:f>Sheet1!$A$2:$A$2</c:f>
              <c:strCache>
                <c:ptCount val="1"/>
                <c:pt idx="0">
                  <c:v>Kişi başına yıllık fazla mesai (saat)</c:v>
                </c:pt>
              </c:strCache>
            </c:strRef>
          </c:cat>
          <c:val>
            <c:numRef>
              <c:f>Sheet1!$D$2:$D$2</c:f>
              <c:numCache>
                <c:formatCode>General</c:formatCode>
                <c:ptCount val="1"/>
                <c:pt idx="0">
                  <c:v>465.3191489361705</c:v>
                </c:pt>
              </c:numCache>
            </c:numRef>
          </c:val>
        </c:ser>
        <c:ser>
          <c:idx val="3"/>
          <c:order val="3"/>
          <c:tx>
            <c:strRef>
              <c:f>Sheet1!$E$1</c:f>
              <c:strCache>
                <c:ptCount val="1"/>
                <c:pt idx="0">
                  <c:v>Yasal sınır</c:v>
                </c:pt>
              </c:strCache>
            </c:strRef>
          </c:tx>
          <c:spPr>
            <a:solidFill>
              <a:srgbClr val="4A4A4A"/>
            </a:solidFill>
          </c:spPr>
          <c:cat>
            <c:strRef>
              <c:f>Sheet1!$A$2:$A$2</c:f>
              <c:strCache>
                <c:ptCount val="1"/>
                <c:pt idx="0">
                  <c:v>Kişi başına yıllık fazla mesai (saat)</c:v>
                </c:pt>
              </c:strCache>
            </c:strRef>
          </c:cat>
          <c:val>
            <c:numRef>
              <c:f>Sheet1!$E$2:$E$2</c:f>
              <c:numCache>
                <c:formatCode>General</c:formatCode>
                <c:ptCount val="1"/>
                <c:pt idx="0">
                  <c:v>270.0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kadrolu</c:v>
                </c:pt>
              </c:strCache>
            </c:strRef>
          </c:tx>
          <c:spPr>
            <a:solidFill>
              <a:srgbClr val="9A9A9A"/>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Sheet1!$B$2:$B$11</c:f>
              <c:numCache>
                <c:formatCode>General</c:formatCode>
                <c:ptCount val="10"/>
                <c:pt idx="0">
                  <c:v>107.5</c:v>
                </c:pt>
                <c:pt idx="1">
                  <c:v>100.7</c:v>
                </c:pt>
                <c:pt idx="2">
                  <c:v>102.8</c:v>
                </c:pt>
                <c:pt idx="3">
                  <c:v>97.6</c:v>
                </c:pt>
                <c:pt idx="4">
                  <c:v>93.9</c:v>
                </c:pt>
                <c:pt idx="5">
                  <c:v>97.5</c:v>
                </c:pt>
                <c:pt idx="6">
                  <c:v>93.8</c:v>
                </c:pt>
                <c:pt idx="7">
                  <c:v>94.1</c:v>
                </c:pt>
                <c:pt idx="8">
                  <c:v>95.8</c:v>
                </c:pt>
                <c:pt idx="9">
                  <c:v>98.4</c:v>
                </c:pt>
              </c:numCache>
            </c:numRef>
          </c:val>
        </c:ser>
        <c:ser>
          <c:idx val="1"/>
          <c:order val="1"/>
          <c:tx>
            <c:strRef>
              <c:f>Sheet1!$C$1</c:f>
              <c:strCache>
                <c:ptCount val="1"/>
                <c:pt idx="0">
                  <c:v>2025 sezonluk</c:v>
                </c:pt>
              </c:strCache>
            </c:strRef>
          </c:tx>
          <c:spPr>
            <a:solidFill>
              <a:srgbClr val="7A1020"/>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Sheet1!$C$2:$C$11</c:f>
              <c:numCache>
                <c:formatCode>General</c:formatCode>
                <c:ptCount val="10"/>
                <c:pt idx="0">
                  <c:v>0</c:v>
                </c:pt>
                <c:pt idx="1">
                  <c:v>0</c:v>
                </c:pt>
                <c:pt idx="2">
                  <c:v>0</c:v>
                </c:pt>
                <c:pt idx="3">
                  <c:v>0</c:v>
                </c:pt>
                <c:pt idx="4">
                  <c:v>0</c:v>
                </c:pt>
                <c:pt idx="5">
                  <c:v>0</c:v>
                </c:pt>
                <c:pt idx="6">
                  <c:v>3.4</c:v>
                </c:pt>
                <c:pt idx="7">
                  <c:v>26.5</c:v>
                </c:pt>
                <c:pt idx="8">
                  <c:v>37.1</c:v>
                </c:pt>
                <c:pt idx="9">
                  <c:v>9.7</c:v>
                </c:pt>
              </c:numCache>
            </c:numRef>
          </c:val>
        </c:ser>
        <c:ser>
          <c:idx val="2"/>
          <c:order val="2"/>
          <c:tx>
            <c:strRef>
              <c:f>Sheet1!$D$1</c:f>
              <c:strCache>
                <c:ptCount val="1"/>
                <c:pt idx="0">
                  <c:v>2026 kadrolu</c:v>
                </c:pt>
              </c:strCache>
            </c:strRef>
          </c:tx>
          <c:spPr>
            <a:solidFill>
              <a:srgbClr val="E30622"/>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Sheet1!$D$2:$D$11</c:f>
              <c:numCache>
                <c:formatCode>General</c:formatCode>
                <c:ptCount val="10"/>
                <c:pt idx="0">
                  <c:v>106.0</c:v>
                </c:pt>
                <c:pt idx="1">
                  <c:v>107.0</c:v>
                </c:pt>
                <c:pt idx="2">
                  <c:v>108.6</c:v>
                </c:pt>
                <c:pt idx="3">
                  <c:v>106.9</c:v>
                </c:pt>
                <c:pt idx="4">
                  <c:v>109.2</c:v>
                </c:pt>
                <c:pt idx="5">
                  <c:v>107.0</c:v>
                </c:pt>
                <c:pt idx="6">
                  <c:v>110.9</c:v>
                </c:pt>
              </c:numCache>
            </c:numRef>
          </c:val>
        </c:ser>
        <c:ser>
          <c:idx val="3"/>
          <c:order val="3"/>
          <c:tx>
            <c:strRef>
              <c:f>Sheet1!$E$1</c:f>
              <c:strCache>
                <c:ptCount val="1"/>
                <c:pt idx="0">
                  <c:v>2026 sezonluk</c:v>
                </c:pt>
              </c:strCache>
            </c:strRef>
          </c:tx>
          <c:spPr>
            <a:solidFill>
              <a:srgbClr val="A6001A"/>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Sheet1!$E$2:$E$11</c:f>
              <c:numCache>
                <c:formatCode>General</c:formatCode>
                <c:ptCount val="10"/>
                <c:pt idx="0">
                  <c:v>4.0</c:v>
                </c:pt>
                <c:pt idx="1">
                  <c:v>3.9</c:v>
                </c:pt>
                <c:pt idx="2">
                  <c:v>4.0</c:v>
                </c:pt>
                <c:pt idx="3">
                  <c:v>3.1</c:v>
                </c:pt>
                <c:pt idx="4">
                  <c:v>2.9</c:v>
                </c:pt>
                <c:pt idx="5">
                  <c:v>1.2</c:v>
                </c:pt>
                <c:pt idx="6">
                  <c:v>1.5</c:v>
                </c:pt>
              </c:numCache>
            </c:numRef>
          </c:val>
        </c:ser>
        <c:dLbls>
          <c:numFmt sourceLinked="0" formatCode="#,##0.0"/>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Sheet1!$B$2:$B$11</c:f>
              <c:numCache>
                <c:formatCode>General</c:formatCode>
                <c:ptCount val="10"/>
                <c:pt idx="0">
                  <c:v>10.640435897565483</c:v>
                </c:pt>
                <c:pt idx="1">
                  <c:v>10.971390826419475</c:v>
                </c:pt>
                <c:pt idx="2">
                  <c:v>13.88245899802121</c:v>
                </c:pt>
                <c:pt idx="3">
                  <c:v>11.502227588672273</c:v>
                </c:pt>
                <c:pt idx="4">
                  <c:v>15.964872627552854</c:v>
                </c:pt>
                <c:pt idx="5">
                  <c:v>14.259600971987444</c:v>
                </c:pt>
                <c:pt idx="6">
                  <c:v>14.297033783446004</c:v>
                </c:pt>
                <c:pt idx="7">
                  <c:v>2.912397700580454</c:v>
                </c:pt>
                <c:pt idx="8">
                  <c:v>2.0983488104807693</c:v>
                </c:pt>
                <c:pt idx="9">
                  <c:v>6.872611463188822</c:v>
                </c:pt>
              </c:numCache>
            </c:numRef>
          </c:val>
        </c:ser>
        <c:ser>
          <c:idx val="1"/>
          <c:order val="1"/>
          <c:tx>
            <c:strRef>
              <c:f>Sheet1!$C$1</c:f>
              <c:strCache>
                <c:ptCount val="1"/>
                <c:pt idx="0">
                  <c:v>2026</c:v>
                </c:pt>
              </c:strCache>
            </c:strRef>
          </c:tx>
          <c:spPr>
            <a:solidFill>
              <a:srgbClr val="E30622"/>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Sheet1!$C$2:$C$11</c:f>
              <c:numCache>
                <c:formatCode>General</c:formatCode>
                <c:ptCount val="10"/>
                <c:pt idx="0">
                  <c:v>9.342797291737561</c:v>
                </c:pt>
                <c:pt idx="1">
                  <c:v>11.288098438411463</c:v>
                </c:pt>
                <c:pt idx="2">
                  <c:v>11.702927412298179</c:v>
                </c:pt>
                <c:pt idx="3">
                  <c:v>13.236925983510183</c:v>
                </c:pt>
                <c:pt idx="4">
                  <c:v>13.848433011968481</c:v>
                </c:pt>
                <c:pt idx="5">
                  <c:v>13.921476943829141</c:v>
                </c:pt>
                <c:pt idx="6">
                  <c:v>12.711606463897192</c:v>
                </c:pt>
              </c:numCache>
            </c:numRef>
          </c:val>
        </c:ser>
        <c:dLbls>
          <c:numFmt sourceLinked="0" formatCode="0.0&quot;%&quot;"/>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2025 gerçekleşen</c:v>
                </c:pt>
              </c:strCache>
            </c:strRef>
          </c:tx>
          <c:spPr>
            <a:solidFill>
              <a:srgbClr val="9A9A9A"/>
            </a:solidFill>
          </c:spPr>
          <c:cat>
            <c:strRef>
              <c:f>Sheet1!$A$2:$A$5</c:f>
              <c:strCache>
                <c:ptCount val="4"/>
                <c:pt idx="0">
                  <c:v>Tem</c:v>
                </c:pt>
                <c:pt idx="1">
                  <c:v>Ağu</c:v>
                </c:pt>
                <c:pt idx="2">
                  <c:v>Eyl</c:v>
                </c:pt>
                <c:pt idx="3">
                  <c:v>Eki</c:v>
                </c:pt>
              </c:strCache>
            </c:strRef>
          </c:cat>
          <c:val>
            <c:numRef>
              <c:f>Sheet1!$B$2:$B$5</c:f>
              <c:numCache>
                <c:formatCode>General</c:formatCode>
                <c:ptCount val="4"/>
                <c:pt idx="0">
                  <c:v>30.7</c:v>
                </c:pt>
                <c:pt idx="1">
                  <c:v>186.9</c:v>
                </c:pt>
                <c:pt idx="2">
                  <c:v>313.0</c:v>
                </c:pt>
                <c:pt idx="3">
                  <c:v>71.4</c:v>
                </c:pt>
              </c:numCache>
            </c:numRef>
          </c:val>
        </c:ser>
        <c:ser>
          <c:idx val="1"/>
          <c:order val="1"/>
          <c:tx>
            <c:strRef>
              <c:f>Sheet1!$C$1</c:f>
              <c:strCache>
                <c:ptCount val="1"/>
                <c:pt idx="0">
                  <c:v>2026 gerçekleşen</c:v>
                </c:pt>
              </c:strCache>
            </c:strRef>
          </c:tx>
          <c:spPr>
            <a:solidFill>
              <a:srgbClr val="E30622"/>
            </a:solidFill>
          </c:spPr>
          <c:cat>
            <c:strRef>
              <c:f>Sheet1!$A$2:$A$5</c:f>
              <c:strCache>
                <c:ptCount val="4"/>
                <c:pt idx="0">
                  <c:v>Tem</c:v>
                </c:pt>
                <c:pt idx="1">
                  <c:v>Ağu</c:v>
                </c:pt>
                <c:pt idx="2">
                  <c:v>Eyl</c:v>
                </c:pt>
                <c:pt idx="3">
                  <c:v>Eki</c:v>
                </c:pt>
              </c:strCache>
            </c:strRef>
          </c:cat>
          <c:val>
            <c:numRef>
              <c:f>Sheet1!$C$2:$C$5</c:f>
              <c:numCache>
                <c:formatCode>General</c:formatCode>
                <c:ptCount val="4"/>
                <c:pt idx="0">
                  <c:v>53.4</c:v>
                </c:pt>
                <c:pt idx="1">
                  <c:v>172.1</c:v>
                </c:pt>
                <c:pt idx="2">
                  <c:v>20.7</c:v>
                </c:pt>
                <c:pt idx="3">
                  <c:v>0.0</c:v>
                </c:pt>
              </c:numCache>
            </c:numRef>
          </c:val>
        </c:ser>
        <c:ser>
          <c:idx val="2"/>
          <c:order val="2"/>
          <c:tx>
            <c:strRef>
              <c:f>Sheet1!$D$1</c:f>
              <c:strCache>
                <c:ptCount val="1"/>
                <c:pt idx="0">
                  <c:v>2026 tahmin</c:v>
                </c:pt>
              </c:strCache>
            </c:strRef>
          </c:tx>
          <c:spPr>
            <a:solidFill>
              <a:srgbClr val="E8A0A8"/>
            </a:solidFill>
          </c:spPr>
          <c:cat>
            <c:strRef>
              <c:f>Sheet1!$A$2:$A$5</c:f>
              <c:strCache>
                <c:ptCount val="4"/>
                <c:pt idx="0">
                  <c:v>Tem</c:v>
                </c:pt>
                <c:pt idx="1">
                  <c:v>Ağu</c:v>
                </c:pt>
                <c:pt idx="2">
                  <c:v>Eyl</c:v>
                </c:pt>
                <c:pt idx="3">
                  <c:v>Eki</c:v>
                </c:pt>
              </c:strCache>
            </c:strRef>
          </c:cat>
          <c:val>
            <c:numRef>
              <c:f>Sheet1!$D$2:$D$5</c:f>
              <c:numCache>
                <c:formatCode>General</c:formatCode>
                <c:ptCount val="4"/>
                <c:pt idx="0">
                  <c:v>0.0</c:v>
                </c:pt>
                <c:pt idx="1">
                  <c:v>0.0</c:v>
                </c:pt>
                <c:pt idx="2">
                  <c:v>611.2</c:v>
                </c:pt>
                <c:pt idx="3">
                  <c:v>133.0</c:v>
                </c:pt>
              </c:numCache>
            </c:numRef>
          </c:val>
        </c:ser>
        <c:gapWidth val="60"/>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chart" Target="../charts/chart11.xml"/><Relationship Id="rId7" Type="http://schemas.openxmlformats.org/officeDocument/2006/relationships/chart" Target="../charts/char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chart" Target="../charts/char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Kültür</a:t>
                      </a:r>
                    </a:p>
                  </a:txBody>
                  <a:tcPr>
                    <a:solidFill>
                      <a:srgbClr val="FAFAFA"/>
                    </a:solidFill>
                  </a:tcPr>
                </a:tc>
                <a:tc>
                  <a:txBody>
                    <a:bodyPr/>
                    <a:lstStyle/>
                    <a:p>
                      <a:pPr algn="ctr"/>
                      <a:r>
                        <a:rPr sz="900" b="0">
                          <a:solidFill>
                            <a:srgbClr val="333333"/>
                          </a:solidFill>
                          <a:latin typeface="Calibri"/>
                        </a:rPr>
                        <a:t>22</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2</a:t>
                      </a:r>
                    </a:p>
                  </a:txBody>
                  <a:tcPr>
                    <a:solidFill>
                      <a:srgbClr val="FAFAFA"/>
                    </a:solidFill>
                  </a:tcPr>
                </a:tc>
              </a:tr>
              <a:tr h="182880">
                <a:tc>
                  <a:txBody>
                    <a:bodyPr/>
                    <a:lstStyle/>
                    <a:p>
                      <a:pPr algn="l"/>
                      <a:r>
                        <a:rPr sz="900" b="0">
                          <a:solidFill>
                            <a:srgbClr val="333333"/>
                          </a:solidFill>
                          <a:latin typeface="Calibri"/>
                        </a:rPr>
                        <a:t>Mağaza</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8</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Oyuncak</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Yardımcı Kitap</a:t>
                      </a:r>
                    </a:p>
                  </a:txBody>
                  <a:tcPr>
                    <a:solidFill>
                      <a:srgbClr val="FFFFFF"/>
                    </a:solidFill>
                  </a:tcPr>
                </a:tc>
                <a:tc>
                  <a:txBody>
                    <a:bodyPr/>
                    <a:lstStyle/>
                    <a:p>
                      <a:pPr algn="ctr"/>
                      <a:r>
                        <a:rPr sz="900" b="0">
                          <a:solidFill>
                            <a:srgbClr val="333333"/>
                          </a:solidFill>
                          <a:latin typeface="Calibri"/>
                        </a:rPr>
                        <a:t>18</a:t>
                      </a:r>
                    </a:p>
                  </a:txBody>
                  <a:tcPr>
                    <a:solidFill>
                      <a:srgbClr val="FFFFFF"/>
                    </a:solidFill>
                  </a:tcPr>
                </a:tc>
                <a:tc>
                  <a:txBody>
                    <a:bodyPr/>
                    <a:lstStyle/>
                    <a:p>
                      <a:pPr algn="ctr"/>
                      <a:r>
                        <a:rPr sz="900" b="0">
                          <a:solidFill>
                            <a:srgbClr val="333333"/>
                          </a:solidFill>
                          <a:latin typeface="Calibri"/>
                        </a:rPr>
                        <a:t>21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3</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Kültür  2 kişi
Mağaza  2 kişi
İdari İşler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(Muhasebe · Oyun Alanı)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Maliyeti ve Ciro Oranı — Sezonun Tamamlanan Kısmı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PERSONEL MALİYETİ / CİRO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A6001A"/>
                </a:solidFill>
                <a:latin typeface="Calibri"/>
              </a:rPr>
              <a:t>%14,30 → %12,71</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1,59 puan azaldı</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FTE BAŞINA 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+%50,2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316 → 475 bin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FTE BAŞINA MALİYET</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+%33,6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 → 60 bin TL (ücret artışı)</a:t>
            </a:r>
          </a:p>
        </p:txBody>
      </p:sp>
      <p:graphicFrame>
        <p:nvGraphicFramePr>
          <p:cNvPr id="21" name="Table 20"/>
          <p:cNvGraphicFramePr>
            <a:graphicFrameLocks noGrp="1"/>
          </p:cNvGraphicFramePr>
          <p:nvPr/>
        </p:nvGraphicFramePr>
        <p:xfrm>
          <a:off x="548640" y="3291840"/>
          <a:ext cx="7223760" cy="2194560"/>
        </p:xfrm>
        <a:graphic>
          <a:graphicData uri="http://schemas.openxmlformats.org/drawingml/2006/table">
            <a:tbl>
              <a:tblPr firstRow="1" bandRow="1">
                <a:tableStyleId>{5C22544A-7EE6-4342-B048-85BDC9FD1C3A}</a:tableStyleId>
              </a:tblPr>
              <a:tblGrid>
                <a:gridCol w="2331720"/>
                <a:gridCol w="1234440"/>
                <a:gridCol w="1234440"/>
                <a:gridCol w="1188720"/>
                <a:gridCol w="1234440"/>
              </a:tblGrid>
              <a:tr h="219456">
                <a:tc>
                  <a:txBody>
                    <a:bodyPr/>
                    <a:lstStyle/>
                    <a:p>
                      <a:pPr algn="l"/>
                      <a:r>
                        <a:rPr sz="850" b="1">
                          <a:solidFill>
                            <a:srgbClr val="FFFFFF"/>
                          </a:solidFill>
                          <a:latin typeface="Calibri"/>
                        </a:rPr>
                        <a:t>Ölçü</a:t>
                      </a:r>
                    </a:p>
                  </a:txBody>
                  <a:tcPr>
                    <a:solidFill>
                      <a:srgbClr val="E30622"/>
                    </a:solidFill>
                  </a:tcPr>
                </a:tc>
                <a:tc>
                  <a:txBody>
                    <a:bodyPr/>
                    <a:lstStyle/>
                    <a:p>
                      <a:pPr algn="ctr"/>
                      <a:r>
                        <a:rPr sz="850" b="1">
                          <a:solidFill>
                            <a:srgbClr val="FFFFFF"/>
                          </a:solidFill>
                          <a:latin typeface="Calibri"/>
                        </a:rPr>
                        <a:t>SEZON 2025</a:t>
                      </a:r>
                    </a:p>
                  </a:txBody>
                  <a:tcPr>
                    <a:solidFill>
                      <a:srgbClr val="E30622"/>
                    </a:solidFill>
                  </a:tcPr>
                </a:tc>
                <a:tc>
                  <a:txBody>
                    <a:bodyPr/>
                    <a:lstStyle/>
                    <a:p>
                      <a:pPr algn="ctr"/>
                      <a:r>
                        <a:rPr sz="850" b="1">
                          <a:solidFill>
                            <a:srgbClr val="FFFFFF"/>
                          </a:solidFill>
                          <a:latin typeface="Calibri"/>
                        </a:rPr>
                        <a:t>SEZON 2026</a:t>
                      </a:r>
                    </a:p>
                  </a:txBody>
                  <a:tcPr>
                    <a:solidFill>
                      <a:srgbClr val="E30622"/>
                    </a:solidFill>
                  </a:tcPr>
                </a:tc>
                <a:tc>
                  <a:txBody>
                    <a:bodyPr/>
                    <a:lstStyle/>
                    <a:p>
                      <a:pPr algn="ctr"/>
                      <a:r>
                        <a:rPr sz="850" b="1">
                          <a:solidFill>
                            <a:srgbClr val="FFFFFF"/>
                          </a:solidFill>
                          <a:latin typeface="Calibri"/>
                        </a:rPr>
                        <a:t>SEZON Δ</a:t>
                      </a:r>
                    </a:p>
                  </a:txBody>
                  <a:tcPr>
                    <a:solidFill>
                      <a:srgbClr val="E30622"/>
                    </a:solidFill>
                  </a:tcPr>
                </a:tc>
                <a:tc>
                  <a:txBody>
                    <a:bodyPr/>
                    <a:lstStyle/>
                    <a:p>
                      <a:pPr algn="ctr"/>
                      <a:r>
                        <a:rPr sz="850" b="1">
                          <a:solidFill>
                            <a:srgbClr val="FFFFFF"/>
                          </a:solidFill>
                          <a:latin typeface="Calibri"/>
                        </a:rPr>
                        <a:t>Yıl geneli Δ</a:t>
                      </a:r>
                    </a:p>
                  </a:txBody>
                  <a:tcPr>
                    <a:solidFill>
                      <a:srgbClr val="E30622"/>
                    </a:solidFill>
                  </a:tcPr>
                </a:tc>
              </a:tr>
              <a:tr h="219456">
                <a:tc>
                  <a:txBody>
                    <a:bodyPr/>
                    <a:lstStyle/>
                    <a:p>
                      <a:pPr algn="l"/>
                      <a:r>
                        <a:rPr sz="950" b="0">
                          <a:solidFill>
                            <a:srgbClr val="333333"/>
                          </a:solidFill>
                          <a:latin typeface="Calibri"/>
                        </a:rPr>
                        <a:t>FTE (tam zaman eşdeğer)</a:t>
                      </a:r>
                    </a:p>
                  </a:txBody>
                  <a:tcPr>
                    <a:solidFill>
                      <a:srgbClr val="FFFFFF"/>
                    </a:solidFill>
                  </a:tcPr>
                </a:tc>
                <a:tc>
                  <a:txBody>
                    <a:bodyPr/>
                    <a:lstStyle/>
                    <a:p>
                      <a:pPr algn="ctr"/>
                      <a:r>
                        <a:rPr sz="950" b="0">
                          <a:solidFill>
                            <a:srgbClr val="333333"/>
                          </a:solidFill>
                          <a:latin typeface="Calibri"/>
                        </a:rPr>
                        <a:t>97,1</a:t>
                      </a:r>
                    </a:p>
                  </a:txBody>
                  <a:tcPr>
                    <a:solidFill>
                      <a:srgbClr val="FFFFFF"/>
                    </a:solidFill>
                  </a:tcPr>
                </a:tc>
                <a:tc>
                  <a:txBody>
                    <a:bodyPr/>
                    <a:lstStyle/>
                    <a:p>
                      <a:pPr algn="ctr"/>
                      <a:r>
                        <a:rPr sz="950" b="0">
                          <a:solidFill>
                            <a:srgbClr val="333333"/>
                          </a:solidFill>
                          <a:latin typeface="Calibri"/>
                        </a:rPr>
                        <a:t>112,4</a:t>
                      </a:r>
                    </a:p>
                  </a:txBody>
                  <a:tcPr>
                    <a:solidFill>
                      <a:srgbClr val="FFFFFF"/>
                    </a:solidFill>
                  </a:tcPr>
                </a:tc>
                <a:tc>
                  <a:txBody>
                    <a:bodyPr/>
                    <a:lstStyle/>
                    <a:p>
                      <a:pPr algn="ctr"/>
                      <a:r>
                        <a:rPr sz="950" b="1">
                          <a:solidFill>
                            <a:srgbClr val="A6001A"/>
                          </a:solidFill>
                          <a:latin typeface="Calibri"/>
                        </a:rPr>
                        <a:t>+%15,8</a:t>
                      </a:r>
                    </a:p>
                  </a:txBody>
                  <a:tcPr>
                    <a:solidFill>
                      <a:srgbClr val="FFFFFF"/>
                    </a:solidFill>
                  </a:tcPr>
                </a:tc>
                <a:tc>
                  <a:txBody>
                    <a:bodyPr/>
                    <a:lstStyle/>
                    <a:p>
                      <a:pPr algn="ctr"/>
                      <a:r>
                        <a:rPr sz="950" b="0">
                          <a:solidFill>
                            <a:srgbClr val="9A9A9A"/>
                          </a:solidFill>
                          <a:latin typeface="Calibri"/>
                        </a:rPr>
                        <a:t>+%11,3</a:t>
                      </a:r>
                    </a:p>
                  </a:txBody>
                  <a:tcPr>
                    <a:solidFill>
                      <a:srgbClr val="FFFFFF"/>
                    </a:solidFill>
                  </a:tcPr>
                </a:tc>
              </a:tr>
              <a:tr h="219456">
                <a:tc>
                  <a:txBody>
                    <a:bodyPr/>
                    <a:lstStyle/>
                    <a:p>
                      <a:pPr algn="l"/>
                      <a:r>
                        <a:rPr sz="950" b="0">
                          <a:solidFill>
                            <a:srgbClr val="333333"/>
                          </a:solidFill>
                          <a:latin typeface="Calibri"/>
                        </a:rPr>
                        <a:t>  — kadrolu FTE</a:t>
                      </a:r>
                    </a:p>
                  </a:txBody>
                  <a:tcPr>
                    <a:solidFill>
                      <a:srgbClr val="FAFAFA"/>
                    </a:solidFill>
                  </a:tcPr>
                </a:tc>
                <a:tc>
                  <a:txBody>
                    <a:bodyPr/>
                    <a:lstStyle/>
                    <a:p>
                      <a:pPr algn="ctr"/>
                      <a:r>
                        <a:rPr sz="950" b="0">
                          <a:solidFill>
                            <a:srgbClr val="333333"/>
                          </a:solidFill>
                          <a:latin typeface="Calibri"/>
                        </a:rPr>
                        <a:t>93,8</a:t>
                      </a:r>
                    </a:p>
                  </a:txBody>
                  <a:tcPr>
                    <a:solidFill>
                      <a:srgbClr val="FAFAFA"/>
                    </a:solidFill>
                  </a:tcPr>
                </a:tc>
                <a:tc>
                  <a:txBody>
                    <a:bodyPr/>
                    <a:lstStyle/>
                    <a:p>
                      <a:pPr algn="ctr"/>
                      <a:r>
                        <a:rPr sz="950" b="0">
                          <a:solidFill>
                            <a:srgbClr val="333333"/>
                          </a:solidFill>
                          <a:latin typeface="Calibri"/>
                        </a:rPr>
                        <a:t>110,9</a:t>
                      </a:r>
                    </a:p>
                  </a:txBody>
                  <a:tcPr>
                    <a:solidFill>
                      <a:srgbClr val="FAFAFA"/>
                    </a:solidFill>
                  </a:tcPr>
                </a:tc>
                <a:tc>
                  <a:txBody>
                    <a:bodyPr/>
                    <a:lstStyle/>
                    <a:p>
                      <a:pPr algn="ctr"/>
                      <a:r>
                        <a:rPr sz="950" b="1">
                          <a:solidFill>
                            <a:srgbClr val="A6001A"/>
                          </a:solidFill>
                          <a:latin typeface="Calibri"/>
                        </a:rPr>
                        <a:t>+%18,3</a:t>
                      </a:r>
                    </a:p>
                  </a:txBody>
                  <a:tcPr>
                    <a:solidFill>
                      <a:srgbClr val="FAFAFA"/>
                    </a:solidFill>
                  </a:tcPr>
                </a:tc>
                <a:tc>
                  <a:txBody>
                    <a:bodyPr/>
                    <a:lstStyle/>
                    <a:p>
                      <a:pPr algn="ctr"/>
                      <a:r>
                        <a:rPr sz="950" b="0">
                          <a:solidFill>
                            <a:srgbClr val="9A9A9A"/>
                          </a:solidFill>
                          <a:latin typeface="Calibri"/>
                        </a:rPr>
                        <a:t>+%8,9</a:t>
                      </a:r>
                    </a:p>
                  </a:txBody>
                  <a:tcPr>
                    <a:solidFill>
                      <a:srgbClr val="FAFAFA"/>
                    </a:solidFill>
                  </a:tcPr>
                </a:tc>
              </a:tr>
              <a:tr h="219456">
                <a:tc>
                  <a:txBody>
                    <a:bodyPr/>
                    <a:lstStyle/>
                    <a:p>
                      <a:pPr algn="l"/>
                      <a:r>
                        <a:rPr sz="950" b="0">
                          <a:solidFill>
                            <a:srgbClr val="333333"/>
                          </a:solidFill>
                          <a:latin typeface="Calibri"/>
                        </a:rPr>
                        <a:t>  — sezonluk FTE</a:t>
                      </a:r>
                    </a:p>
                  </a:txBody>
                  <a:tcPr>
                    <a:solidFill>
                      <a:srgbClr val="FFFFFF"/>
                    </a:solidFill>
                  </a:tcPr>
                </a:tc>
                <a:tc>
                  <a:txBody>
                    <a:bodyPr/>
                    <a:lstStyle/>
                    <a:p>
                      <a:pPr algn="ctr"/>
                      <a:r>
                        <a:rPr sz="950" b="0">
                          <a:solidFill>
                            <a:srgbClr val="333333"/>
                          </a:solidFill>
                          <a:latin typeface="Calibri"/>
                        </a:rPr>
                        <a:t>3,4</a:t>
                      </a:r>
                    </a:p>
                  </a:txBody>
                  <a:tcPr>
                    <a:solidFill>
                      <a:srgbClr val="FFFFFF"/>
                    </a:solidFill>
                  </a:tcPr>
                </a:tc>
                <a:tc>
                  <a:txBody>
                    <a:bodyPr/>
                    <a:lstStyle/>
                    <a:p>
                      <a:pPr algn="ctr"/>
                      <a:r>
                        <a:rPr sz="950" b="0">
                          <a:solidFill>
                            <a:srgbClr val="333333"/>
                          </a:solidFill>
                          <a:latin typeface="Calibri"/>
                        </a:rPr>
                        <a:t>1,5</a:t>
                      </a:r>
                    </a:p>
                  </a:txBody>
                  <a:tcPr>
                    <a:solidFill>
                      <a:srgbClr val="FFFFFF"/>
                    </a:solidFill>
                  </a:tcPr>
                </a:tc>
                <a:tc>
                  <a:txBody>
                    <a:bodyPr/>
                    <a:lstStyle/>
                    <a:p>
                      <a:pPr algn="ctr"/>
                      <a:r>
                        <a:rPr sz="950" b="1">
                          <a:solidFill>
                            <a:srgbClr val="A6001A"/>
                          </a:solidFill>
                          <a:latin typeface="Calibri"/>
                        </a:rPr>
                        <a:t>−%54,5</a:t>
                      </a:r>
                    </a:p>
                  </a:txBody>
                  <a:tcPr>
                    <a:solidFill>
                      <a:srgbClr val="FFFFFF"/>
                    </a:solidFill>
                  </a:tcPr>
                </a:tc>
                <a:tc>
                  <a:txBody>
                    <a:bodyPr/>
                    <a:lstStyle/>
                    <a:p>
                      <a:pPr algn="ctr"/>
                      <a:r>
                        <a:rPr sz="950" b="0">
                          <a:solidFill>
                            <a:srgbClr val="9A9A9A"/>
                          </a:solidFill>
                          <a:latin typeface="Calibri"/>
                        </a:rPr>
                        <a:t>+%512,9</a:t>
                      </a:r>
                    </a:p>
                  </a:txBody>
                  <a:tcPr>
                    <a:solidFill>
                      <a:srgbClr val="FFFFFF"/>
                    </a:solidFill>
                  </a:tcPr>
                </a:tc>
              </a:tr>
              <a:tr h="219456">
                <a:tc>
                  <a:txBody>
                    <a:bodyPr/>
                    <a:lstStyle/>
                    <a:p>
                      <a:pPr algn="l"/>
                      <a:r>
                        <a:rPr sz="950" b="0">
                          <a:solidFill>
                            <a:srgbClr val="333333"/>
                          </a:solidFill>
                          <a:latin typeface="Calibri"/>
                        </a:rPr>
                        <a:t>  — bordro kaydı (bilgi)</a:t>
                      </a:r>
                    </a:p>
                  </a:txBody>
                  <a:tcPr>
                    <a:solidFill>
                      <a:srgbClr val="FAFAFA"/>
                    </a:solidFill>
                  </a:tcPr>
                </a:tc>
                <a:tc>
                  <a:txBody>
                    <a:bodyPr/>
                    <a:lstStyle/>
                    <a:p>
                      <a:pPr algn="ctr"/>
                      <a:r>
                        <a:rPr sz="950" b="0">
                          <a:solidFill>
                            <a:srgbClr val="333333"/>
                          </a:solidFill>
                          <a:latin typeface="Calibri"/>
                        </a:rPr>
                        <a:t>110</a:t>
                      </a:r>
                    </a:p>
                  </a:txBody>
                  <a:tcPr>
                    <a:solidFill>
                      <a:srgbClr val="FAFAFA"/>
                    </a:solidFill>
                  </a:tcPr>
                </a:tc>
                <a:tc>
                  <a:txBody>
                    <a:bodyPr/>
                    <a:lstStyle/>
                    <a:p>
                      <a:pPr algn="ctr"/>
                      <a:r>
                        <a:rPr sz="950" b="0">
                          <a:solidFill>
                            <a:srgbClr val="333333"/>
                          </a:solidFill>
                          <a:latin typeface="Calibri"/>
                        </a:rPr>
                        <a:t>127</a:t>
                      </a:r>
                    </a:p>
                  </a:txBody>
                  <a:tcPr>
                    <a:solidFill>
                      <a:srgbClr val="FAFAFA"/>
                    </a:solidFill>
                  </a:tcPr>
                </a:tc>
                <a:tc>
                  <a:txBody>
                    <a:bodyPr/>
                    <a:lstStyle/>
                    <a:p>
                      <a:pPr algn="ctr"/>
                      <a:r>
                        <a:rPr sz="950" b="1">
                          <a:solidFill>
                            <a:srgbClr val="A6001A"/>
                          </a:solidFill>
                          <a:latin typeface="Calibri"/>
                        </a:rPr>
                        <a:t>+%15,5</a:t>
                      </a:r>
                    </a:p>
                  </a:txBody>
                  <a:tcPr>
                    <a:solidFill>
                      <a:srgbClr val="FAFAFA"/>
                    </a:solidFill>
                  </a:tcPr>
                </a:tc>
                <a:tc>
                  <a:txBody>
                    <a:bodyPr/>
                    <a:lstStyle/>
                    <a:p>
                      <a:pPr algn="ctr"/>
                      <a:r>
                        <a:rPr sz="950" b="0">
                          <a:solidFill>
                            <a:srgbClr val="9A9A9A"/>
                          </a:solidFill>
                          <a:latin typeface="Calibri"/>
                        </a:rPr>
                        <a:t>+%9,6</a:t>
                      </a:r>
                    </a:p>
                  </a:txBody>
                  <a:tcPr>
                    <a:solidFill>
                      <a:srgbClr val="FAFAFA"/>
                    </a:solidFill>
                  </a:tcPr>
                </a:tc>
              </a:tr>
              <a:tr h="219456">
                <a:tc>
                  <a:txBody>
                    <a:bodyPr/>
                    <a:lstStyle/>
                    <a:p>
                      <a:pPr algn="l"/>
                      <a:r>
                        <a:rPr sz="950" b="0">
                          <a:solidFill>
                            <a:srgbClr val="333333"/>
                          </a:solidFill>
                          <a:latin typeface="Calibri"/>
                        </a:rPr>
                        <a:t>Brüt ücret</a:t>
                      </a:r>
                    </a:p>
                  </a:txBody>
                  <a:tcPr>
                    <a:solidFill>
                      <a:srgbClr val="FFFFFF"/>
                    </a:solidFill>
                  </a:tcPr>
                </a:tc>
                <a:tc>
                  <a:txBody>
                    <a:bodyPr/>
                    <a:lstStyle/>
                    <a:p>
                      <a:pPr algn="ctr"/>
                      <a:r>
                        <a:rPr sz="950" b="0">
                          <a:solidFill>
                            <a:srgbClr val="333333"/>
                          </a:solidFill>
                          <a:latin typeface="Calibri"/>
                        </a:rPr>
                        <a:t>3,6 M TL</a:t>
                      </a:r>
                    </a:p>
                  </a:txBody>
                  <a:tcPr>
                    <a:solidFill>
                      <a:srgbClr val="FFFFFF"/>
                    </a:solidFill>
                  </a:tcPr>
                </a:tc>
                <a:tc>
                  <a:txBody>
                    <a:bodyPr/>
                    <a:lstStyle/>
                    <a:p>
                      <a:pPr algn="ctr"/>
                      <a:r>
                        <a:rPr sz="950" b="0">
                          <a:solidFill>
                            <a:srgbClr val="333333"/>
                          </a:solidFill>
                          <a:latin typeface="Calibri"/>
                        </a:rPr>
                        <a:t>5,5 M TL</a:t>
                      </a:r>
                    </a:p>
                  </a:txBody>
                  <a:tcPr>
                    <a:solidFill>
                      <a:srgbClr val="FFFFFF"/>
                    </a:solidFill>
                  </a:tcPr>
                </a:tc>
                <a:tc>
                  <a:txBody>
                    <a:bodyPr/>
                    <a:lstStyle/>
                    <a:p>
                      <a:pPr algn="ctr"/>
                      <a:r>
                        <a:rPr sz="950" b="1">
                          <a:solidFill>
                            <a:srgbClr val="A6001A"/>
                          </a:solidFill>
                          <a:latin typeface="Calibri"/>
                        </a:rPr>
                        <a:t>+%53,5</a:t>
                      </a:r>
                    </a:p>
                  </a:txBody>
                  <a:tcPr>
                    <a:solidFill>
                      <a:srgbClr val="FFFFFF"/>
                    </a:solidFill>
                  </a:tcPr>
                </a:tc>
                <a:tc>
                  <a:txBody>
                    <a:bodyPr/>
                    <a:lstStyle/>
                    <a:p>
                      <a:pPr algn="ctr"/>
                      <a:r>
                        <a:rPr sz="950" b="0">
                          <a:solidFill>
                            <a:srgbClr val="9A9A9A"/>
                          </a:solidFill>
                          <a:latin typeface="Calibri"/>
                        </a:rPr>
                        <a:t>+%50,5</a:t>
                      </a:r>
                    </a:p>
                  </a:txBody>
                  <a:tcPr>
                    <a:solidFill>
                      <a:srgbClr val="FFFFFF"/>
                    </a:solidFill>
                  </a:tcPr>
                </a:tc>
              </a:tr>
              <a:tr h="219456">
                <a:tc>
                  <a:txBody>
                    <a:bodyPr/>
                    <a:lstStyle/>
                    <a:p>
                      <a:pPr algn="l"/>
                      <a:r>
                        <a:rPr sz="950" b="0">
                          <a:solidFill>
                            <a:srgbClr val="333333"/>
                          </a:solidFill>
                          <a:latin typeface="Calibri"/>
                        </a:rPr>
                        <a:t>İşveren SGK + işsizlik</a:t>
                      </a:r>
                    </a:p>
                  </a:txBody>
                  <a:tcPr>
                    <a:solidFill>
                      <a:srgbClr val="FAFAFA"/>
                    </a:solidFill>
                  </a:tcPr>
                </a:tc>
                <a:tc>
                  <a:txBody>
                    <a:bodyPr/>
                    <a:lstStyle/>
                    <a:p>
                      <a:pPr algn="ctr"/>
                      <a:r>
                        <a:rPr sz="950" b="0">
                          <a:solidFill>
                            <a:srgbClr val="333333"/>
                          </a:solidFill>
                          <a:latin typeface="Calibri"/>
                        </a:rPr>
                        <a:t>0,8 M TL</a:t>
                      </a:r>
                    </a:p>
                  </a:txBody>
                  <a:tcPr>
                    <a:solidFill>
                      <a:srgbClr val="FAFAFA"/>
                    </a:solidFill>
                  </a:tcPr>
                </a:tc>
                <a:tc>
                  <a:txBody>
                    <a:bodyPr/>
                    <a:lstStyle/>
                    <a:p>
                      <a:pPr algn="ctr"/>
                      <a:r>
                        <a:rPr sz="950" b="0">
                          <a:solidFill>
                            <a:srgbClr val="333333"/>
                          </a:solidFill>
                          <a:latin typeface="Calibri"/>
                        </a:rPr>
                        <a:t>1,3 M TL</a:t>
                      </a:r>
                    </a:p>
                  </a:txBody>
                  <a:tcPr>
                    <a:solidFill>
                      <a:srgbClr val="FAFAFA"/>
                    </a:solidFill>
                  </a:tcPr>
                </a:tc>
                <a:tc>
                  <a:txBody>
                    <a:bodyPr/>
                    <a:lstStyle/>
                    <a:p>
                      <a:pPr algn="ctr"/>
                      <a:r>
                        <a:rPr sz="950" b="1">
                          <a:solidFill>
                            <a:srgbClr val="A6001A"/>
                          </a:solidFill>
                          <a:latin typeface="Calibri"/>
                        </a:rPr>
                        <a:t>+%59,5</a:t>
                      </a:r>
                    </a:p>
                  </a:txBody>
                  <a:tcPr>
                    <a:solidFill>
                      <a:srgbClr val="FAFAFA"/>
                    </a:solidFill>
                  </a:tcPr>
                </a:tc>
                <a:tc>
                  <a:txBody>
                    <a:bodyPr/>
                    <a:lstStyle/>
                    <a:p>
                      <a:pPr algn="ctr"/>
                      <a:r>
                        <a:rPr sz="950" b="0">
                          <a:solidFill>
                            <a:srgbClr val="9A9A9A"/>
                          </a:solidFill>
                          <a:latin typeface="Calibri"/>
                        </a:rPr>
                        <a:t>+%56,3</a:t>
                      </a:r>
                    </a:p>
                  </a:txBody>
                  <a:tcPr>
                    <a:solidFill>
                      <a:srgbClr val="FAFAFA"/>
                    </a:solidFill>
                  </a:tcPr>
                </a:tc>
              </a:tr>
              <a:tr h="219456">
                <a:tc>
                  <a:txBody>
                    <a:bodyPr/>
                    <a:lstStyle/>
                    <a:p>
                      <a:pPr algn="l"/>
                      <a:r>
                        <a:rPr sz="950" b="1">
                          <a:solidFill>
                            <a:srgbClr val="333333"/>
                          </a:solidFill>
                          <a:latin typeface="Calibri"/>
                        </a:rPr>
                        <a:t>PERSONEL MALİYETİ (brüt işveren)</a:t>
                      </a:r>
                    </a:p>
                  </a:txBody>
                  <a:tcPr>
                    <a:solidFill>
                      <a:srgbClr val="F2F2F2"/>
                    </a:solidFill>
                  </a:tcPr>
                </a:tc>
                <a:tc>
                  <a:txBody>
                    <a:bodyPr/>
                    <a:lstStyle/>
                    <a:p>
                      <a:pPr algn="ctr"/>
                      <a:r>
                        <a:rPr sz="950" b="1">
                          <a:solidFill>
                            <a:srgbClr val="333333"/>
                          </a:solidFill>
                          <a:latin typeface="Calibri"/>
                        </a:rPr>
                        <a:t>4,4 M TL</a:t>
                      </a:r>
                    </a:p>
                  </a:txBody>
                  <a:tcPr>
                    <a:solidFill>
                      <a:srgbClr val="F2F2F2"/>
                    </a:solidFill>
                  </a:tcPr>
                </a:tc>
                <a:tc>
                  <a:txBody>
                    <a:bodyPr/>
                    <a:lstStyle/>
                    <a:p>
                      <a:pPr algn="ctr"/>
                      <a:r>
                        <a:rPr sz="950" b="1">
                          <a:solidFill>
                            <a:srgbClr val="333333"/>
                          </a:solidFill>
                          <a:latin typeface="Calibri"/>
                        </a:rPr>
                        <a:t>6,8 M TL</a:t>
                      </a:r>
                    </a:p>
                  </a:txBody>
                  <a:tcPr>
                    <a:solidFill>
                      <a:srgbClr val="F2F2F2"/>
                    </a:solidFill>
                  </a:tcPr>
                </a:tc>
                <a:tc>
                  <a:txBody>
                    <a:bodyPr/>
                    <a:lstStyle/>
                    <a:p>
                      <a:pPr algn="ctr"/>
                      <a:r>
                        <a:rPr sz="950" b="1">
                          <a:solidFill>
                            <a:srgbClr val="A6001A"/>
                          </a:solidFill>
                          <a:latin typeface="Calibri"/>
                        </a:rPr>
                        <a:t>+%54,6</a:t>
                      </a:r>
                    </a:p>
                  </a:txBody>
                  <a:tcPr>
                    <a:solidFill>
                      <a:srgbClr val="F2F2F2"/>
                    </a:solidFill>
                  </a:tcPr>
                </a:tc>
                <a:tc>
                  <a:txBody>
                    <a:bodyPr/>
                    <a:lstStyle/>
                    <a:p>
                      <a:pPr algn="ctr"/>
                      <a:r>
                        <a:rPr sz="950" b="1">
                          <a:solidFill>
                            <a:srgbClr val="9A9A9A"/>
                          </a:solidFill>
                          <a:latin typeface="Calibri"/>
                        </a:rPr>
                        <a:t>+%51,5</a:t>
                      </a:r>
                    </a:p>
                  </a:txBody>
                  <a:tcPr>
                    <a:solidFill>
                      <a:srgbClr val="F2F2F2"/>
                    </a:solidFill>
                  </a:tcPr>
                </a:tc>
              </a:tr>
              <a:tr h="219456">
                <a:tc>
                  <a:txBody>
                    <a:bodyPr/>
                    <a:lstStyle/>
                    <a:p>
                      <a:pPr algn="l"/>
                      <a:r>
                        <a:rPr sz="950" b="0">
                          <a:solidFill>
                            <a:srgbClr val="333333"/>
                          </a:solidFill>
                          <a:latin typeface="Calibri"/>
                        </a:rPr>
                        <a:t>Ciro (KDV hariç)</a:t>
                      </a:r>
                    </a:p>
                  </a:txBody>
                  <a:tcPr>
                    <a:solidFill>
                      <a:srgbClr val="FAFAFA"/>
                    </a:solidFill>
                  </a:tcPr>
                </a:tc>
                <a:tc>
                  <a:txBody>
                    <a:bodyPr/>
                    <a:lstStyle/>
                    <a:p>
                      <a:pPr algn="ctr"/>
                      <a:r>
                        <a:rPr sz="950" b="0">
                          <a:solidFill>
                            <a:srgbClr val="333333"/>
                          </a:solidFill>
                          <a:latin typeface="Calibri"/>
                        </a:rPr>
                        <a:t>30,7 M TL</a:t>
                      </a:r>
                    </a:p>
                  </a:txBody>
                  <a:tcPr>
                    <a:solidFill>
                      <a:srgbClr val="FAFAFA"/>
                    </a:solidFill>
                  </a:tcPr>
                </a:tc>
                <a:tc>
                  <a:txBody>
                    <a:bodyPr/>
                    <a:lstStyle/>
                    <a:p>
                      <a:pPr algn="ctr"/>
                      <a:r>
                        <a:rPr sz="950" b="0">
                          <a:solidFill>
                            <a:srgbClr val="333333"/>
                          </a:solidFill>
                          <a:latin typeface="Calibri"/>
                        </a:rPr>
                        <a:t>53,4 M TL</a:t>
                      </a:r>
                    </a:p>
                  </a:txBody>
                  <a:tcPr>
                    <a:solidFill>
                      <a:srgbClr val="FAFAFA"/>
                    </a:solidFill>
                  </a:tcPr>
                </a:tc>
                <a:tc>
                  <a:txBody>
                    <a:bodyPr/>
                    <a:lstStyle/>
                    <a:p>
                      <a:pPr algn="ctr"/>
                      <a:r>
                        <a:rPr sz="950" b="1">
                          <a:solidFill>
                            <a:srgbClr val="A6001A"/>
                          </a:solidFill>
                          <a:latin typeface="Calibri"/>
                        </a:rPr>
                        <a:t>+%73,9</a:t>
                      </a:r>
                    </a:p>
                  </a:txBody>
                  <a:tcPr>
                    <a:solidFill>
                      <a:srgbClr val="FAFAFA"/>
                    </a:solidFill>
                  </a:tcPr>
                </a:tc>
                <a:tc>
                  <a:txBody>
                    <a:bodyPr/>
                    <a:lstStyle/>
                    <a:p>
                      <a:pPr algn="ctr"/>
                      <a:r>
                        <a:rPr sz="950" b="0">
                          <a:solidFill>
                            <a:srgbClr val="9A9A9A"/>
                          </a:solidFill>
                          <a:latin typeface="Calibri"/>
                        </a:rPr>
                        <a:t>+%60,3</a:t>
                      </a:r>
                    </a:p>
                  </a:txBody>
                  <a:tcPr>
                    <a:solidFill>
                      <a:srgbClr val="FAFAFA"/>
                    </a:solidFill>
                  </a:tcPr>
                </a:tc>
              </a:tr>
              <a:tr h="219456">
                <a:tc>
                  <a:txBody>
                    <a:bodyPr/>
                    <a:lstStyle/>
                    <a:p>
                      <a:pPr algn="l"/>
                      <a:r>
                        <a:rPr sz="950" b="1">
                          <a:solidFill>
                            <a:srgbClr val="333333"/>
                          </a:solidFill>
                          <a:latin typeface="Calibri"/>
                        </a:rPr>
                        <a:t>MALİYET / CİRO ORANI</a:t>
                      </a:r>
                    </a:p>
                  </a:txBody>
                  <a:tcPr>
                    <a:solidFill>
                      <a:srgbClr val="F2F2F2"/>
                    </a:solidFill>
                  </a:tcPr>
                </a:tc>
                <a:tc>
                  <a:txBody>
                    <a:bodyPr/>
                    <a:lstStyle/>
                    <a:p>
                      <a:pPr algn="ctr"/>
                      <a:r>
                        <a:rPr sz="950" b="1">
                          <a:solidFill>
                            <a:srgbClr val="333333"/>
                          </a:solidFill>
                          <a:latin typeface="Calibri"/>
                        </a:rPr>
                        <a:t>%14,30</a:t>
                      </a:r>
                    </a:p>
                  </a:txBody>
                  <a:tcPr>
                    <a:solidFill>
                      <a:srgbClr val="F2F2F2"/>
                    </a:solidFill>
                  </a:tcPr>
                </a:tc>
                <a:tc>
                  <a:txBody>
                    <a:bodyPr/>
                    <a:lstStyle/>
                    <a:p>
                      <a:pPr algn="ctr"/>
                      <a:r>
                        <a:rPr sz="950" b="1">
                          <a:solidFill>
                            <a:srgbClr val="333333"/>
                          </a:solidFill>
                          <a:latin typeface="Calibri"/>
                        </a:rPr>
                        <a:t>%12,71</a:t>
                      </a:r>
                    </a:p>
                  </a:txBody>
                  <a:tcPr>
                    <a:solidFill>
                      <a:srgbClr val="F2F2F2"/>
                    </a:solidFill>
                  </a:tcPr>
                </a:tc>
                <a:tc>
                  <a:txBody>
                    <a:bodyPr/>
                    <a:lstStyle/>
                    <a:p>
                      <a:pPr algn="ctr"/>
                      <a:r>
                        <a:rPr sz="950" b="1">
                          <a:solidFill>
                            <a:srgbClr val="A6001A"/>
                          </a:solidFill>
                          <a:latin typeface="Calibri"/>
                        </a:rPr>
                        <a:t>-1,59 puan</a:t>
                      </a:r>
                    </a:p>
                  </a:txBody>
                  <a:tcPr>
                    <a:solidFill>
                      <a:srgbClr val="F2F2F2"/>
                    </a:solidFill>
                  </a:tcPr>
                </a:tc>
                <a:tc>
                  <a:txBody>
                    <a:bodyPr/>
                    <a:lstStyle/>
                    <a:p>
                      <a:pPr algn="ctr"/>
                      <a:r>
                        <a:rPr sz="950" b="1">
                          <a:solidFill>
                            <a:srgbClr val="9A9A9A"/>
                          </a:solidFill>
                          <a:latin typeface="Calibri"/>
                        </a:rPr>
                        <a:t>-0,70 puan</a:t>
                      </a:r>
                    </a:p>
                  </a:txBody>
                  <a:tcPr>
                    <a:solidFill>
                      <a:srgbClr val="F2F2F2"/>
                    </a:solidFill>
                  </a:tcPr>
                </a:tc>
              </a:tr>
            </a:tbl>
          </a:graphicData>
        </a:graphic>
      </p:graphicFrame>
      <p:sp>
        <p:nvSpPr>
          <p:cNvPr id="22" name="Rounded Rectangle 21"/>
          <p:cNvSpPr/>
          <p:nvPr/>
        </p:nvSpPr>
        <p:spPr>
          <a:xfrm>
            <a:off x="7955279" y="3291840"/>
            <a:ext cx="3611880" cy="1874519"/>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401568"/>
            <a:ext cx="3200400" cy="1737360"/>
          </a:xfrm>
          <a:prstGeom prst="rect">
            <a:avLst/>
          </a:prstGeom>
          <a:noFill/>
        </p:spPr>
        <p:txBody>
          <a:bodyPr wrap="square" anchor="t">
            <a:spAutoFit/>
          </a:bodyPr>
          <a:lstStyle/>
          <a:p>
            <a:pPr algn="l">
              <a:lnSpc>
                <a:spcPct val="108000"/>
              </a:lnSpc>
            </a:pPr>
            <a:r>
              <a:rPr sz="1250" b="1">
                <a:solidFill>
                  <a:srgbClr val="A6001A"/>
                </a:solidFill>
                <a:latin typeface="Calibri"/>
              </a:rPr>
              <a:t>Maliyet arttı, yükü azaldı</a:t>
            </a:r>
          </a:p>
          <a:p>
            <a:pPr algn="l">
              <a:lnSpc>
                <a:spcPct val="108000"/>
              </a:lnSpc>
            </a:pPr>
            <a:r>
              <a:rPr sz="950" b="0">
                <a:solidFill>
                  <a:srgbClr val="333333"/>
                </a:solidFill>
                <a:latin typeface="Calibri"/>
              </a:rPr>
              <a:t>Personel maliyeti +%54,6 artmıştır; artışın ana kaynağı FTE başına ücret (+%33,6). Buna karşın cironun içindeki personel yükü 1,59 puan gerilemiştir: %14,30 → %12,71.</a:t>
            </a:r>
          </a:p>
          <a:p>
            <a:pPr algn="l">
              <a:lnSpc>
                <a:spcPct val="108000"/>
              </a:lnSpc>
            </a:pPr>
            <a:r>
              <a:rPr sz="850" b="0">
                <a:solidFill>
                  <a:srgbClr val="9A9A9A"/>
                </a:solidFill>
                <a:latin typeface="Calibri"/>
              </a:rPr>
              <a:t>Sezon Tem–Eki'dir; 2026 sezonu henüz tamamlanmadığı için kıyas Tem ayı iledir. Yıl geneli (01-07 ay (Oca–Tem), her iki yıl) oranı da -0,70 puan gerilemiştir. Geçen yılın TAM sezonunda (Tem–Eki) oran %3,54 idi — sezonda ciro birkaç kat arttığı için oran doğal olarak çok düşüktür.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Ölçü birimi FTE (tam zaman eşdeğer) = SGK prim günü ÷ 30 — ay içinde yarım çalışan tam sayılmaz · Kaynak: Zirve bordro (vw_PuanBil) — maliyet = brüt toplam + işveren SGK hissesi + işveren işsizlik payı · ESAS DÖNEM: Tem · Yıl geneli referansı: 01-07 ay (Oca–Tem), her iki yıl · 2026 SEZONU HENÜZ TAMAMLANMADI. Sezon = Tem–Eki ayları; Ağu, Eyl, Eki ayı/ayları için bordro henüz işlenmedi (Ağustos bordrosu koşmadı, Eylül–Ekim daha gelmedi). Karşılaştırma tamamlanan ortak ay(lar) ile sınırlıdır: Tem. Geçen yılın TAM sezonu ayrıca referans olarak verilmiştir. · Kapsam: üç POS mağazası · Ciro KDV HARİÇ ve Sınav DAHİL (o satışı da aynı mağaza personeli yapar) · Kıdem karşılığı ve yan haklar hariç → maliyet alt sınır · KADROLU/SEZONLUK ayracı bugünkü Kadro alanıdır (tarihlenmiyor); sezonluk alımın büyük kısmı Ağustos'ta olduğu için sezonluk ağırlığı Ağustos bordrosu işlenince gerçek seviyesine çıkar.</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Alınmasaydı: Fazla Mesai Sınırı — Sezon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FİİLİ · SEZON 2026</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84 sa/yıl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kişi başına (sezon hızı × 12) · yıl geneli 118 sa</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triangl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ARTMASAYDI</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465 sa/yıl</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aynı iş, 15,3 FTE eksik kapasite</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YASAL ÜST SINIR</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270 sa/yıl</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4857 s.K. m.41 · kişi başına</a:t>
            </a:r>
          </a:p>
        </p:txBody>
      </p:sp>
      <p:graphicFrame>
        <p:nvGraphicFramePr>
          <p:cNvPr id="21" name="Chart 20"/>
          <p:cNvGraphicFramePr>
            <a:graphicFrameLocks noGrp="1"/>
          </p:cNvGraphicFramePr>
          <p:nvPr/>
        </p:nvGraphicFramePr>
        <p:xfrm>
          <a:off x="548640" y="3383280"/>
          <a:ext cx="5760720" cy="2057400"/>
        </p:xfrm>
        <a:graphic>
          <a:graphicData uri="http://schemas.openxmlformats.org/drawingml/2006/chart">
            <c:chart xmlns:c="http://schemas.openxmlformats.org/drawingml/2006/chart" r:id="rId6"/>
          </a:graphicData>
        </a:graphic>
      </p:graphicFrame>
      <p:sp>
        <p:nvSpPr>
          <p:cNvPr id="22" name="Rounded Rectangle 21"/>
          <p:cNvSpPr/>
          <p:nvPr/>
        </p:nvSpPr>
        <p:spPr>
          <a:xfrm>
            <a:off x="6492240" y="3383280"/>
            <a:ext cx="507492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493008"/>
            <a:ext cx="4617720" cy="1627632"/>
          </a:xfrm>
          <a:prstGeom prst="rect">
            <a:avLst/>
          </a:prstGeom>
          <a:noFill/>
        </p:spPr>
        <p:txBody>
          <a:bodyPr wrap="square" anchor="t">
            <a:spAutoFit/>
          </a:bodyPr>
          <a:lstStyle/>
          <a:p>
            <a:pPr algn="l">
              <a:lnSpc>
                <a:spcPct val="112000"/>
              </a:lnSpc>
            </a:pPr>
            <a:r>
              <a:rPr sz="1250" b="1">
                <a:solidFill>
                  <a:srgbClr val="A6001A"/>
                </a:solidFill>
                <a:latin typeface="Calibri"/>
              </a:rPr>
              <a:t>Alım tercih değil, zorunluluktu</a:t>
            </a:r>
          </a:p>
          <a:p>
            <a:pPr algn="l">
              <a:lnSpc>
                <a:spcPct val="112000"/>
              </a:lnSpc>
            </a:pPr>
            <a:r>
              <a:rPr sz="1000" b="0">
                <a:solidFill>
                  <a:srgbClr val="333333"/>
                </a:solidFill>
                <a:latin typeface="Calibri"/>
              </a:rPr>
              <a:t>Kadro 2025 seviyesinde kalsaydı aynı işi çıkarmak için 2.984 saat ek fazla mesai gerekirdi; kişi başına yıllık 465 saate çıkardı ve 270 saatlik yasal sınır AŞILIRDI. Fiili fazla mesai 84 saat/yıl ile sınırın içindedir; ancak sınır hızında çalışan kişi-ay sayısı 1'den 2'ye yükselmiştir — kadro hâlâ dar.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fazla mesai saatleri (fm1+fm2+fm3) · ESAS DÖNEM: Tem (sezon ayı) · yıl geneli referansı 01-07 ay (Oca–Tem), her iki yıl · Kapsam: üç POS mağazası · VARSAYIM: işgücü ihtiyacı kişi sayısıyla doğru orantılıdır ve eksik kapasite ancak fazla mesaiyle kapanır; kişi-ay başına normal çalışma 195 saat (45 sa/hafta); yıllıklandırma = sezon ayı hızı × 12 · Yasal çerçeve 4857 s.K. m.41 (yıllık 270 saat).</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Aylık Kadro ve Personel Maliyeti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KADRO (FTE)</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E30622"/>
                </a:solidFill>
                <a:latin typeface="Calibri"/>
              </a:rPr>
              <a:t>97,1 → 112,4</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 +%15,8 · bordro kaydı 110 → 127</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MALİYET/CİRO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400" b="1">
                <a:solidFill>
                  <a:srgbClr val="A6001A"/>
                </a:solidFill>
                <a:latin typeface="Calibri"/>
              </a:rPr>
              <a:t>%14,3 → %12,7</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ayı · -1,6 puan</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 KADROLU / SEZONLUK</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400" b="1">
                <a:solidFill>
                  <a:srgbClr val="9A9A9A"/>
                </a:solidFill>
                <a:latin typeface="Calibri"/>
              </a:rPr>
              <a:t>110,9 / 1,5</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FTE · kadro artışı 7/7 ayda</a:t>
            </a:r>
          </a:p>
        </p:txBody>
      </p:sp>
      <p:graphicFrame>
        <p:nvGraphicFramePr>
          <p:cNvPr id="21" name="Chart 20"/>
          <p:cNvGraphicFramePr>
            <a:graphicFrameLocks noGrp="1"/>
          </p:cNvGraphicFramePr>
          <p:nvPr/>
        </p:nvGraphicFramePr>
        <p:xfrm>
          <a:off x="548640" y="3520440"/>
          <a:ext cx="5486400" cy="1965960"/>
        </p:xfrm>
        <a:graphic>
          <a:graphicData uri="http://schemas.openxmlformats.org/drawingml/2006/chart">
            <c:chart xmlns:c="http://schemas.openxmlformats.org/drawingml/2006/chart" r:id="rId6"/>
          </a:graphicData>
        </a:graphic>
      </p:graphicFrame>
      <p:sp>
        <p:nvSpPr>
          <p:cNvPr id="22" name="TextBox 21"/>
          <p:cNvSpPr txBox="1"/>
          <p:nvPr/>
        </p:nvSpPr>
        <p:spPr>
          <a:xfrm>
            <a:off x="548640" y="3291840"/>
            <a:ext cx="5486400" cy="219456"/>
          </a:xfrm>
          <a:prstGeom prst="rect">
            <a:avLst/>
          </a:prstGeom>
          <a:noFill/>
        </p:spPr>
        <p:txBody>
          <a:bodyPr wrap="square" anchor="t">
            <a:spAutoFit/>
          </a:bodyPr>
          <a:lstStyle/>
          <a:p>
            <a:pPr algn="l">
              <a:lnSpc>
                <a:spcPct val="100000"/>
              </a:lnSpc>
            </a:pPr>
            <a:r>
              <a:rPr sz="950" b="1">
                <a:solidFill>
                  <a:srgbClr val="6E6E6E"/>
                </a:solidFill>
                <a:latin typeface="Calibri"/>
              </a:rPr>
              <a:t>Kadro — aylık FTE: kadrolu + sezonluk, iki yıl (2026 sezonu Ağu–Eki'de dolacak)</a:t>
            </a:r>
          </a:p>
        </p:txBody>
      </p:sp>
      <p:graphicFrame>
        <p:nvGraphicFramePr>
          <p:cNvPr id="23" name="Chart 22"/>
          <p:cNvGraphicFramePr>
            <a:graphicFrameLocks noGrp="1"/>
          </p:cNvGraphicFramePr>
          <p:nvPr/>
        </p:nvGraphicFramePr>
        <p:xfrm>
          <a:off x="6172200" y="3520440"/>
          <a:ext cx="5394960" cy="1965960"/>
        </p:xfrm>
        <a:graphic>
          <a:graphicData uri="http://schemas.openxmlformats.org/drawingml/2006/chart">
            <c:chart xmlns:c="http://schemas.openxmlformats.org/drawingml/2006/chart" r:id="rId7"/>
          </a:graphicData>
        </a:graphic>
      </p:graphicFrame>
      <p:sp>
        <p:nvSpPr>
          <p:cNvPr id="24" name="TextBox 23"/>
          <p:cNvSpPr txBox="1"/>
          <p:nvPr/>
        </p:nvSpPr>
        <p:spPr>
          <a:xfrm>
            <a:off x="6172200" y="3291840"/>
            <a:ext cx="5394960" cy="219456"/>
          </a:xfrm>
          <a:prstGeom prst="rect">
            <a:avLst/>
          </a:prstGeom>
          <a:noFill/>
        </p:spPr>
        <p:txBody>
          <a:bodyPr wrap="square" anchor="t">
            <a:spAutoFit/>
          </a:bodyPr>
          <a:lstStyle/>
          <a:p>
            <a:pPr algn="l">
              <a:lnSpc>
                <a:spcPct val="100000"/>
              </a:lnSpc>
            </a:pPr>
            <a:r>
              <a:rPr sz="950" b="1">
                <a:solidFill>
                  <a:srgbClr val="6E6E6E"/>
                </a:solidFill>
                <a:latin typeface="Calibri"/>
              </a:rPr>
              <a:t>Personel maliyetinin ciro içindeki payı (%) — aylık</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Sezon = Tem–Eki (Temmuz hazırlık; asıl hacim ve sezonluk kadro Ağustos–Ekim) · 2026 sezonunun boş ayları bordrosu henüz koşmadığı için çizilmemiştir · Ölçü FTE = SGK prim günü ÷ 30 (bordro kaydı sayılsaydı ay içinde 1 gün çalışan da 1 sayılırdı) · Kaynak: Zirve bordro (vw_PuanBil) aylık · ciro DerinSIS KDV hariç, Sınav dahil · Kapsam: üç POS mağazası · * işaretli ay = sezon ayı (Tem–Eki) · Ağustos, Eylül, Ekim bordrosu işlendiğinde tabloya eklenir · Bordro kaydı ve ortalama prim günü Excel «Maliyet» sayfasında.</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Sezonun Kalanı — Eylül–Ekim Tahmini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CİROSU (TAHMİN)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990 M TL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2025: 602 M · +%64,5</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KADROSU (TAHMİN)</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531,0 FTE</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2025: 458,7 FTE · +%15,8</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ay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MALİYET / CİRO</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%3,23</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2025: %3,54 · tahmini personel yükü</a:t>
            </a:r>
          </a:p>
        </p:txBody>
      </p:sp>
      <p:graphicFrame>
        <p:nvGraphicFramePr>
          <p:cNvPr id="21" name="Table 20"/>
          <p:cNvGraphicFramePr>
            <a:graphicFrameLocks noGrp="1"/>
          </p:cNvGraphicFramePr>
          <p:nvPr/>
        </p:nvGraphicFramePr>
        <p:xfrm>
          <a:off x="548640" y="3337560"/>
          <a:ext cx="7223760" cy="1408176"/>
        </p:xfrm>
        <a:graphic>
          <a:graphicData uri="http://schemas.openxmlformats.org/drawingml/2006/table">
            <a:tbl>
              <a:tblPr firstRow="1" bandRow="1">
                <a:tableStyleId>{5C22544A-7EE6-4342-B048-85BDC9FD1C3A}</a:tableStyleId>
              </a:tblPr>
              <a:tblGrid>
                <a:gridCol w="777240"/>
                <a:gridCol w="777240"/>
                <a:gridCol w="868680"/>
                <a:gridCol w="1051560"/>
                <a:gridCol w="1051560"/>
                <a:gridCol w="777240"/>
                <a:gridCol w="822960"/>
                <a:gridCol w="1097280"/>
              </a:tblGrid>
              <a:tr h="201168">
                <a:tc>
                  <a:txBody>
                    <a:bodyPr/>
                    <a:lstStyle/>
                    <a:p>
                      <a:pPr algn="l"/>
                      <a:r>
                        <a:rPr sz="800" b="1">
                          <a:solidFill>
                            <a:srgbClr val="FFFFFF"/>
                          </a:solidFill>
                          <a:latin typeface="Calibri"/>
                        </a:rPr>
                        <a:t>Ay</a:t>
                      </a:r>
                    </a:p>
                  </a:txBody>
                  <a:tcPr>
                    <a:solidFill>
                      <a:srgbClr val="E30622"/>
                    </a:solidFill>
                  </a:tcPr>
                </a:tc>
                <a:tc>
                  <a:txBody>
                    <a:bodyPr/>
                    <a:lstStyle/>
                    <a:p>
                      <a:pPr algn="l"/>
                      <a:r>
                        <a:rPr sz="800" b="1">
                          <a:solidFill>
                            <a:srgbClr val="FFFFFF"/>
                          </a:solidFill>
                          <a:latin typeface="Calibri"/>
                        </a:rPr>
                        <a:t>Ciro</a:t>
                      </a:r>
                    </a:p>
                  </a:txBody>
                  <a:tcPr>
                    <a:solidFill>
                      <a:srgbClr val="E30622"/>
                    </a:solidFill>
                  </a:tcPr>
                </a:tc>
                <a:tc>
                  <a:txBody>
                    <a:bodyPr/>
                    <a:lstStyle/>
                    <a:p>
                      <a:pPr algn="ctr"/>
                      <a:r>
                        <a:rPr sz="800" b="1">
                          <a:solidFill>
                            <a:srgbClr val="FFFFFF"/>
                          </a:solidFill>
                          <a:latin typeface="Calibri"/>
                        </a:rPr>
                        <a:t>Maliyet</a:t>
                      </a:r>
                    </a:p>
                  </a:txBody>
                  <a:tcPr>
                    <a:solidFill>
                      <a:srgbClr val="E30622"/>
                    </a:solidFill>
                  </a:tcPr>
                </a:tc>
                <a:tc>
                  <a:txBody>
                    <a:bodyPr/>
                    <a:lstStyle/>
                    <a:p>
                      <a:pPr algn="ctr"/>
                      <a:r>
                        <a:rPr sz="800" b="1">
                          <a:solidFill>
                            <a:srgbClr val="FFFFFF"/>
                          </a:solidFill>
                          <a:latin typeface="Calibri"/>
                        </a:rPr>
                        <a:t>Ciro 2025</a:t>
                      </a:r>
                    </a:p>
                  </a:txBody>
                  <a:tcPr>
                    <a:solidFill>
                      <a:srgbClr val="E30622"/>
                    </a:solidFill>
                  </a:tcPr>
                </a:tc>
                <a:tc>
                  <a:txBody>
                    <a:bodyPr/>
                    <a:lstStyle/>
                    <a:p>
                      <a:pPr algn="ctr"/>
                      <a:r>
                        <a:rPr sz="800" b="1">
                          <a:solidFill>
                            <a:srgbClr val="FFFFFF"/>
                          </a:solidFill>
                          <a:latin typeface="Calibri"/>
                        </a:rPr>
                        <a:t>Ciro 2026</a:t>
                      </a:r>
                    </a:p>
                  </a:txBody>
                  <a:tcPr>
                    <a:solidFill>
                      <a:srgbClr val="E30622"/>
                    </a:solidFill>
                  </a:tcPr>
                </a:tc>
                <a:tc>
                  <a:txBody>
                    <a:bodyPr/>
                    <a:lstStyle/>
                    <a:p>
                      <a:pPr algn="ctr"/>
                      <a:r>
                        <a:rPr sz="800" b="1">
                          <a:solidFill>
                            <a:srgbClr val="FFFFFF"/>
                          </a:solidFill>
                          <a:latin typeface="Calibri"/>
                        </a:rPr>
                        <a:t>Δ</a:t>
                      </a:r>
                    </a:p>
                  </a:txBody>
                  <a:tcPr>
                    <a:solidFill>
                      <a:srgbClr val="E30622"/>
                    </a:solidFill>
                  </a:tcPr>
                </a:tc>
                <a:tc>
                  <a:txBody>
                    <a:bodyPr/>
                    <a:lstStyle/>
                    <a:p>
                      <a:pPr algn="ctr"/>
                      <a:r>
                        <a:rPr sz="800" b="1">
                          <a:solidFill>
                            <a:srgbClr val="FFFFFF"/>
                          </a:solidFill>
                          <a:latin typeface="Calibri"/>
                        </a:rPr>
                        <a:t>FTE 2026</a:t>
                      </a:r>
                    </a:p>
                  </a:txBody>
                  <a:tcPr>
                    <a:solidFill>
                      <a:srgbClr val="E30622"/>
                    </a:solidFill>
                  </a:tcPr>
                </a:tc>
                <a:tc>
                  <a:txBody>
                    <a:bodyPr/>
                    <a:lstStyle/>
                    <a:p>
                      <a:pPr algn="ctr"/>
                      <a:r>
                        <a:rPr sz="800" b="1">
                          <a:solidFill>
                            <a:srgbClr val="FFFFFF"/>
                          </a:solidFill>
                          <a:latin typeface="Calibri"/>
                        </a:rPr>
                        <a:t>Maliyet 2026</a:t>
                      </a:r>
                    </a:p>
                  </a:txBody>
                  <a:tcPr>
                    <a:solidFill>
                      <a:srgbClr val="E30622"/>
                    </a:solidFill>
                  </a:tcPr>
                </a:tc>
              </a:tr>
              <a:tr h="201168">
                <a:tc>
                  <a:txBody>
                    <a:bodyPr/>
                    <a:lstStyle/>
                    <a:p>
                      <a:pPr algn="l"/>
                      <a:r>
                        <a:rPr sz="850" b="0">
                          <a:solidFill>
                            <a:srgbClr val="333333"/>
                          </a:solidFill>
                          <a:latin typeface="Calibri"/>
                        </a:rPr>
                        <a:t>Tem</a:t>
                      </a:r>
                    </a:p>
                  </a:txBody>
                  <a:tcPr>
                    <a:solidFill>
                      <a:srgbClr val="FFFFFF"/>
                    </a:solidFill>
                  </a:tcPr>
                </a:tc>
                <a:tc>
                  <a:txBody>
                    <a:bodyPr/>
                    <a:lstStyle/>
                    <a:p>
                      <a:pPr algn="l"/>
                      <a:r>
                        <a:rPr sz="850" b="0">
                          <a:solidFill>
                            <a:srgbClr val="333333"/>
                          </a:solidFill>
                          <a:latin typeface="Calibri"/>
                        </a:rPr>
                        <a:t>gerçek</a:t>
                      </a:r>
                    </a:p>
                  </a:txBody>
                  <a:tcPr>
                    <a:solidFill>
                      <a:srgbClr val="FFFFFF"/>
                    </a:solidFill>
                  </a:tcPr>
                </a:tc>
                <a:tc>
                  <a:txBody>
                    <a:bodyPr/>
                    <a:lstStyle/>
                    <a:p>
                      <a:pPr algn="ctr"/>
                      <a:r>
                        <a:rPr sz="850" b="0">
                          <a:solidFill>
                            <a:srgbClr val="333333"/>
                          </a:solidFill>
                          <a:latin typeface="Calibri"/>
                        </a:rPr>
                        <a:t>gerçek</a:t>
                      </a:r>
                    </a:p>
                  </a:txBody>
                  <a:tcPr>
                    <a:solidFill>
                      <a:srgbClr val="FFFFFF"/>
                    </a:solidFill>
                  </a:tcPr>
                </a:tc>
                <a:tc>
                  <a:txBody>
                    <a:bodyPr/>
                    <a:lstStyle/>
                    <a:p>
                      <a:pPr algn="ctr"/>
                      <a:r>
                        <a:rPr sz="850" b="0">
                          <a:solidFill>
                            <a:srgbClr val="333333"/>
                          </a:solidFill>
                          <a:latin typeface="Calibri"/>
                        </a:rPr>
                        <a:t>30,7 M</a:t>
                      </a:r>
                    </a:p>
                  </a:txBody>
                  <a:tcPr>
                    <a:solidFill>
                      <a:srgbClr val="FFFFFF"/>
                    </a:solidFill>
                  </a:tcPr>
                </a:tc>
                <a:tc>
                  <a:txBody>
                    <a:bodyPr/>
                    <a:lstStyle/>
                    <a:p>
                      <a:pPr algn="ctr"/>
                      <a:r>
                        <a:rPr sz="850" b="0">
                          <a:solidFill>
                            <a:srgbClr val="333333"/>
                          </a:solidFill>
                          <a:latin typeface="Calibri"/>
                        </a:rPr>
                        <a:t>53,4 M</a:t>
                      </a:r>
                    </a:p>
                  </a:txBody>
                  <a:tcPr>
                    <a:solidFill>
                      <a:srgbClr val="FFFFFF"/>
                    </a:solidFill>
                  </a:tcPr>
                </a:tc>
                <a:tc>
                  <a:txBody>
                    <a:bodyPr/>
                    <a:lstStyle/>
                    <a:p>
                      <a:pPr algn="ctr"/>
                      <a:r>
                        <a:rPr sz="850" b="0">
                          <a:solidFill>
                            <a:srgbClr val="333333"/>
                          </a:solidFill>
                          <a:latin typeface="Calibri"/>
                        </a:rPr>
                        <a:t>+%73,9</a:t>
                      </a:r>
                    </a:p>
                  </a:txBody>
                  <a:tcPr>
                    <a:solidFill>
                      <a:srgbClr val="FFFFFF"/>
                    </a:solidFill>
                  </a:tcPr>
                </a:tc>
                <a:tc>
                  <a:txBody>
                    <a:bodyPr/>
                    <a:lstStyle/>
                    <a:p>
                      <a:pPr algn="ctr"/>
                      <a:r>
                        <a:rPr sz="850" b="0">
                          <a:solidFill>
                            <a:srgbClr val="333333"/>
                          </a:solidFill>
                          <a:latin typeface="Calibri"/>
                        </a:rPr>
                        <a:t>112,4</a:t>
                      </a:r>
                    </a:p>
                  </a:txBody>
                  <a:tcPr>
                    <a:solidFill>
                      <a:srgbClr val="FFFFFF"/>
                    </a:solidFill>
                  </a:tcPr>
                </a:tc>
                <a:tc>
                  <a:txBody>
                    <a:bodyPr/>
                    <a:lstStyle/>
                    <a:p>
                      <a:pPr algn="ctr"/>
                      <a:r>
                        <a:rPr sz="850" b="0">
                          <a:solidFill>
                            <a:srgbClr val="333333"/>
                          </a:solidFill>
                          <a:latin typeface="Calibri"/>
                        </a:rPr>
                        <a:t>6,8 M</a:t>
                      </a:r>
                    </a:p>
                  </a:txBody>
                  <a:tcPr>
                    <a:solidFill>
                      <a:srgbClr val="FFFFFF"/>
                    </a:solidFill>
                  </a:tcPr>
                </a:tc>
              </a:tr>
              <a:tr h="201168">
                <a:tc>
                  <a:txBody>
                    <a:bodyPr/>
                    <a:lstStyle/>
                    <a:p>
                      <a:pPr algn="l"/>
                      <a:r>
                        <a:rPr sz="850" b="0">
                          <a:solidFill>
                            <a:srgbClr val="333333"/>
                          </a:solidFill>
                          <a:latin typeface="Calibri"/>
                        </a:rPr>
                        <a:t>Ağu</a:t>
                      </a:r>
                    </a:p>
                  </a:txBody>
                  <a:tcPr>
                    <a:solidFill>
                      <a:srgbClr val="FFF6E6"/>
                    </a:solidFill>
                  </a:tcPr>
                </a:tc>
                <a:tc>
                  <a:txBody>
                    <a:bodyPr/>
                    <a:lstStyle/>
                    <a:p>
                      <a:pPr algn="l"/>
                      <a:r>
                        <a:rPr sz="850" b="1">
                          <a:solidFill>
                            <a:srgbClr val="A6001A"/>
                          </a:solidFill>
                          <a:latin typeface="Calibri"/>
                        </a:rPr>
                        <a:t>gerçek</a:t>
                      </a:r>
                    </a:p>
                  </a:txBody>
                  <a:tcPr>
                    <a:solidFill>
                      <a:srgbClr val="FFF6E6"/>
                    </a:solidFill>
                  </a:tcPr>
                </a:tc>
                <a:tc>
                  <a:txBody>
                    <a:bodyPr/>
                    <a:lstStyle/>
                    <a:p>
                      <a:pPr algn="ctr"/>
                      <a:r>
                        <a:rPr sz="850" b="1">
                          <a:solidFill>
                            <a:srgbClr val="A6001A"/>
                          </a:solidFill>
                          <a:latin typeface="Calibri"/>
                        </a:rPr>
                        <a:t>TAHMİN</a:t>
                      </a:r>
                    </a:p>
                  </a:txBody>
                  <a:tcPr>
                    <a:solidFill>
                      <a:srgbClr val="FFF6E6"/>
                    </a:solidFill>
                  </a:tcPr>
                </a:tc>
                <a:tc>
                  <a:txBody>
                    <a:bodyPr/>
                    <a:lstStyle/>
                    <a:p>
                      <a:pPr algn="ctr"/>
                      <a:r>
                        <a:rPr sz="850" b="0">
                          <a:solidFill>
                            <a:srgbClr val="333333"/>
                          </a:solidFill>
                          <a:latin typeface="Calibri"/>
                        </a:rPr>
                        <a:t>186,9 M</a:t>
                      </a:r>
                    </a:p>
                  </a:txBody>
                  <a:tcPr>
                    <a:solidFill>
                      <a:srgbClr val="FFF6E6"/>
                    </a:solidFill>
                  </a:tcPr>
                </a:tc>
                <a:tc>
                  <a:txBody>
                    <a:bodyPr/>
                    <a:lstStyle/>
                    <a:p>
                      <a:pPr algn="ctr"/>
                      <a:r>
                        <a:rPr sz="850" b="0">
                          <a:solidFill>
                            <a:srgbClr val="333333"/>
                          </a:solidFill>
                          <a:latin typeface="Calibri"/>
                        </a:rPr>
                        <a:t>172,1 M</a:t>
                      </a:r>
                    </a:p>
                  </a:txBody>
                  <a:tcPr>
                    <a:solidFill>
                      <a:srgbClr val="FFF6E6"/>
                    </a:solidFill>
                  </a:tcPr>
                </a:tc>
                <a:tc>
                  <a:txBody>
                    <a:bodyPr/>
                    <a:lstStyle/>
                    <a:p>
                      <a:pPr algn="ctr"/>
                      <a:r>
                        <a:rPr sz="850" b="0">
                          <a:solidFill>
                            <a:srgbClr val="333333"/>
                          </a:solidFill>
                          <a:latin typeface="Calibri"/>
                        </a:rPr>
                        <a:t>−%7,9</a:t>
                      </a:r>
                    </a:p>
                  </a:txBody>
                  <a:tcPr>
                    <a:solidFill>
                      <a:srgbClr val="FFF6E6"/>
                    </a:solidFill>
                  </a:tcPr>
                </a:tc>
                <a:tc>
                  <a:txBody>
                    <a:bodyPr/>
                    <a:lstStyle/>
                    <a:p>
                      <a:pPr algn="ctr"/>
                      <a:r>
                        <a:rPr sz="850" b="0">
                          <a:solidFill>
                            <a:srgbClr val="333333"/>
                          </a:solidFill>
                          <a:latin typeface="Calibri"/>
                        </a:rPr>
                        <a:t>139,6</a:t>
                      </a:r>
                    </a:p>
                  </a:txBody>
                  <a:tcPr>
                    <a:solidFill>
                      <a:srgbClr val="FFF6E6"/>
                    </a:solidFill>
                  </a:tcPr>
                </a:tc>
                <a:tc>
                  <a:txBody>
                    <a:bodyPr/>
                    <a:lstStyle/>
                    <a:p>
                      <a:pPr algn="ctr"/>
                      <a:r>
                        <a:rPr sz="850" b="0">
                          <a:solidFill>
                            <a:srgbClr val="333333"/>
                          </a:solidFill>
                          <a:latin typeface="Calibri"/>
                        </a:rPr>
                        <a:t>8,4 M</a:t>
                      </a:r>
                    </a:p>
                  </a:txBody>
                  <a:tcPr>
                    <a:solidFill>
                      <a:srgbClr val="FFF6E6"/>
                    </a:solidFill>
                  </a:tcPr>
                </a:tc>
              </a:tr>
              <a:tr h="201168">
                <a:tc>
                  <a:txBody>
                    <a:bodyPr/>
                    <a:lstStyle/>
                    <a:p>
                      <a:pPr algn="l"/>
                      <a:r>
                        <a:rPr sz="850" b="0">
                          <a:solidFill>
                            <a:srgbClr val="333333"/>
                          </a:solidFill>
                          <a:latin typeface="Calibri"/>
                        </a:rPr>
                        <a:t>Eyl</a:t>
                      </a:r>
                    </a:p>
                  </a:txBody>
                  <a:tcPr>
                    <a:solidFill>
                      <a:srgbClr val="FFF6E6"/>
                    </a:solidFill>
                  </a:tcPr>
                </a:tc>
                <a:tc>
                  <a:txBody>
                    <a:bodyPr/>
                    <a:lstStyle/>
                    <a:p>
                      <a:pPr algn="l"/>
                      <a:r>
                        <a:rPr sz="850" b="1">
                          <a:solidFill>
                            <a:srgbClr val="A6001A"/>
                          </a:solidFill>
                          <a:latin typeface="Calibri"/>
                        </a:rPr>
                        <a:t>KISMI</a:t>
                      </a:r>
                    </a:p>
                  </a:txBody>
                  <a:tcPr>
                    <a:solidFill>
                      <a:srgbClr val="FFF6E6"/>
                    </a:solidFill>
                  </a:tcPr>
                </a:tc>
                <a:tc>
                  <a:txBody>
                    <a:bodyPr/>
                    <a:lstStyle/>
                    <a:p>
                      <a:pPr algn="ctr"/>
                      <a:r>
                        <a:rPr sz="850" b="1">
                          <a:solidFill>
                            <a:srgbClr val="A6001A"/>
                          </a:solidFill>
                          <a:latin typeface="Calibri"/>
                        </a:rPr>
                        <a:t>TAHMİN</a:t>
                      </a:r>
                    </a:p>
                  </a:txBody>
                  <a:tcPr>
                    <a:solidFill>
                      <a:srgbClr val="FFF6E6"/>
                    </a:solidFill>
                  </a:tcPr>
                </a:tc>
                <a:tc>
                  <a:txBody>
                    <a:bodyPr/>
                    <a:lstStyle/>
                    <a:p>
                      <a:pPr algn="ctr"/>
                      <a:r>
                        <a:rPr sz="850" b="0">
                          <a:solidFill>
                            <a:srgbClr val="333333"/>
                          </a:solidFill>
                          <a:latin typeface="Calibri"/>
                        </a:rPr>
                        <a:t>313,0 M</a:t>
                      </a:r>
                    </a:p>
                  </a:txBody>
                  <a:tcPr>
                    <a:solidFill>
                      <a:srgbClr val="FFF6E6"/>
                    </a:solidFill>
                  </a:tcPr>
                </a:tc>
                <a:tc>
                  <a:txBody>
                    <a:bodyPr/>
                    <a:lstStyle/>
                    <a:p>
                      <a:pPr algn="ctr"/>
                      <a:r>
                        <a:rPr sz="850" b="0">
                          <a:solidFill>
                            <a:srgbClr val="333333"/>
                          </a:solidFill>
                          <a:latin typeface="Calibri"/>
                        </a:rPr>
                        <a:t>631,9 M</a:t>
                      </a:r>
                    </a:p>
                  </a:txBody>
                  <a:tcPr>
                    <a:solidFill>
                      <a:srgbClr val="FFF6E6"/>
                    </a:solidFill>
                  </a:tcPr>
                </a:tc>
                <a:tc>
                  <a:txBody>
                    <a:bodyPr/>
                    <a:lstStyle/>
                    <a:p>
                      <a:pPr algn="ctr"/>
                      <a:r>
                        <a:rPr sz="850" b="0">
                          <a:solidFill>
                            <a:srgbClr val="333333"/>
                          </a:solidFill>
                          <a:latin typeface="Calibri"/>
                        </a:rPr>
                        <a:t>+%101,9</a:t>
                      </a:r>
                    </a:p>
                  </a:txBody>
                  <a:tcPr>
                    <a:solidFill>
                      <a:srgbClr val="FFF6E6"/>
                    </a:solidFill>
                  </a:tcPr>
                </a:tc>
                <a:tc>
                  <a:txBody>
                    <a:bodyPr/>
                    <a:lstStyle/>
                    <a:p>
                      <a:pPr algn="ctr"/>
                      <a:r>
                        <a:rPr sz="850" b="0">
                          <a:solidFill>
                            <a:srgbClr val="333333"/>
                          </a:solidFill>
                          <a:latin typeface="Calibri"/>
                        </a:rPr>
                        <a:t>153,8</a:t>
                      </a:r>
                    </a:p>
                  </a:txBody>
                  <a:tcPr>
                    <a:solidFill>
                      <a:srgbClr val="FFF6E6"/>
                    </a:solidFill>
                  </a:tcPr>
                </a:tc>
                <a:tc>
                  <a:txBody>
                    <a:bodyPr/>
                    <a:lstStyle/>
                    <a:p>
                      <a:pPr algn="ctr"/>
                      <a:r>
                        <a:rPr sz="850" b="0">
                          <a:solidFill>
                            <a:srgbClr val="333333"/>
                          </a:solidFill>
                          <a:latin typeface="Calibri"/>
                        </a:rPr>
                        <a:t>9,3 M</a:t>
                      </a:r>
                    </a:p>
                  </a:txBody>
                  <a:tcPr>
                    <a:solidFill>
                      <a:srgbClr val="FFF6E6"/>
                    </a:solidFill>
                  </a:tcPr>
                </a:tc>
              </a:tr>
              <a:tr h="201168">
                <a:tc>
                  <a:txBody>
                    <a:bodyPr/>
                    <a:lstStyle/>
                    <a:p>
                      <a:pPr algn="l"/>
                      <a:r>
                        <a:rPr sz="850" b="0">
                          <a:solidFill>
                            <a:srgbClr val="333333"/>
                          </a:solidFill>
                          <a:latin typeface="Calibri"/>
                        </a:rPr>
                        <a:t>Eki</a:t>
                      </a:r>
                    </a:p>
                  </a:txBody>
                  <a:tcPr>
                    <a:solidFill>
                      <a:srgbClr val="FFF6E6"/>
                    </a:solidFill>
                  </a:tcPr>
                </a:tc>
                <a:tc>
                  <a:txBody>
                    <a:bodyPr/>
                    <a:lstStyle/>
                    <a:p>
                      <a:pPr algn="l"/>
                      <a:r>
                        <a:rPr sz="850" b="1">
                          <a:solidFill>
                            <a:srgbClr val="A6001A"/>
                          </a:solidFill>
                          <a:latin typeface="Calibri"/>
                        </a:rPr>
                        <a:t>TAHMIN</a:t>
                      </a:r>
                    </a:p>
                  </a:txBody>
                  <a:tcPr>
                    <a:solidFill>
                      <a:srgbClr val="FFF6E6"/>
                    </a:solidFill>
                  </a:tcPr>
                </a:tc>
                <a:tc>
                  <a:txBody>
                    <a:bodyPr/>
                    <a:lstStyle/>
                    <a:p>
                      <a:pPr algn="ctr"/>
                      <a:r>
                        <a:rPr sz="850" b="1">
                          <a:solidFill>
                            <a:srgbClr val="A6001A"/>
                          </a:solidFill>
                          <a:latin typeface="Calibri"/>
                        </a:rPr>
                        <a:t>TAHMİN</a:t>
                      </a:r>
                    </a:p>
                  </a:txBody>
                  <a:tcPr>
                    <a:solidFill>
                      <a:srgbClr val="FFF6E6"/>
                    </a:solidFill>
                  </a:tcPr>
                </a:tc>
                <a:tc>
                  <a:txBody>
                    <a:bodyPr/>
                    <a:lstStyle/>
                    <a:p>
                      <a:pPr algn="ctr"/>
                      <a:r>
                        <a:rPr sz="850" b="0">
                          <a:solidFill>
                            <a:srgbClr val="333333"/>
                          </a:solidFill>
                          <a:latin typeface="Calibri"/>
                        </a:rPr>
                        <a:t>71,4 M</a:t>
                      </a:r>
                    </a:p>
                  </a:txBody>
                  <a:tcPr>
                    <a:solidFill>
                      <a:srgbClr val="FFF6E6"/>
                    </a:solidFill>
                  </a:tcPr>
                </a:tc>
                <a:tc>
                  <a:txBody>
                    <a:bodyPr/>
                    <a:lstStyle/>
                    <a:p>
                      <a:pPr algn="ctr"/>
                      <a:r>
                        <a:rPr sz="850" b="0">
                          <a:solidFill>
                            <a:srgbClr val="333333"/>
                          </a:solidFill>
                          <a:latin typeface="Calibri"/>
                        </a:rPr>
                        <a:t>133,0 M</a:t>
                      </a:r>
                    </a:p>
                  </a:txBody>
                  <a:tcPr>
                    <a:solidFill>
                      <a:srgbClr val="FFF6E6"/>
                    </a:solidFill>
                  </a:tcPr>
                </a:tc>
                <a:tc>
                  <a:txBody>
                    <a:bodyPr/>
                    <a:lstStyle/>
                    <a:p>
                      <a:pPr algn="ctr"/>
                      <a:r>
                        <a:rPr sz="850" b="0">
                          <a:solidFill>
                            <a:srgbClr val="333333"/>
                          </a:solidFill>
                          <a:latin typeface="Calibri"/>
                        </a:rPr>
                        <a:t>+%86,3</a:t>
                      </a:r>
                    </a:p>
                  </a:txBody>
                  <a:tcPr>
                    <a:solidFill>
                      <a:srgbClr val="FFF6E6"/>
                    </a:solidFill>
                  </a:tcPr>
                </a:tc>
                <a:tc>
                  <a:txBody>
                    <a:bodyPr/>
                    <a:lstStyle/>
                    <a:p>
                      <a:pPr algn="ctr"/>
                      <a:r>
                        <a:rPr sz="850" b="0">
                          <a:solidFill>
                            <a:srgbClr val="333333"/>
                          </a:solidFill>
                          <a:latin typeface="Calibri"/>
                        </a:rPr>
                        <a:t>125,2</a:t>
                      </a:r>
                    </a:p>
                  </a:txBody>
                  <a:tcPr>
                    <a:solidFill>
                      <a:srgbClr val="FFF6E6"/>
                    </a:solidFill>
                  </a:tcPr>
                </a:tc>
                <a:tc>
                  <a:txBody>
                    <a:bodyPr/>
                    <a:lstStyle/>
                    <a:p>
                      <a:pPr algn="ctr"/>
                      <a:r>
                        <a:rPr sz="850" b="0">
                          <a:solidFill>
                            <a:srgbClr val="333333"/>
                          </a:solidFill>
                          <a:latin typeface="Calibri"/>
                        </a:rPr>
                        <a:t>7,6 M</a:t>
                      </a:r>
                    </a:p>
                  </a:txBody>
                  <a:tcPr>
                    <a:solidFill>
                      <a:srgbClr val="FFF6E6"/>
                    </a:solidFill>
                  </a:tcPr>
                </a:tc>
              </a:tr>
              <a:tr h="201168">
                <a:tc>
                  <a:txBody>
                    <a:bodyPr/>
                    <a:lstStyle/>
                    <a:p>
                      <a:pPr algn="l"/>
                      <a:r>
                        <a:rPr sz="850" b="1">
                          <a:solidFill>
                            <a:srgbClr val="333333"/>
                          </a:solidFill>
                          <a:latin typeface="Calibri"/>
                        </a:rPr>
                        <a:t>Ağu+Eyl</a:t>
                      </a:r>
                    </a:p>
                  </a:txBody>
                  <a:tcPr>
                    <a:solidFill>
                      <a:srgbClr val="F2F2F2"/>
                    </a:solidFill>
                  </a:tcPr>
                </a:tc>
                <a:tc>
                  <a:txBody>
                    <a:bodyPr/>
                    <a:lstStyle/>
                    <a:p>
                      <a:pPr algn="l"/>
                      <a:r>
                        <a:rPr sz="850" b="1">
                          <a:solidFill>
                            <a:srgbClr val="333333"/>
                          </a:solidFill>
                          <a:latin typeface="Calibri"/>
                        </a:rPr>
                        <a:t>kayma</a:t>
                      </a:r>
                    </a:p>
                  </a:txBody>
                  <a:tcPr>
                    <a:solidFill>
                      <a:srgbClr val="F2F2F2"/>
                    </a:solidFill>
                  </a:tcPr>
                </a:tc>
                <a:tc>
                  <a:txBody>
                    <a:bodyPr/>
                    <a:lstStyle/>
                    <a:p>
                      <a:pPr algn="ctr"/>
                      <a:r>
                        <a:rPr sz="850" b="1">
                          <a:solidFill>
                            <a:srgbClr val="333333"/>
                          </a:solidFill>
                          <a:latin typeface="Calibri"/>
                        </a:rPr>
                        <a:t>nötr</a:t>
                      </a:r>
                    </a:p>
                  </a:txBody>
                  <a:tcPr>
                    <a:solidFill>
                      <a:srgbClr val="F2F2F2"/>
                    </a:solidFill>
                  </a:tcPr>
                </a:tc>
                <a:tc>
                  <a:txBody>
                    <a:bodyPr/>
                    <a:lstStyle/>
                    <a:p>
                      <a:pPr algn="ctr"/>
                      <a:r>
                        <a:rPr sz="850" b="1">
                          <a:solidFill>
                            <a:srgbClr val="333333"/>
                          </a:solidFill>
                          <a:latin typeface="Calibri"/>
                        </a:rPr>
                        <a:t>499,9 M</a:t>
                      </a:r>
                    </a:p>
                  </a:txBody>
                  <a:tcPr>
                    <a:solidFill>
                      <a:srgbClr val="F2F2F2"/>
                    </a:solidFill>
                  </a:tcPr>
                </a:tc>
                <a:tc>
                  <a:txBody>
                    <a:bodyPr/>
                    <a:lstStyle/>
                    <a:p>
                      <a:pPr algn="ctr"/>
                      <a:r>
                        <a:rPr sz="850" b="1">
                          <a:solidFill>
                            <a:srgbClr val="333333"/>
                          </a:solidFill>
                          <a:latin typeface="Calibri"/>
                        </a:rPr>
                        <a:t>804,0 M</a:t>
                      </a:r>
                    </a:p>
                  </a:txBody>
                  <a:tcPr>
                    <a:solidFill>
                      <a:srgbClr val="F2F2F2"/>
                    </a:solidFill>
                  </a:tcPr>
                </a:tc>
                <a:tc>
                  <a:txBody>
                    <a:bodyPr/>
                    <a:lstStyle/>
                    <a:p>
                      <a:pPr algn="ctr"/>
                      <a:r>
                        <a:rPr sz="850" b="1">
                          <a:solidFill>
                            <a:srgbClr val="333333"/>
                          </a:solidFill>
                          <a:latin typeface="Calibri"/>
                        </a:rPr>
                        <a:t>+%60,8</a:t>
                      </a:r>
                    </a:p>
                  </a:txBody>
                  <a:tcPr>
                    <a:solidFill>
                      <a:srgbClr val="F2F2F2"/>
                    </a:solidFill>
                  </a:tcPr>
                </a:tc>
                <a:tc>
                  <a:txBody>
                    <a:bodyPr/>
                    <a:lstStyle/>
                    <a:p>
                      <a:pPr algn="ctr"/>
                      <a:r>
                        <a:rPr sz="850" b="1">
                          <a:solidFill>
                            <a:srgbClr val="333333"/>
                          </a:solidFill>
                          <a:latin typeface="Calibri"/>
                        </a:rPr>
                        <a:t>293,4</a:t>
                      </a:r>
                    </a:p>
                  </a:txBody>
                  <a:tcPr>
                    <a:solidFill>
                      <a:srgbClr val="F2F2F2"/>
                    </a:solidFill>
                  </a:tcPr>
                </a:tc>
                <a:tc>
                  <a:txBody>
                    <a:bodyPr/>
                    <a:lstStyle/>
                    <a:p>
                      <a:pPr algn="ctr"/>
                      <a:r>
                        <a:rPr sz="850" b="1">
                          <a:solidFill>
                            <a:srgbClr val="333333"/>
                          </a:solidFill>
                          <a:latin typeface="Calibri"/>
                        </a:rPr>
                        <a:t>17,7 M</a:t>
                      </a:r>
                    </a:p>
                  </a:txBody>
                  <a:tcPr>
                    <a:solidFill>
                      <a:srgbClr val="F2F2F2"/>
                    </a:solidFill>
                  </a:tcPr>
                </a:tc>
              </a:tr>
              <a:tr h="201168">
                <a:tc>
                  <a:txBody>
                    <a:bodyPr/>
                    <a:lstStyle/>
                    <a:p>
                      <a:pPr algn="l"/>
                      <a:r>
                        <a:rPr sz="850" b="1">
                          <a:solidFill>
                            <a:srgbClr val="333333"/>
                          </a:solidFill>
                          <a:latin typeface="Calibri"/>
                        </a:rPr>
                        <a:t>TOPLAM</a:t>
                      </a:r>
                    </a:p>
                  </a:txBody>
                  <a:tcPr>
                    <a:solidFill>
                      <a:srgbClr val="F2F2F2"/>
                    </a:solidFill>
                  </a:tcPr>
                </a:tc>
                <a:tc>
                  <a:txBody>
                    <a:bodyPr/>
                    <a:lstStyle/>
                    <a:p>
                      <a:pPr algn="l"/>
                    </a:p>
                  </a:txBody>
                  <a:tcPr>
                    <a:solidFill>
                      <a:srgbClr val="F2F2F2"/>
                    </a:solidFill>
                  </a:tcPr>
                </a:tc>
                <a:tc>
                  <a:txBody>
                    <a:bodyPr/>
                    <a:lstStyle/>
                    <a:p>
                      <a:pPr algn="ctr"/>
                    </a:p>
                  </a:txBody>
                  <a:tcPr>
                    <a:solidFill>
                      <a:srgbClr val="F2F2F2"/>
                    </a:solidFill>
                  </a:tcPr>
                </a:tc>
                <a:tc>
                  <a:txBody>
                    <a:bodyPr/>
                    <a:lstStyle/>
                    <a:p>
                      <a:pPr algn="ctr"/>
                      <a:r>
                        <a:rPr sz="850" b="1">
                          <a:solidFill>
                            <a:srgbClr val="333333"/>
                          </a:solidFill>
                          <a:latin typeface="Calibri"/>
                        </a:rPr>
                        <a:t>602,0 M</a:t>
                      </a:r>
                    </a:p>
                  </a:txBody>
                  <a:tcPr>
                    <a:solidFill>
                      <a:srgbClr val="F2F2F2"/>
                    </a:solidFill>
                  </a:tcPr>
                </a:tc>
                <a:tc>
                  <a:txBody>
                    <a:bodyPr/>
                    <a:lstStyle/>
                    <a:p>
                      <a:pPr algn="ctr"/>
                      <a:r>
                        <a:rPr sz="850" b="1">
                          <a:solidFill>
                            <a:srgbClr val="333333"/>
                          </a:solidFill>
                          <a:latin typeface="Calibri"/>
                        </a:rPr>
                        <a:t>990,4 M</a:t>
                      </a:r>
                    </a:p>
                  </a:txBody>
                  <a:tcPr>
                    <a:solidFill>
                      <a:srgbClr val="F2F2F2"/>
                    </a:solidFill>
                  </a:tcPr>
                </a:tc>
                <a:tc>
                  <a:txBody>
                    <a:bodyPr/>
                    <a:lstStyle/>
                    <a:p>
                      <a:pPr algn="ctr"/>
                      <a:r>
                        <a:rPr sz="850" b="1">
                          <a:solidFill>
                            <a:srgbClr val="333333"/>
                          </a:solidFill>
                          <a:latin typeface="Calibri"/>
                        </a:rPr>
                        <a:t>+%64,5</a:t>
                      </a:r>
                    </a:p>
                  </a:txBody>
                  <a:tcPr>
                    <a:solidFill>
                      <a:srgbClr val="F2F2F2"/>
                    </a:solidFill>
                  </a:tcPr>
                </a:tc>
                <a:tc>
                  <a:txBody>
                    <a:bodyPr/>
                    <a:lstStyle/>
                    <a:p>
                      <a:pPr algn="ctr"/>
                      <a:r>
                        <a:rPr sz="850" b="1">
                          <a:solidFill>
                            <a:srgbClr val="333333"/>
                          </a:solidFill>
                          <a:latin typeface="Calibri"/>
                        </a:rPr>
                        <a:t>531,0</a:t>
                      </a:r>
                    </a:p>
                  </a:txBody>
                  <a:tcPr>
                    <a:solidFill>
                      <a:srgbClr val="F2F2F2"/>
                    </a:solidFill>
                  </a:tcPr>
                </a:tc>
                <a:tc>
                  <a:txBody>
                    <a:bodyPr/>
                    <a:lstStyle/>
                    <a:p>
                      <a:pPr algn="ctr"/>
                      <a:r>
                        <a:rPr sz="850" b="1">
                          <a:solidFill>
                            <a:srgbClr val="333333"/>
                          </a:solidFill>
                          <a:latin typeface="Calibri"/>
                        </a:rPr>
                        <a:t>32,0 M</a:t>
                      </a:r>
                    </a:p>
                  </a:txBody>
                  <a:tcPr>
                    <a:solidFill>
                      <a:srgbClr val="F2F2F2"/>
                    </a:solidFill>
                  </a:tcPr>
                </a:tc>
              </a:tr>
            </a:tbl>
          </a:graphicData>
        </a:graphic>
      </p:graphicFrame>
      <p:graphicFrame>
        <p:nvGraphicFramePr>
          <p:cNvPr id="22" name="Chart 21"/>
          <p:cNvGraphicFramePr>
            <a:graphicFrameLocks noGrp="1"/>
          </p:cNvGraphicFramePr>
          <p:nvPr/>
        </p:nvGraphicFramePr>
        <p:xfrm>
          <a:off x="7955279" y="3520440"/>
          <a:ext cx="3611880" cy="1920240"/>
        </p:xfrm>
        <a:graphic>
          <a:graphicData uri="http://schemas.openxmlformats.org/drawingml/2006/chart">
            <c:chart xmlns:c="http://schemas.openxmlformats.org/drawingml/2006/chart" r:id="rId6"/>
          </a:graphicData>
        </a:graphic>
      </p:graphicFrame>
      <p:sp>
        <p:nvSpPr>
          <p:cNvPr id="23" name="TextBox 22"/>
          <p:cNvSpPr txBox="1"/>
          <p:nvPr/>
        </p:nvSpPr>
        <p:spPr>
          <a:xfrm>
            <a:off x="7955279" y="3291840"/>
            <a:ext cx="3611880" cy="219456"/>
          </a:xfrm>
          <a:prstGeom prst="rect">
            <a:avLst/>
          </a:prstGeom>
          <a:noFill/>
        </p:spPr>
        <p:txBody>
          <a:bodyPr wrap="square" anchor="t">
            <a:spAutoFit/>
          </a:bodyPr>
          <a:lstStyle/>
          <a:p>
            <a:pPr algn="l">
              <a:lnSpc>
                <a:spcPct val="100000"/>
              </a:lnSpc>
            </a:pPr>
            <a:r>
              <a:rPr sz="900" b="1">
                <a:solidFill>
                  <a:srgbClr val="6E6E6E"/>
                </a:solidFill>
                <a:latin typeface="Calibri"/>
              </a:rPr>
              <a:t>Ciro (M TL) — gerçekleşen + tahmin</a:t>
            </a:r>
          </a:p>
        </p:txBody>
      </p:sp>
      <p:sp>
        <p:nvSpPr>
          <p:cNvPr id="24" name="TextBox 23"/>
          <p:cNvSpPr txBox="1"/>
          <p:nvPr/>
        </p:nvSpPr>
        <p:spPr>
          <a:xfrm>
            <a:off x="548640" y="5047488"/>
            <a:ext cx="7223760" cy="402336"/>
          </a:xfrm>
          <a:prstGeom prst="rect">
            <a:avLst/>
          </a:prstGeom>
          <a:noFill/>
        </p:spPr>
        <p:txBody>
          <a:bodyPr wrap="square" anchor="t">
            <a:spAutoFit/>
          </a:bodyPr>
          <a:lstStyle/>
          <a:p>
            <a:pPr algn="l">
              <a:lnSpc>
                <a:spcPct val="105000"/>
              </a:lnSpc>
            </a:pPr>
            <a:r>
              <a:rPr sz="850" b="0">
                <a:solidFill>
                  <a:srgbClr val="A6001A"/>
                </a:solidFill>
                <a:latin typeface="Calibri"/>
              </a:rPr>
              <a:t>TAKVİM AYI KIYASI KAYMAYI YANSITIR: okul 08.09.2025'de değil 14.09.2026'te açıldı — 2025'te Ağustos sonunda gerçekleşen yoğunluk 2026'da Eylül başına düştü. Bu yüzden Ağustos -8%, Eylül +102% görünür; ay ay okumak yanıltır, SEZON TOPLAMI (veya Ağustos+Eylül birlikte) esas alınır.</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TAHMİN — 02.09.2026 tarihine kadar gerçek veri, sonrası model. Yöntem: okul-hizalı gün eşleme (ciro) + sezon şekli×seviye (FTE) + FTE başına maliyet · Büyüme oranı ayrıca varsayılmadı, okul-hizalı pencerede ÖLÇÜLEN +%66,0 ciro büyümesi uygulandı · Okul açılışı 08.09.2025 → 14.09.2026 (6 gün kayma gün eşlemesinde dikkate alındı) · Ücret seviyesi sabit varsayıldı → maliyet tahmini ALT SINIR · Kapsam: üç POS mağazası, ciro KDV hariç ve Sınav dahil.</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01929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929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147316"/>
            <a:ext cx="256032" cy="256032"/>
          </a:xfrm>
          <a:prstGeom prst="rect">
            <a:avLst/>
          </a:prstGeom>
        </p:spPr>
      </p:pic>
      <p:sp>
        <p:nvSpPr>
          <p:cNvPr id="11" name="TextBox 10"/>
          <p:cNvSpPr txBox="1"/>
          <p:nvPr/>
        </p:nvSpPr>
        <p:spPr>
          <a:xfrm>
            <a:off x="1143000" y="208330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36677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71271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1271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2840736"/>
            <a:ext cx="256032" cy="256032"/>
          </a:xfrm>
          <a:prstGeom prst="rect">
            <a:avLst/>
          </a:prstGeom>
        </p:spPr>
      </p:pic>
      <p:sp>
        <p:nvSpPr>
          <p:cNvPr id="16" name="TextBox 15"/>
          <p:cNvSpPr txBox="1"/>
          <p:nvPr/>
        </p:nvSpPr>
        <p:spPr>
          <a:xfrm>
            <a:off x="1143000" y="277672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06019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40613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0613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534156"/>
            <a:ext cx="256032" cy="256032"/>
          </a:xfrm>
          <a:prstGeom prst="rect">
            <a:avLst/>
          </a:prstGeom>
        </p:spPr>
      </p:pic>
      <p:sp>
        <p:nvSpPr>
          <p:cNvPr id="21" name="TextBox 20"/>
          <p:cNvSpPr txBox="1"/>
          <p:nvPr/>
        </p:nvSpPr>
        <p:spPr>
          <a:xfrm>
            <a:off x="1143000" y="347014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375361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09955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09955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227575"/>
            <a:ext cx="256032" cy="256032"/>
          </a:xfrm>
          <a:prstGeom prst="rect">
            <a:avLst/>
          </a:prstGeom>
        </p:spPr>
      </p:pic>
      <p:sp>
        <p:nvSpPr>
          <p:cNvPr id="26" name="TextBox 25"/>
          <p:cNvSpPr txBox="1"/>
          <p:nvPr/>
        </p:nvSpPr>
        <p:spPr>
          <a:xfrm>
            <a:off x="1143000" y="416356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Personel maliyeti çok mu arttı?</a:t>
            </a:r>
          </a:p>
        </p:txBody>
      </p:sp>
      <p:sp>
        <p:nvSpPr>
          <p:cNvPr id="27" name="TextBox 26"/>
          <p:cNvSpPr txBox="1"/>
          <p:nvPr/>
        </p:nvSpPr>
        <p:spPr>
          <a:xfrm>
            <a:off x="1143000" y="444703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Sezonda maliyet +%54,6 artmıştır; artışın ana kaynağı FTE başına ücret (+%33,6), kadro artışı değil. Cironun içindeki personel yükü 1,59 puan GERİLEMİŞTİR: %14,30 → %12,71 (yıl geneli -0,70 puan).</a:t>
            </a:r>
          </a:p>
        </p:txBody>
      </p:sp>
      <p:sp>
        <p:nvSpPr>
          <p:cNvPr id="28" name="Rectangle 27"/>
          <p:cNvSpPr/>
          <p:nvPr/>
        </p:nvSpPr>
        <p:spPr>
          <a:xfrm>
            <a:off x="548640" y="479297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9297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png"/>
          <p:cNvPicPr>
            <a:picLocks noChangeAspect="1"/>
          </p:cNvPicPr>
          <p:nvPr/>
        </p:nvPicPr>
        <p:blipFill>
          <a:blip r:embed="rId3"/>
          <a:stretch>
            <a:fillRect/>
          </a:stretch>
        </p:blipFill>
        <p:spPr>
          <a:xfrm>
            <a:off x="777240" y="4920995"/>
            <a:ext cx="256032" cy="256032"/>
          </a:xfrm>
          <a:prstGeom prst="rect">
            <a:avLst/>
          </a:prstGeom>
        </p:spPr>
      </p:pic>
      <p:sp>
        <p:nvSpPr>
          <p:cNvPr id="31" name="TextBox 30"/>
          <p:cNvSpPr txBox="1"/>
          <p:nvPr/>
        </p:nvSpPr>
        <p:spPr>
          <a:xfrm>
            <a:off x="1143000" y="485698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32" name="TextBox 31"/>
          <p:cNvSpPr txBox="1"/>
          <p:nvPr/>
        </p:nvSpPr>
        <p:spPr>
          <a:xfrm>
            <a:off x="1143000" y="514045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33" name="TextBox 32"/>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34" name="TextBox 33"/>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