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574.6556999999999</c:v>
                </c:pt>
                <c:pt idx="1">
                  <c:v>71.81704576999522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775.03155</c:v>
                </c:pt>
                <c:pt idx="1">
                  <c:v>122.53417560999479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3466.72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5578.704629629629</c:v>
                </c:pt>
                <c:pt idx="1">
                  <c:v>4229.647540983607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Oca-Ağu adet ÷ kadrolu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34377.72383333333</c:v>
                </c:pt>
                <c:pt idx="1">
                  <c:v>25227.68604395604</c:v>
                </c:pt>
                <c:pt idx="2">
                  <c:v>28668.031666666666</c:v>
                </c:pt>
                <c:pt idx="3">
                  <c:v>32496.782972972975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30.54425135213488</c:v>
                </c:pt>
                <c:pt idx="1">
                  <c:v>48.848767711265985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57.558623758164586</c:v>
                </c:pt>
                <c:pt idx="1">
                  <c:v>96.00493094593223</c:v>
                </c:pt>
                <c:pt idx="2">
                  <c:v>62.2675266100448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38.90163723088822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16.997283165180832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458.25870000000003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483.49955000000006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614.955640162407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fiili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Kişi başına yıllık fazla mesai (saat)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79.43719972546329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fiili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Kişi başına yıllık fazla mesai (saat)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83.56952268010673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Kadro artmasaydı</c:v>
                </c:pt>
              </c:strCache>
            </c:strRef>
          </c:tx>
          <c:spPr>
            <a:solidFill>
              <a:srgbClr val="A6001A"/>
            </a:solidFill>
          </c:spPr>
          <c:cat>
            <c:strRef>
              <c:f>Sheet1!$A$2:$A$2</c:f>
              <c:strCache>
                <c:ptCount val="1"/>
                <c:pt idx="0">
                  <c:v>Kişi başına yıllık fazla mesai (saat)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465.3191489361705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Yasal sınır</c:v>
                </c:pt>
              </c:strCache>
            </c:strRef>
          </c:tx>
          <c:spPr>
            <a:solidFill>
              <a:srgbClr val="4A4A4A"/>
            </a:solidFill>
          </c:spPr>
          <c:cat>
            <c:strRef>
              <c:f>Sheet1!$A$2:$A$2</c:f>
              <c:strCache>
                <c:ptCount val="1"/>
                <c:pt idx="0">
                  <c:v>Kişi başına yıllık fazla mesai (saat)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270.0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kadrolu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107.5</c:v>
                </c:pt>
                <c:pt idx="1">
                  <c:v>100.7</c:v>
                </c:pt>
                <c:pt idx="2">
                  <c:v>102.8</c:v>
                </c:pt>
                <c:pt idx="3">
                  <c:v>97.6</c:v>
                </c:pt>
                <c:pt idx="4">
                  <c:v>93.9</c:v>
                </c:pt>
                <c:pt idx="5">
                  <c:v>97.5</c:v>
                </c:pt>
                <c:pt idx="6">
                  <c:v>93.8</c:v>
                </c:pt>
                <c:pt idx="7">
                  <c:v>94.1</c:v>
                </c:pt>
                <c:pt idx="8">
                  <c:v>95.8</c:v>
                </c:pt>
                <c:pt idx="9">
                  <c:v>98.4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sezonluk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3.4</c:v>
                </c:pt>
                <c:pt idx="7">
                  <c:v>26.5</c:v>
                </c:pt>
                <c:pt idx="8">
                  <c:v>37.1</c:v>
                </c:pt>
                <c:pt idx="9">
                  <c:v>9.7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kadrolu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106.0</c:v>
                </c:pt>
                <c:pt idx="1">
                  <c:v>107.0</c:v>
                </c:pt>
                <c:pt idx="2">
                  <c:v>108.6</c:v>
                </c:pt>
                <c:pt idx="3">
                  <c:v>106.9</c:v>
                </c:pt>
                <c:pt idx="4">
                  <c:v>109.2</c:v>
                </c:pt>
                <c:pt idx="5">
                  <c:v>107.0</c:v>
                </c:pt>
                <c:pt idx="6">
                  <c:v>110.9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 sezonluk</c:v>
                </c:pt>
              </c:strCache>
            </c:strRef>
          </c:tx>
          <c:spPr>
            <a:solidFill>
              <a:srgbClr val="A6001A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4.0</c:v>
                </c:pt>
                <c:pt idx="1">
                  <c:v>3.9</c:v>
                </c:pt>
                <c:pt idx="2">
                  <c:v>4.0</c:v>
                </c:pt>
                <c:pt idx="3">
                  <c:v>3.1</c:v>
                </c:pt>
                <c:pt idx="4">
                  <c:v>2.9</c:v>
                </c:pt>
                <c:pt idx="5">
                  <c:v>1.2</c:v>
                </c:pt>
                <c:pt idx="6">
                  <c:v>1.5</c:v>
                </c:pt>
              </c:numCache>
            </c:numRef>
          </c:val>
        </c:ser>
        <c:dLbls>
          <c:numFmt sourceLinked="0" formatCode="#,##0.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10.640435897565483</c:v>
                </c:pt>
                <c:pt idx="1">
                  <c:v>10.971390826419475</c:v>
                </c:pt>
                <c:pt idx="2">
                  <c:v>13.88245899802121</c:v>
                </c:pt>
                <c:pt idx="3">
                  <c:v>11.502227588672273</c:v>
                </c:pt>
                <c:pt idx="4">
                  <c:v>15.964872627552854</c:v>
                </c:pt>
                <c:pt idx="5">
                  <c:v>14.259600971987444</c:v>
                </c:pt>
                <c:pt idx="6">
                  <c:v>14.297033783446004</c:v>
                </c:pt>
                <c:pt idx="7">
                  <c:v>2.912397700580454</c:v>
                </c:pt>
                <c:pt idx="8">
                  <c:v>2.0983488104807693</c:v>
                </c:pt>
                <c:pt idx="9">
                  <c:v>6.872611463188822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9.342797291737542</c:v>
                </c:pt>
                <c:pt idx="1">
                  <c:v>11.288098438411463</c:v>
                </c:pt>
                <c:pt idx="2">
                  <c:v>11.702927412298179</c:v>
                </c:pt>
                <c:pt idx="3">
                  <c:v>13.236925983510183</c:v>
                </c:pt>
                <c:pt idx="4">
                  <c:v>13.848433011968481</c:v>
                </c:pt>
                <c:pt idx="5">
                  <c:v>13.921476943829141</c:v>
                </c:pt>
                <c:pt idx="6">
                  <c:v>12.711606463897192</c:v>
                </c:pt>
              </c:numCache>
            </c:numRef>
          </c:val>
        </c:ser>
        <c:dLbls>
          <c:numFmt sourceLinked="0" formatCode="0.0&quot;%&quot;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Sheet1!$A$2:$A$5</c:f>
              <c:strCache>
                <c:ptCount val="4"/>
                <c:pt idx="0">
                  <c:v>Tem</c:v>
                </c:pt>
                <c:pt idx="1">
                  <c:v>Ağu</c:v>
                </c:pt>
                <c:pt idx="2">
                  <c:v>Eyl</c:v>
                </c:pt>
                <c:pt idx="3">
                  <c:v>Eki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30.7</c:v>
                </c:pt>
                <c:pt idx="1">
                  <c:v>186.9</c:v>
                </c:pt>
                <c:pt idx="2">
                  <c:v>313.0</c:v>
                </c:pt>
                <c:pt idx="3">
                  <c:v>71.4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Sheet1!$A$2:$A$5</c:f>
              <c:strCache>
                <c:ptCount val="4"/>
                <c:pt idx="0">
                  <c:v>Tem</c:v>
                </c:pt>
                <c:pt idx="1">
                  <c:v>Ağu</c:v>
                </c:pt>
                <c:pt idx="2">
                  <c:v>Eyl</c:v>
                </c:pt>
                <c:pt idx="3">
                  <c:v>Eki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53.4</c:v>
                </c:pt>
                <c:pt idx="1">
                  <c:v>172.1</c:v>
                </c:pt>
                <c:pt idx="2">
                  <c:v>20.7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tahmin</c:v>
                </c:pt>
              </c:strCache>
            </c:strRef>
          </c:tx>
          <c:spPr>
            <a:solidFill>
              <a:srgbClr val="E8A0A8"/>
            </a:solidFill>
          </c:spPr>
          <c:cat>
            <c:strRef>
              <c:f>Sheet1!$A$2:$A$5</c:f>
              <c:strCache>
                <c:ptCount val="4"/>
                <c:pt idx="0">
                  <c:v>Tem</c:v>
                </c:pt>
                <c:pt idx="1">
                  <c:v>Ağu</c:v>
                </c:pt>
                <c:pt idx="2">
                  <c:v>Eyl</c:v>
                </c:pt>
                <c:pt idx="3">
                  <c:v>Eki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611.2</c:v>
                </c:pt>
                <c:pt idx="3">
                  <c:v>133.0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chart" Target="../charts/char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chart" Target="../charts/chart11.xml"/><Relationship Id="rId7" Type="http://schemas.openxmlformats.org/officeDocument/2006/relationships/chart" Target="../charts/char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chart" Target="../charts/char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 — Norma Göre Durum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· KADRO + SEZON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217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145 + sezonluk 72 · 11.08.2026 tarihli norm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GERÇEK · 31 AĞUSTOS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189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engelli ve etkinlik sayılmadı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İLE FARK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A6001A"/>
                </a:solidFill>
                <a:latin typeface="Calibri"/>
              </a:rPr>
              <a:t>-28 kişi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-14 · sezonluk -14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10128"/>
            <a:ext cx="11018520" cy="749808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310128"/>
            <a:ext cx="105156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31 Ağustos'ta çalışan personel 189 kişi; norm tablosundaki karşılığı 217 kişi. Aradaki fark 28 kişi.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33087"/>
            <a:ext cx="11018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33087"/>
            <a:ext cx="68580" cy="111556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4297679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4242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AYNI DÖNEMDE YAPILAN İŞ · ÜÇ MAĞAZA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102412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+%34,9 (574.656 → 775.032) · ciro +%70,6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21808"/>
            <a:ext cx="11018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Fark sezondan önce oluştu: 30 Haziran'da 139 → 153 (+14). Sezon içinde kadrolu -4 kişi. Personel başına iş +%20,5.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Norm, engelli dışındaki personeli sayar (yönetim kararı). Etkinlik kadrosu da norm dışı; gerçek rakamdan düşüldü (engelli 3, etkinlik 3 kişi). İK kaydında kadrolu 137 + sezonluk 58 = 195 kişi var. Norm tablosu: BKMKİTAP Mağaza Kadro ve Sezon Takip Tablosu, 11.08.2026 · Dört mağaza (Şura yok) · Satış: üç POS mağazası.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kadrolu personel artmadı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Geçen yıl da aynı yönde (-4). Sezonda alınan kadrolu personel ayrılanların yerine geldi, kadroyu büyütmedi.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Beş mağazanın tamamı: FSM · Özlüce · İst. Yolu · Heykel · Şura · Rakamlar 30 Haziran ve 31 Ağustos günü çalışan kişi sayısıdır.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20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005840"/>
                <a:gridCol w="1005840"/>
                <a:gridCol w="841248"/>
                <a:gridCol w="841248"/>
                <a:gridCol w="1005840"/>
                <a:gridCol w="1005840"/>
                <a:gridCol w="941832"/>
                <a:gridCol w="9418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143 → 160 kişi. Diğer slaytlardaki 143 → 160 rakamı budur.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olmayan personel. Sezon içi değişim, 30 Haziran ile 31 Ağustos arasındaki fark: -4 ve -4 — iki yıl da azalış.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Beş mağazanın tamamı: FSM · Özlüce · İst. Yolu · Heykel · Şura · Rakamlar 30 Haziran ve 31 Ağustos günü çalışan kişi sayısıdır.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574.656 → 775.032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122,5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Neden adet sayıyoruz?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Adet, fiyat artışından etkilenmez. Kasadan geçen, rafa dizilen, depodan çıkan gerçek mal miktarını gösterir. Ciroya zam karışır, adede karışmaz.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(Heykel ve Şura'nın kasa verisi bu sistemde yok) · 2025: 01.07 – 25.08.2025 · 2026: 07.07 – 31.08.2026 (her iki yıl 56 gün, okul dönemine göre eşleşen günler)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Okul-Hizalı Pencere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3.467 → 4.230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= 31 Ağustos'ta o mağazada çalışan tüm personel (sezonluk dahil). Kadrosu en çok büyüyen mağazada bile kişi başına iş arttı (İst. Yolu 50 → 61 kişi).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(Heykel ve Şura'nın kasa verisi bu sistemde yok) · 2025: 01.07 – 25.08.2025 · 2026: 07.07 – 31.08.2026 (her iki yıl 56 gün, okul dönemine göre eşleşen günler)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Dört Yıllık Seyir — Ocak-Ağustos Adedi / Kadrolu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+%11,3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çalışıyordu.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+%28,8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Ölçü: Ocak–Ağustos ürün adedi ÷ kadrolu personel (sezonluk hariç). Diğer slayttaki ölçüyle seviyeler değil, yönler karşılaştırılır.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· 1 Ocak – 31 Ağustos (her iki yıl) · Kadro her yıl 31 Ağustos günü sayılır · Sınav Okulları satışı adede girmiyor; o işe bakan personel kadroda kalıyor. Etki her yıl aynı yönde, karşılaştırma geçerli.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Mağaza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3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31 Ağustos'ta kadrolu +14 kişilik artışın tamamı satış ve kasa bölümlerinde; yönetim kadrosu değişmedi.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Beş mağazanın tamamı: FSM · Özlüce · İst. Yolu · Heykel · Şura · Rakamlar 30 Haziran ve 31 Ağustos günü çalışan kişi sayısıdır.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mağazada da iş, kadrodan daha hızlı arttı. En çok kadro alan İst. Yolu mağazasında bile iş artışı kadronun 2,2 katı.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(Heykel ve Şura'nın kasa verisi bu sistemde yok) · 2025: 01.07 – 25.08.2025 · 2026: 07.07 – 31.08.2026 (her iki yıl 56 gün, okul dönemine göre eşleşen günler)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617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00200"/>
                <a:gridCol w="2148840"/>
                <a:gridCol w="1097280"/>
                <a:gridCol w="1051560"/>
                <a:gridCol w="1143000"/>
                <a:gridCol w="105156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38.785 → 53.873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+%21,8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+%46,3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+%37,5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+%152,9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+%176,9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+%16,7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+%49,2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+%45,3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+%66,6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+%57,7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DİĞER (6 kategori)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bölüm eşleşmesi yok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129.221 → 170.476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+%31,9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+%41,8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+%50,5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+%79,8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224528"/>
          <a:ext cx="6766560" cy="12984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68496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41648"/>
            <a:ext cx="4069080" cy="148132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Kadro, satışı en hızlı artan kategorilere gitti. SEZON kolonları okul dönemini, OCA-AĞU kolonları yılın tamamını gösterir; sıralama ikisinde de aynı. DİĞER satırı, tek bir reyona bağlanamayan kategorilerin toplamı.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(Heykel ve Şura'nın kasa verisi bu sistemde yok) · 2025: 01.07 – 25.08.2025 · 2026: 07.07 – 31.08.2026 (her iki yıl 56 gün, okul dönemine göre eşleşen günler) · OCA-AĞU kolonları 1 Ocak – 31 Ağustos · Reyona bağlanabilen 6 kategori ayrı satırda (satışın %78'i); kalan 6 kategori DİĞER satırında.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458.259 → 483.500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614.956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101,7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131.456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23,6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Geçen yıl okul öncesi alış dalgası 28.08 - 07.09.2025 arasındaydı: 412.212 adet, 54,1 milyon TL. Bu yıl aynı dalga 03.09 - 13.09.2026 arasına düşüyor. Aynı büyüme oranıyla 553.164 adet, 89,8 milyon TL bekliyoruz.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27.08.2025 ile 07.08 – 02.09.2026 (27 gün; bugün hariç, son tam gün 02.09.2026) · Tahmin yöntemi: hizalı büyüme +%34,2,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Kadro — Mağaza Detayı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Norm 217 kişi (kadrolu 145 + sezonluk 72). Fiilen çalışan 189 kişi (kadrolu 131 + sezonluk 58). Fark -28 kişi. Engelli ve etkinlik sayılmadı.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10512"/>
          <a:ext cx="10515599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932688"/>
                <a:gridCol w="987552"/>
                <a:gridCol w="749808"/>
                <a:gridCol w="960120"/>
                <a:gridCol w="1042415"/>
                <a:gridCol w="749808"/>
                <a:gridCol w="1051560"/>
                <a:gridCol w="1143000"/>
                <a:gridCol w="749808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Mağaza / Grup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-9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Engelli **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OPERASYONEL 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Kayıt toplamı (İK, tüm gruplar)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1363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E6E6E"/>
                </a:solidFill>
                <a:latin typeface="Calibri"/>
              </a:rPr>
              <a:t>** Yönetim kararı: engelli ve etkinlik kadrosu norm dışıdır; norm doluluğuna sayılmaz, mağaza satırlarından düşülmüştür. Heykel ve Şura'da engelli kadro yoktur (ayrı tüzel kişilik, 50 çalışan altı → 4857/30 yükümlülüğü doğmaz).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70832"/>
            <a:ext cx="11018520" cy="47548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106070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001A"/>
                </a:solidFill>
                <a:latin typeface="Calibri"/>
              </a:rPr>
              <a:t>Norm 217 kişi · fiilen çalışan 189 kişi · fark -28 kişi (kadrolu -14 · sezonluk -14).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882896"/>
            <a:ext cx="1101852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882896"/>
            <a:ext cx="68580" cy="676656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01184"/>
            <a:ext cx="10607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KAPSAM SÖZLÜĞÜ — bu destede üç ayrı kapsam kullanılır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02352"/>
            <a:ext cx="10835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333333"/>
                </a:solidFill>
                <a:latin typeface="Calibri"/>
              </a:rPr>
              <a:t>• 3 POS mağazası (FSM · Özlüce · İst. Yolu) — iş hacminin ölçülebildiği kapsam: kadro 143 → 160
• 4 norm mağazası (+ Heykel) — norm karşılaştırması: norm 217 · kayıt 195 · operasyonel 189
• 5 mağaza (+ Şura) — İK kadro raporu: kadrolu 149 + sezonluk 62 = 211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Norm, engelli dışındaki personeli sayar; etkinlik de norm dışı (engelli 3, etkinlik 3 kişi ayrı satırda). En alttaki satır İK'nın resmi kaydı: kadrolu 137, sezonluk 58. Norm tablosu 11.08.2026 tarihli; Şura kapsam dışı.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Açığı — Bölüm Bazında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6858000" cy="305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731520"/>
                <a:gridCol w="1143000"/>
                <a:gridCol w="960120"/>
                <a:gridCol w="685800"/>
                <a:gridCol w="685800"/>
                <a:gridCol w="960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Operasyonel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Engelli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(norm dışı)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Açık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Fazla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Kıyafet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TOPLAM (teyit hariç)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Muhasebe (teyit bekliyor)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Oyun Alanı (teyit bekliyor)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955279" y="1371600"/>
            <a:ext cx="36118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1371600"/>
            <a:ext cx="68580" cy="19659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81328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EN BÜYÜK AÇIKLAR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10512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Çocuk  5 kişi
Kültür  2 kişi
Mağaza  2 kişi
İdari İşler  2 kişi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520440"/>
            <a:ext cx="361188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3630168"/>
            <a:ext cx="32004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Neden mağaza toplamından büyük?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Bölüm bölüm bakınca açık 15 kişi, mağaza toplamında 14. Bir bölümdeki fazla, başka bölümün açığını kapatıyor gibi görünüyor. Gerçek ihtiyaç bölüm bazında okunur. Normda yazılı olup kayıtta personeli olmayan 2 kişilik satır (Muhasebe · Oyun Alanı) açığa katılmadı; teyit bekliyor.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Norm, engelli dışındaki personeli sayar (yönetim kararı); engelli bölüm bazında da düşüldü: Kırtasiye 2 · Mal Kabul 1 · Etkinlik normda yok, en altta ayrı satır · Norm tablosundaki dört mağaza (Şura yok) · Norm 11.08.2026 tarihli · Gerçek sayılar 31 Ağustos günü.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Maliyeti — Sezon (Tem)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100 TL SATIŞTA PERSONEL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A6001A"/>
                </a:solidFill>
                <a:latin typeface="Calibri"/>
              </a:rPr>
              <a:t>14,30 ₺ → 12,71 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1,59 ₺ azaldı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KİŞİ BAŞINA SATIŞ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+%50,2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316 → 475 bin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KİŞİ BAŞINA MALİYET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+%33,6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 → 60 bin TL (ücret artışı)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291840"/>
          <a:ext cx="72237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234440"/>
                <a:gridCol w="1234440"/>
                <a:gridCol w="1188720"/>
                <a:gridCol w="123444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Yılbaşından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Çalışan (tam gün karşılığı)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97,1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112,4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+%15,8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+%11,3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  — kadrolu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93,8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110,9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+%18,3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+%8,9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  —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-1.8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+17.3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  — bordroda görünen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+%15,5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+%9,6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Brüt ücret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3,6 M 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5,5 M 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+%53,5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+%50,5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İşveren SGK + işsizlik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0,8 M TL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1,3 M TL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+%59,5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+%56,3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PERSONEL MALİYETİ (şirkete toplam)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4,4 M TL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6,8 M TL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+%54,6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9A9A9A"/>
                          </a:solidFill>
                          <a:latin typeface="Calibri"/>
                        </a:rPr>
                        <a:t>+%51,5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Satış (KDV hariç)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30,7 M TL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53,4 M TL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+%73,9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+%60,3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100 TL SATIŞTA PERSONEL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14,30 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12,71 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-1,59 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-0,70 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955279" y="3291840"/>
            <a:ext cx="3611880" cy="1874519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79" y="3401568"/>
            <a:ext cx="32004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A6001A"/>
                </a:solidFill>
                <a:latin typeface="Calibri"/>
              </a:rPr>
              <a:t>Maliyet arttı, yükü azaldı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Maliyet +%54,6 arttı; sebebi kişi başına ücret (+%33,6), kadro değil. Yine de 100 TL satışta personele giden para 1,59 ₺ azaldı: 14,30 ₺ → 12,71 ₺.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Yılbaşından bu yana da -0,70 ₺ azalıyor. Geçen yılın tam sezonunda bu tutar 3,54 ₺ idi; sezonda satış birkaç katına çıkınca bu tutar doğal olarak düşer.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Çalışan sayısı tam gün karşılığı: yarım ay çalışan yarım sayılır. Maliyet = brüt ücret + işveren SGK payı (kıdem ve yan haklar hariç). 2026 sezonu bitmedi: Ağu, Eyl, Eki ayları henüz bordroya girmedi. Karşılaştırma Tem ayı ile yapıldı; geçen yılın tam sezonu ayrıca gösteriliyor.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Alınmasaydı: Fazla Mesai Sınırı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BUGÜNKÜ FAZLA MESAİ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9A9A9A"/>
                </a:solidFill>
                <a:latin typeface="Calibri"/>
              </a:rPr>
              <a:t>84 sa/yıl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kişi başına yılda · yılbaşından bu yana 118 saat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ARTMASAYDI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465 sa/yıl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aynı iş, 15 kişi eksik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YASAL ÜST SINIR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270 sa/yıl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kanunun izin verdiği üst sınır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383280"/>
          <a:ext cx="5760720" cy="20574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92240" y="3383280"/>
            <a:ext cx="507492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493008"/>
            <a:ext cx="4617720" cy="1627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>
                <a:solidFill>
                  <a:srgbClr val="A6001A"/>
                </a:solidFill>
                <a:latin typeface="Calibri"/>
              </a:rPr>
              <a:t>Kadro artmasaydı ne olurdu?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Kadro 2025 seviyesinde kalsaydı, aynı işi çıkarmak 2.984 saat ek fazla mesai isterdi. Kişi başına yılda 465 saat eder; yasal sınır 270 saat. Bugünkü fazla mesai 84 saat, sınırın içinde. Sınıra yaklaşan kişi sayısı 1'den 2'ye çıktı.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Kaynak: Zirve bordro fazla mesai saatleri · Sezon Tem · Üç mağaza · Şu kabul edildi: iş yükü kişi sayısıyla doğru orantılı ve eksik kapasite ancak fazla mesaiyle kapanır. Kişi başına normal çalışma ayda 195 saat; yasal fazla mesai sınırı yılda 270 saat.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Aylık Kadro ve Personel Maliyeti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AYI ÇALIŞAN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30622"/>
                </a:solidFill>
                <a:latin typeface="Calibri"/>
              </a:rPr>
              <a:t>97,1 → 112,4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Tem · +%15,8 · bordroda 110 → 127 kişi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100 TL SATIŞTA PERSONEL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A6001A"/>
                </a:solidFill>
                <a:latin typeface="Calibri"/>
              </a:rPr>
              <a:t>14,3 ₺ → 12,7 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Tem ayı · -1,6 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KADROLU / SEZONLUK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9A9A9A"/>
                </a:solidFill>
                <a:latin typeface="Calibri"/>
              </a:rPr>
              <a:t>110,9 / 1,5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kişi · kadro 7/7 ayda arttı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520440"/>
          <a:ext cx="548640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48640" y="3291840"/>
            <a:ext cx="5486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Aylık çalışan sayısı: kadrolu + sezonluk, iki yıl (2026 sezonu Ağustos–Ekim'de dolacak)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172200" y="3520440"/>
          <a:ext cx="5394960" cy="196596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172200" y="3291840"/>
            <a:ext cx="53949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100 TL satışta personele giden para — aylık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Sezon Tem–Eki: Temmuz hazırlık, asıl satış ve sezonluk kadro Ağustos–Ekim. 2026'nın boş ayları henüz bordroya girmedi. * işaretli aylar sezon ayı (Tem–Eki). Ağustos, Eylül, Ekim bordrosu işlendiğinde tabloya eklenir Üç mağaza · Ayrıntı Excel «Maliyet» sayfasında.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Sezonun Kalanı — Eylül–Ekim Tahmini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SATIŞI (TAHMİN)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990 M 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2025: 602 M · +%64,5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ÇALIŞANI (TAHMİN)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9A9A9A"/>
                </a:solidFill>
                <a:latin typeface="Calibri"/>
              </a:rPr>
              <a:t>531,0 FTE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2025: 458,7 kişi · +%15,8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100 TL SATIŞTA PERSONEL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%3,23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2025: 3,54 ₺ · tahmin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337560"/>
          <a:ext cx="7223760" cy="1408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77240"/>
                <a:gridCol w="868680"/>
                <a:gridCol w="1051560"/>
                <a:gridCol w="1051560"/>
                <a:gridCol w="777240"/>
                <a:gridCol w="822960"/>
                <a:gridCol w="109728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Ay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Satış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Maliyet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Satış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Satış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Çalışan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Maliyet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gerçek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gerçek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30,7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53,4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+%73,9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112,4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6,8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Ağu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gerçek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TAHMİN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186,9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172,1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−%7,9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139,6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8,4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Eyl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KISMI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TAHMİN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313,0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631,9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+%101,9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153,8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9,3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Eki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TAHMIN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TAHMİN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71,4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133,0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+%86,3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125,2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7,6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Ağu+Eyl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kayma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nötr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499,9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804,0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+%60,8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293,4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17,7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602,0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990,4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+%64,5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531,0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32,0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7955279" y="3520440"/>
          <a:ext cx="3611880" cy="192024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7955279" y="3291840"/>
            <a:ext cx="36118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Satış (milyon TL) — gerçekleşen + tahmin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47488"/>
            <a:ext cx="72237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A6001A"/>
                </a:solidFill>
                <a:latin typeface="Calibri"/>
              </a:rPr>
              <a:t>TAKVİM AYI KIYASI KAYMAYI YANSITIR: okul 08.09.2025'de değil 14.09.2026'te açıldı — 2025'te Ağustos sonunda gerçekleşen yoğunluk 2026'da Eylül başına düştü. Bu yüzden Ağustos -8%, Eylül +102% görünür; ay ay okumak yanıltır, SEZON TOPLAMI (veya Ağustos+Eylül birlikte) esas alınır.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02.09.2026 tarihine kadar gerçek veri, sonrası tahmin. Geçen yılın günlük satışı okul açılışına göre bu yılın takvimine taşındı (08.09.2025 yerine 14.09.2026 açıldı) ve ölçülen +%66,0 satış artışı uygulandı. Ücretler sabit kabul edildi; üç mağaza, satış KDV hariç.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Sezonluk Alım Zamanlaması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ORTALAMA ALIM GÜNÜ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A9A9A"/>
                </a:solidFill>
                <a:latin typeface="Calibri"/>
              </a:rPr>
              <a:t>2,5 gün geç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takvim ölçüsü · 225. → 228. gün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TEMMUZ VE ÖNCESİ ALIM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6 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gerçek erken alım azaldı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1–14 AĞUSTOS İŞ HACMİ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+%25,1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137.483 → 171.957 adet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246120"/>
          <a:ext cx="11018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  <a:gridCol w="4251960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Yorum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Ortalama alım günü (takvim)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225.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228.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2026 alımı ortalama 2,5 gün DAHA GEÇ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Temmuz ve öncesi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azaldı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Açılıştan 45+ gün önce alınan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çok erken alım azaldı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30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artış bu iki haftada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ürün adedi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137.483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171.957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büyüdü — alım işi takip etti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15–31 Ağustos ürün adedi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320.776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311.542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−%2,9 — dalga Eylül'e kaydı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31.08'de çalışan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65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62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kesimde 3 kişi DAHA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Temmuz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payı düştü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1–14 Ağustos alımı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27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büyüyen dönem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15–31 Ağustos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49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−%2,9 → alım azaltıldı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Sezonluk 62 kişinin 61'i bu yıl, 1'i geçen yıl işe girmiş ve çalışmaya devam ediyor (İK teyidi). Beş mağaza; iki yıl aynı ofsette kesildi. «Açılıştan kaç gün önce» ölçüsü 6 günlük kaymadan etkilenir, bu yüzden takvim ölçüsü esas alınmıştır.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53895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38988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73352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Sınav Okulları küçüldü: Ocak–Ağustos satışı 136,2 → 105,6 milyon TL (−%22,4). Mağaza tarafı +%54,9 büyüdü; büyüme mağaza satışından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19299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19299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147316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2083307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366771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Aynı ürünlerde fiyatlar %19,8 arttı. Bu yüzden ciroya değil adede bakıyoruz: ürün adedi +%34,9; adede zam karışmaz.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712719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712719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840736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2776727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060191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Bu yüzden rakamlar kasa sisteminden değil ERP'den alındı; iki yılda da aynı kaynak. Temmuz 2025 kasa değişimi rakamları etkilemiyor.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406139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406139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34156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43000" y="3470147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Sezonluk personel erken mi alındı?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53611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Takvime göre 2026 alımı ortalama 2,5 gün daha geç. Temmuz ve öncesi alım 6 kişiden 2'ye indi. Artış 1–14 Ağustos'ta; o iki haftada ürün adedi +%25,1 büyüdü. Alım işi takip etti.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099559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099559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27575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4163567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Personel maliyeti çok mu arttı?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447031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Sezonda maliyet +%54,6 arttı. Sebebi kişi başına ücret artışı (+%33,6), kadro değil. 100 TL satışta personele giden para 1,59 ₺ GERİLEMİŞTİR: 14,30 ₺ → 12,71 ₺ (yılbaşından bu yana -0,70 ₺).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792979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792979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920995"/>
            <a:ext cx="256032" cy="25603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43000" y="4856987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140451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 etkisi: okul 2025'te 8 Eylül, 2026'da 14 Eylül açıldı; sezon 6 gün geriye kaydı. Açılış gününe göre hizalanınca haftalık büyüme %65–79 arasında sabit.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· 1 Ocak – 31 Ağustos (her iki yıl) (kurumsal/mağaza kıyası) · hizalı dönem: 2025: 01.07 – 25.08.2025 · 2026: 07.07 – 31.08.2026 (her iki yıl 56 gün, okul dönemine göre eşleşen günler)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481328"/>
            <a:ext cx="4572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47088"/>
            <a:ext cx="4937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7004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İlk 14 günü tamamlayanlar (22/23 → 21/28). 32 yeni alımdan 10'si 31 Ağustos'a kadar ayrıldı (geçen yıl 24 alımdan 2). Aynı pozisyonu iki kez doldurmak maliyet demek.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1481328"/>
            <a:ext cx="4572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47088"/>
            <a:ext cx="4937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%93,9 → %95,1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7004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Sezonlukta kalma oranı yükseldi (46/49 → 39/41). Sorun sezonluk alımda değil, kadrolu alımın ilk haftasında.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Beş mağazanın tamamı: FSM · Özlüce · İst. Yolu · Heykel · Şura · Rakamlar 30 Haziran ve 31 Ağustos günü çalışan kişi sayısıdır. Ölçüm mağaza kadrosu üzerinden yapıldı.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Norm tablosuna göre fark -28 kişi · kadrolu −4 · ürün adedi +%34,9 · personel başına iş +%20,5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