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122.53417561000009</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5578.70462962963</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30.5442513521349</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57.55862375814169</c:v>
                </c:pt>
                <c:pt idx="1">
                  <c:v>96.00493094594309</c:v>
                </c:pt>
                <c:pt idx="2">
                  <c:v>62.26752661005725</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97.23687580025609</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106.94172897196262</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341.9233290653009</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Kültür</a:t>
                      </a:r>
                    </a:p>
                  </a:txBody>
                  <a:tcPr>
                    <a:solidFill>
                      <a:srgbClr val="FAFAFA"/>
                    </a:solidFill>
                  </a:tcPr>
                </a:tc>
                <a:tc>
                  <a:txBody>
                    <a:bodyPr/>
                    <a:lstStyle/>
                    <a:p>
                      <a:pPr algn="ctr"/>
                      <a:r>
                        <a:rPr sz="900" b="0">
                          <a:solidFill>
                            <a:srgbClr val="333333"/>
                          </a:solidFill>
                          <a:latin typeface="Calibri"/>
                        </a:rPr>
                        <a:t>22</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2</a:t>
                      </a:r>
                    </a:p>
                  </a:txBody>
                  <a:tcPr>
                    <a:solidFill>
                      <a:srgbClr val="FAFAFA"/>
                    </a:solidFill>
                  </a:tcPr>
                </a:tc>
              </a:tr>
              <a:tr h="182880">
                <a:tc>
                  <a:txBody>
                    <a:bodyPr/>
                    <a:lstStyle/>
                    <a:p>
                      <a:pPr algn="l"/>
                      <a:r>
                        <a:rPr sz="900" b="0">
                          <a:solidFill>
                            <a:srgbClr val="333333"/>
                          </a:solidFill>
                          <a:latin typeface="Calibri"/>
                        </a:rPr>
                        <a:t>Mağaza</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8</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Kültür  2 kişi
Mağaza  2 kişi
İdari İşler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%12,85 → %12,15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0,70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+%46,2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310 → 454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+%38,3</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40 → 55 bin TL (ücret artışı)</a:t>
            </a:r>
          </a:p>
        </p:txBody>
      </p:sp>
      <p:graphicFrame>
        <p:nvGraphicFramePr>
          <p:cNvPr id="21" name="Table 20"/>
          <p:cNvGraphicFramePr>
            <a:graphicFrameLocks noGrp="1"/>
          </p:cNvGraphicFramePr>
          <p:nvPr/>
        </p:nvGraphicFramePr>
        <p:xfrm>
          <a:off x="548640" y="3429000"/>
          <a:ext cx="7223760" cy="1316736"/>
        </p:xfrm>
        <a:graphic>
          <a:graphicData uri="http://schemas.openxmlformats.org/drawingml/2006/table">
            <a:tbl>
              <a:tblPr firstRow="1" bandRow="1">
                <a:tableStyleId>{5C22544A-7EE6-4342-B048-85BDC9FD1C3A}</a:tableStyleId>
              </a:tblPr>
              <a:tblGrid>
                <a:gridCol w="2834640"/>
                <a:gridCol w="1463040"/>
                <a:gridCol w="1463040"/>
                <a:gridCol w="14630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Değişim</a:t>
                      </a:r>
                    </a:p>
                  </a:txBody>
                  <a:tcPr>
                    <a:solidFill>
                      <a:srgbClr val="E30622"/>
                    </a:solidFill>
                  </a:tcPr>
                </a:tc>
              </a:tr>
              <a:tr h="219456">
                <a:tc>
                  <a:txBody>
                    <a:bodyPr/>
                    <a:lstStyle/>
                    <a:p>
                      <a:pPr algn="l"/>
                      <a:r>
                        <a:rPr sz="950" b="0">
                          <a:solidFill>
                            <a:srgbClr val="333333"/>
                          </a:solidFill>
                          <a:latin typeface="Calibri"/>
                        </a:rPr>
                        <a:t>Kişi-ay (bordro)</a:t>
                      </a:r>
                    </a:p>
                  </a:txBody>
                  <a:tcPr>
                    <a:solidFill>
                      <a:srgbClr val="FFFFFF"/>
                    </a:solidFill>
                  </a:tcPr>
                </a:tc>
                <a:tc>
                  <a:txBody>
                    <a:bodyPr/>
                    <a:lstStyle/>
                    <a:p>
                      <a:pPr algn="ctr"/>
                      <a:r>
                        <a:rPr sz="950" b="0">
                          <a:solidFill>
                            <a:srgbClr val="333333"/>
                          </a:solidFill>
                          <a:latin typeface="Calibri"/>
                        </a:rPr>
                        <a:t>781</a:t>
                      </a:r>
                    </a:p>
                  </a:txBody>
                  <a:tcPr>
                    <a:solidFill>
                      <a:srgbClr val="FFFFFF"/>
                    </a:solidFill>
                  </a:tcPr>
                </a:tc>
                <a:tc>
                  <a:txBody>
                    <a:bodyPr/>
                    <a:lstStyle/>
                    <a:p>
                      <a:pPr algn="ctr"/>
                      <a:r>
                        <a:rPr sz="950" b="0">
                          <a:solidFill>
                            <a:srgbClr val="333333"/>
                          </a:solidFill>
                          <a:latin typeface="Calibri"/>
                        </a:rPr>
                        <a:t>856</a:t>
                      </a:r>
                    </a:p>
                  </a:txBody>
                  <a:tcPr>
                    <a:solidFill>
                      <a:srgbClr val="FFFFFF"/>
                    </a:solidFill>
                  </a:tcPr>
                </a:tc>
                <a:tc>
                  <a:txBody>
                    <a:bodyPr/>
                    <a:lstStyle/>
                    <a:p>
                      <a:pPr algn="ctr"/>
                      <a:r>
                        <a:rPr sz="950" b="1">
                          <a:solidFill>
                            <a:srgbClr val="A6001A"/>
                          </a:solidFill>
                          <a:latin typeface="Calibri"/>
                        </a:rPr>
                        <a:t>+%9,6</a:t>
                      </a:r>
                    </a:p>
                  </a:txBody>
                  <a:tcPr>
                    <a:solidFill>
                      <a:srgbClr val="FFFFFF"/>
                    </a:solidFill>
                  </a:tcPr>
                </a:tc>
              </a:tr>
              <a:tr h="219456">
                <a:tc>
                  <a:txBody>
                    <a:bodyPr/>
                    <a:lstStyle/>
                    <a:p>
                      <a:pPr algn="l"/>
                      <a:r>
                        <a:rPr sz="950" b="0">
                          <a:solidFill>
                            <a:srgbClr val="333333"/>
                          </a:solidFill>
                          <a:latin typeface="Calibri"/>
                        </a:rPr>
                        <a:t>Brüt ücret</a:t>
                      </a:r>
                    </a:p>
                  </a:txBody>
                  <a:tcPr>
                    <a:solidFill>
                      <a:srgbClr val="FAFAFA"/>
                    </a:solidFill>
                  </a:tcPr>
                </a:tc>
                <a:tc>
                  <a:txBody>
                    <a:bodyPr/>
                    <a:lstStyle/>
                    <a:p>
                      <a:pPr algn="ctr"/>
                      <a:r>
                        <a:rPr sz="950" b="0">
                          <a:solidFill>
                            <a:srgbClr val="333333"/>
                          </a:solidFill>
                          <a:latin typeface="Calibri"/>
                        </a:rPr>
                        <a:t>25,3 M TL</a:t>
                      </a:r>
                    </a:p>
                  </a:txBody>
                  <a:tcPr>
                    <a:solidFill>
                      <a:srgbClr val="FAFAFA"/>
                    </a:solidFill>
                  </a:tcPr>
                </a:tc>
                <a:tc>
                  <a:txBody>
                    <a:bodyPr/>
                    <a:lstStyle/>
                    <a:p>
                      <a:pPr algn="ctr"/>
                      <a:r>
                        <a:rPr sz="950" b="0">
                          <a:solidFill>
                            <a:srgbClr val="333333"/>
                          </a:solidFill>
                          <a:latin typeface="Calibri"/>
                        </a:rPr>
                        <a:t>38,1 M TL</a:t>
                      </a:r>
                    </a:p>
                  </a:txBody>
                  <a:tcPr>
                    <a:solidFill>
                      <a:srgbClr val="FAFAFA"/>
                    </a:solidFill>
                  </a:tcPr>
                </a:tc>
                <a:tc>
                  <a:txBody>
                    <a:bodyPr/>
                    <a:lstStyle/>
                    <a:p>
                      <a:pPr algn="ctr"/>
                      <a:r>
                        <a:rPr sz="950" b="1">
                          <a:solidFill>
                            <a:srgbClr val="A6001A"/>
                          </a:solidFill>
                          <a:latin typeface="Calibri"/>
                        </a:rPr>
                        <a:t>+%50,5</a:t>
                      </a:r>
                    </a:p>
                  </a:txBody>
                  <a:tcPr>
                    <a:solidFill>
                      <a:srgbClr val="FAFAFA"/>
                    </a:solidFill>
                  </a:tcPr>
                </a:tc>
              </a:tr>
              <a:tr h="219456">
                <a:tc>
                  <a:txBody>
                    <a:bodyPr/>
                    <a:lstStyle/>
                    <a:p>
                      <a:pPr algn="l"/>
                      <a:r>
                        <a:rPr sz="950" b="0">
                          <a:solidFill>
                            <a:srgbClr val="333333"/>
                          </a:solidFill>
                          <a:latin typeface="Calibri"/>
                        </a:rPr>
                        <a:t>İşveren SGK + işsizlik payı</a:t>
                      </a:r>
                    </a:p>
                  </a:txBody>
                  <a:tcPr>
                    <a:solidFill>
                      <a:srgbClr val="FFFFFF"/>
                    </a:solidFill>
                  </a:tcPr>
                </a:tc>
                <a:tc>
                  <a:txBody>
                    <a:bodyPr/>
                    <a:lstStyle/>
                    <a:p>
                      <a:pPr algn="ctr"/>
                      <a:r>
                        <a:rPr sz="950" b="0">
                          <a:solidFill>
                            <a:srgbClr val="333333"/>
                          </a:solidFill>
                          <a:latin typeface="Calibri"/>
                        </a:rPr>
                        <a:t>5,8 M TL</a:t>
                      </a:r>
                    </a:p>
                  </a:txBody>
                  <a:tcPr>
                    <a:solidFill>
                      <a:srgbClr val="FFFFFF"/>
                    </a:solidFill>
                  </a:tcPr>
                </a:tc>
                <a:tc>
                  <a:txBody>
                    <a:bodyPr/>
                    <a:lstStyle/>
                    <a:p>
                      <a:pPr algn="ctr"/>
                      <a:r>
                        <a:rPr sz="950" b="0">
                          <a:solidFill>
                            <a:srgbClr val="333333"/>
                          </a:solidFill>
                          <a:latin typeface="Calibri"/>
                        </a:rPr>
                        <a:t>9,1 M TL</a:t>
                      </a:r>
                    </a:p>
                  </a:txBody>
                  <a:tcPr>
                    <a:solidFill>
                      <a:srgbClr val="FFFFFF"/>
                    </a:solidFill>
                  </a:tcPr>
                </a:tc>
                <a:tc>
                  <a:txBody>
                    <a:bodyPr/>
                    <a:lstStyle/>
                    <a:p>
                      <a:pPr algn="ctr"/>
                      <a:r>
                        <a:rPr sz="950" b="1">
                          <a:solidFill>
                            <a:srgbClr val="A6001A"/>
                          </a:solidFill>
                          <a:latin typeface="Calibri"/>
                        </a:rPr>
                        <a:t>+%56,3</a:t>
                      </a:r>
                    </a:p>
                  </a:txBody>
                  <a:tcPr>
                    <a:solidFill>
                      <a:srgbClr val="FFFFFF"/>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31,2 M TL</a:t>
                      </a:r>
                    </a:p>
                  </a:txBody>
                  <a:tcPr>
                    <a:solidFill>
                      <a:srgbClr val="F2F2F2"/>
                    </a:solidFill>
                  </a:tcPr>
                </a:tc>
                <a:tc>
                  <a:txBody>
                    <a:bodyPr/>
                    <a:lstStyle/>
                    <a:p>
                      <a:pPr algn="ctr"/>
                      <a:r>
                        <a:rPr sz="950" b="1">
                          <a:solidFill>
                            <a:srgbClr val="333333"/>
                          </a:solidFill>
                          <a:latin typeface="Calibri"/>
                        </a:rPr>
                        <a:t>47,2 M TL</a:t>
                      </a:r>
                    </a:p>
                  </a:txBody>
                  <a:tcPr>
                    <a:solidFill>
                      <a:srgbClr val="F2F2F2"/>
                    </a:solidFill>
                  </a:tcPr>
                </a:tc>
                <a:tc>
                  <a:txBody>
                    <a:bodyPr/>
                    <a:lstStyle/>
                    <a:p>
                      <a:pPr algn="ctr"/>
                      <a:r>
                        <a:rPr sz="950" b="1">
                          <a:solidFill>
                            <a:srgbClr val="A6001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FFFFF"/>
                    </a:solidFill>
                  </a:tcPr>
                </a:tc>
                <a:tc>
                  <a:txBody>
                    <a:bodyPr/>
                    <a:lstStyle/>
                    <a:p>
                      <a:pPr algn="ctr"/>
                      <a:r>
                        <a:rPr sz="950" b="0">
                          <a:solidFill>
                            <a:srgbClr val="333333"/>
                          </a:solidFill>
                          <a:latin typeface="Calibri"/>
                        </a:rPr>
                        <a:t>242,5 M TL</a:t>
                      </a:r>
                    </a:p>
                  </a:txBody>
                  <a:tcPr>
                    <a:solidFill>
                      <a:srgbClr val="FFFFFF"/>
                    </a:solidFill>
                  </a:tcPr>
                </a:tc>
                <a:tc>
                  <a:txBody>
                    <a:bodyPr/>
                    <a:lstStyle/>
                    <a:p>
                      <a:pPr algn="ctr"/>
                      <a:r>
                        <a:rPr sz="950" b="0">
                          <a:solidFill>
                            <a:srgbClr val="333333"/>
                          </a:solidFill>
                          <a:latin typeface="Calibri"/>
                        </a:rPr>
                        <a:t>388,7 M TL</a:t>
                      </a:r>
                    </a:p>
                  </a:txBody>
                  <a:tcPr>
                    <a:solidFill>
                      <a:srgbClr val="FFFFFF"/>
                    </a:solidFill>
                  </a:tcPr>
                </a:tc>
                <a:tc>
                  <a:txBody>
                    <a:bodyPr/>
                    <a:lstStyle/>
                    <a:p>
                      <a:pPr algn="ctr"/>
                      <a:r>
                        <a:rPr sz="950" b="1">
                          <a:solidFill>
                            <a:srgbClr val="A6001A"/>
                          </a:solidFill>
                          <a:latin typeface="Calibri"/>
                        </a:rPr>
                        <a:t>+%60,3</a:t>
                      </a:r>
                    </a:p>
                  </a:txBody>
                  <a:tcPr>
                    <a:solidFill>
                      <a:srgbClr val="FFFFFF"/>
                    </a:solidFill>
                  </a:tcPr>
                </a:tc>
              </a:tr>
            </a:tbl>
          </a:graphicData>
        </a:graphic>
      </p:graphicFrame>
      <p:sp>
        <p:nvSpPr>
          <p:cNvPr id="22" name="Rounded Rectangle 21"/>
          <p:cNvSpPr/>
          <p:nvPr/>
        </p:nvSpPr>
        <p:spPr>
          <a:xfrm>
            <a:off x="7955279" y="3429000"/>
            <a:ext cx="3611880" cy="17373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538728"/>
            <a:ext cx="3200400" cy="1554480"/>
          </a:xfrm>
          <a:prstGeom prst="rect">
            <a:avLst/>
          </a:prstGeom>
          <a:noFill/>
        </p:spPr>
        <p:txBody>
          <a:bodyPr wrap="square" anchor="t">
            <a:spAutoFit/>
          </a:bodyPr>
          <a:lstStyle/>
          <a:p>
            <a:pPr algn="l">
              <a:lnSpc>
                <a:spcPct val="112000"/>
              </a:lnSpc>
            </a:pPr>
            <a:r>
              <a:rPr sz="1250" b="1">
                <a:solidFill>
                  <a:srgbClr val="A6001A"/>
                </a:solidFill>
                <a:latin typeface="Calibri"/>
              </a:rPr>
              <a:t>Maliyet arttı, yükü azaldı</a:t>
            </a:r>
          </a:p>
          <a:p>
            <a:pPr algn="l">
              <a:lnSpc>
                <a:spcPct val="112000"/>
              </a:lnSpc>
            </a:pPr>
            <a:r>
              <a:rPr sz="1000" b="0">
                <a:solidFill>
                  <a:srgbClr val="333333"/>
                </a:solidFill>
                <a:latin typeface="Calibri"/>
              </a:rPr>
              <a:t>Personel maliyeti +%51,5 artmıştır; artışın ana kaynağı kişi başına ücret (+%38,3). Buna karşın cironun içindeki personel yükü 0,70 puan gerilemiştir: %12,85 → %12,15.</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(vw_PuanBil) — maliyet = brüt toplam + işveren SGK hissesi + işveren işsizlik payı · Dönem: 01-07 ay (Oca–Tem), her iki yıl (Ağustos bordrosu henüz işlenmediği için son tam bordro ayı esas) · Kapsam: üç POS mağazası · Ciro KDV HARİÇ ve Sınav DAHİL (o satışı da aynı mağaza personeli yapar) · Kıdem karşılığı ve yan haklar hariç.</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FAZLA MESAİ ·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107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 yasal sınır 270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342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75 kişi-ay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14.625 saat ek fazla mesai gerekirdi; kişi başına yıllık 342 saate çıkardı ve 270 saatlik yasal sınır AŞILIRDI. Fiili fazla mesai 107 saat/yıl ile sınırın içindedir; ancak sınır hızında çalışan kişi-ay sayısı 32'den 95'ye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Dönem: 01-07 ay (Oca–Tem), her iki yıl · Kapsam: üç POS mağazası · VARSAYIM: işgücü ihtiyacı kişi sayısıyla doğru orantılıdır ve eksik kapasite ancak fazla mesaiyle kapanır; kişi-ay başına normal çalışma 195 saat (45 sa/hafta)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Maliyet +%51,5 artmıştır; artışın ana kaynağı kişi başına ücret (+%38,3), kadro artışı değil. Cironun içindeki personel yükü ise 0,70 puan GERİLEMİŞTİR: %12,85 → %12,15.</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