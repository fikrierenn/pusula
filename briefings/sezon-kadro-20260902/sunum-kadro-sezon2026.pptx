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7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7737" autoAdjust="0"/>
  </p:normalViewPr>
  <p:slideViewPr>
    <p:cSldViewPr snapToGrid="0" snapToObjects="1">
      <p:cViewPr varScale="1">
        <p:scale>
          <a:sx n="83" d="100"/>
          <a:sy n="83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Sheet1!$A$2:$A$3</c:f>
              <c:strCache>
                <c:ptCount val="2"/>
                <c:pt idx="0">
                  <c:v>Taban 30.06</c:v>
                </c:pt>
                <c:pt idx="1">
                  <c:v>Kesim 31.08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139</c:v>
                </c:pt>
                <c:pt idx="1">
                  <c:v>135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Sheet1!$A$2:$A$3</c:f>
              <c:strCache>
                <c:ptCount val="2"/>
                <c:pt idx="0">
                  <c:v>Taban 30.06</c:v>
                </c:pt>
                <c:pt idx="1">
                  <c:v>Kesim 31.08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153</c:v>
                </c:pt>
                <c:pt idx="1">
                  <c:v>149</c:v>
                </c:pt>
              </c:numCache>
            </c:numRef>
          </c:val>
        </c:ser>
        <c:dLbls>
          <c:numFmt sourceLinked="0" formatCode="#,##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Sheet1!$A$2:$A$4</c:f>
              <c:strCache>
                <c:ptCount val="3"/>
                <c:pt idx="0">
                  <c:v>Ürün adedi (bin)</c:v>
                </c:pt>
                <c:pt idx="1">
                  <c:v>Ciro (milyon TL)</c:v>
                </c:pt>
                <c:pt idx="2">
                  <c:v>Kadro (kişi)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574.7176999999999</c:v>
                </c:pt>
                <c:pt idx="1">
                  <c:v>71.837429119994</c:v>
                </c:pt>
                <c:pt idx="2">
                  <c:v>143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Sheet1!$A$2:$A$4</c:f>
              <c:strCache>
                <c:ptCount val="3"/>
                <c:pt idx="0">
                  <c:v>Ürün adedi (bin)</c:v>
                </c:pt>
                <c:pt idx="1">
                  <c:v>Ciro (milyon TL)</c:v>
                </c:pt>
                <c:pt idx="2">
                  <c:v>Kadro (kişi)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775.19155</c:v>
                </c:pt>
                <c:pt idx="1">
                  <c:v>122.60138084999437</c:v>
                </c:pt>
                <c:pt idx="2">
                  <c:v>160</c:v>
                </c:pt>
              </c:numCache>
            </c:numRef>
          </c:val>
        </c:ser>
        <c:dLbls>
          <c:numFmt sourceLinked="0" formatCode="#,##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4524.798039215687</c:v>
                </c:pt>
                <c:pt idx="1">
                  <c:v>3467.96</c:v>
                </c:pt>
                <c:pt idx="2">
                  <c:v>4060.8333333333335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5578.704629629629</c:v>
                </c:pt>
                <c:pt idx="1">
                  <c:v>4232.270491803279</c:v>
                </c:pt>
                <c:pt idx="2">
                  <c:v>4794.955555555555</c:v>
                </c:pt>
              </c:numCache>
            </c:numRef>
          </c:val>
        </c:ser>
        <c:dLbls>
          <c:numFmt sourceLinked="0" formatCode="#,##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adet / kişi</c:v>
                </c:pt>
              </c:strCache>
            </c:strRef>
          </c:tx>
          <c:spPr>
            <a:ln w="31750">
              <a:solidFill>
                <a:srgbClr val="E30622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34404.7405</c:v>
                </c:pt>
                <c:pt idx="1">
                  <c:v>25239.927802197803</c:v>
                </c:pt>
                <c:pt idx="2">
                  <c:v>28670.6775</c:v>
                </c:pt>
                <c:pt idx="3">
                  <c:v>32498.27846846847</c:v>
                </c:pt>
              </c:numCache>
            </c:numRef>
          </c:val>
          <c:smooth val="0"/>
        </c:ser>
        <c:dLbls>
          <c:numFmt sourceLinked="0" formatCode="#,##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kadrolu değişim (kişi)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Sheet1!$A$2:$A$9</c:f>
              <c:strCache>
                <c:ptCount val="8"/>
                <c:pt idx="0">
                  <c:v>Yardımcı Kitap</c:v>
                </c:pt>
                <c:pt idx="1">
                  <c:v>Kırtasiye</c:v>
                </c:pt>
                <c:pt idx="2">
                  <c:v>Kasa</c:v>
                </c:pt>
                <c:pt idx="3">
                  <c:v>Akademi</c:v>
                </c:pt>
                <c:pt idx="4">
                  <c:v>Şura</c:v>
                </c:pt>
                <c:pt idx="5">
                  <c:v>Mağaza</c:v>
                </c:pt>
                <c:pt idx="6">
                  <c:v>MAL Kabul</c:v>
                </c:pt>
                <c:pt idx="7">
                  <c:v>İdari İşler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sourceLinked="0" formatCode="+0;-0;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dLbls>
          <c:numFmt sourceLinked="0" formatCode="#,##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kadro Δ%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5.882352941176472</c:v>
                </c:pt>
                <c:pt idx="1">
                  <c:v>21.999999999999996</c:v>
                </c:pt>
                <c:pt idx="2">
                  <c:v>7.14285714285714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ürün adedi Δ%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30.54425135213488</c:v>
                </c:pt>
                <c:pt idx="1">
                  <c:v>48.88781877530306</c:v>
                </c:pt>
                <c:pt idx="2">
                  <c:v>26.512268769605107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ciro Δ%</c:v>
                </c:pt>
              </c:strCache>
            </c:strRef>
          </c:tx>
          <c:spPr>
            <a:solidFill>
              <a:srgbClr val="7A1020"/>
            </a:solidFill>
          </c:spPr>
          <c:cat>
            <c:strRef>
              <c:f>Sheet1!$A$2:$A$4</c:f>
              <c:strCache>
                <c:ptCount val="3"/>
                <c:pt idx="0">
                  <c:v>Özlüce</c:v>
                </c:pt>
                <c:pt idx="1">
                  <c:v>İst. Yolu</c:v>
                </c:pt>
                <c:pt idx="2">
                  <c:v>FSM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57.55862375816307</c:v>
                </c:pt>
                <c:pt idx="1">
                  <c:v>96.12850541161279</c:v>
                </c:pt>
                <c:pt idx="2">
                  <c:v>62.26752661004467</c:v>
                </c:pt>
              </c:numCache>
            </c:numRef>
          </c:val>
        </c:ser>
        <c:dLbls>
          <c:numFmt sourceLinked="0" formatCode="0&quot;%&quot;"/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9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ürün adedi Δ%</c:v>
                </c:pt>
              </c:strCache>
            </c:strRef>
          </c:tx>
          <c:spPr>
            <a:solidFill>
              <a:srgbClr val="E30622"/>
            </a:solidFill>
          </c:spPr>
          <c:cat>
            <c:strRef>
              <c:f>Sheet1!$A$2:$A$7</c:f>
              <c:strCache>
                <c:ptCount val="6"/>
                <c:pt idx="0">
                  <c:v>Hazırlık Kitapları</c:v>
                </c:pt>
                <c:pt idx="1">
                  <c:v>Kırtasiye</c:v>
                </c:pt>
                <c:pt idx="2">
                  <c:v>Akademi</c:v>
                </c:pt>
                <c:pt idx="3">
                  <c:v>Kitap</c:v>
                </c:pt>
                <c:pt idx="4">
                  <c:v>Oyuncak</c:v>
                </c:pt>
                <c:pt idx="5">
                  <c:v>Çocuk Kitabı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39.08924756094421</c:v>
                </c:pt>
                <c:pt idx="1">
                  <c:v>33.552172719623094</c:v>
                </c:pt>
                <c:pt idx="2">
                  <c:v>238.98744541484714</c:v>
                </c:pt>
                <c:pt idx="3">
                  <c:v>25.988343197939724</c:v>
                </c:pt>
                <c:pt idx="4">
                  <c:v>57.96957048606437</c:v>
                </c:pt>
                <c:pt idx="5">
                  <c:v>16.995917921553104</c:v>
                </c:pt>
              </c:numCache>
            </c:numRef>
          </c:val>
        </c:ser>
        <c:dLbls>
          <c:numFmt sourceLinked="0" formatCode="0&quot;%&quot;"/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00641-7B70-43EC-9136-1D81371FEE47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3DCFB-12CD-4DAE-BBD4-16A1DFAADA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4109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12A0B8-7CD9-B74F-AD7D-AA5C00691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E65EBCF-2F36-CF46-9DD1-6FFE1AA5A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488EE4F-7D91-234B-8366-AA898561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9D6E736-D18C-C440-B2A3-19ECC784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482C50-33CE-4643-B22A-C50A02C7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487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312382-F59E-E44D-94A0-09384B0F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6D9B72-D3A8-E240-AEF8-FE471ED66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B1322A-D814-E643-B637-F028244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2582D07-6D20-5949-950C-B5A20A0F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8D4B1F6-7694-B744-8AAA-4BECF121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654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BB9133-18E9-7041-99FE-48C21A3B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142A014-6DBE-244A-8639-0EE92109B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A43E15A-394F-0044-AF14-DF4A8E99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36113B3-E6C6-874A-90AD-FD4D22C5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E3EE12-20EA-8E44-9CBB-3793CBA5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881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DE5D64-D6D9-1B4C-880B-F020BD5B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614EDC-B75D-FD4A-913F-EB03DAD50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9E8DC66-2F12-BF45-BDF1-EB4DE2DCF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0EB4623-12A7-9540-B93C-840D6334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EBF5A08-683B-A041-B5AF-469F3D01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7AF5A4F-3422-8D4C-B532-C19D5521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672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85C4E5-E52A-DF43-85E4-57E96D05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46582EA-A382-1A41-AA8F-C0DD08B5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1AAA910-32F1-1540-8CA3-526201D04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BDC8A26-902D-E743-9638-6203DB672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F5DAED4-7A45-A34F-956E-DACEA7541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5ACEEAF-4684-F04E-80D2-76BE89884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B223AD2-9BE0-0A4D-B738-5296F04B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BEB5DF6-944F-E94C-A1BA-10A5A661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754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3F0FF1-32E6-FD40-8A9C-E85D7C19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D2C6123-FE18-C44A-A357-D8B6B0B5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8C92C8A-24FE-B446-8032-DED13B38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B36637B-5E7C-0847-BC64-C4471406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969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A6A8CB8-EFDA-1841-AB52-284AC13E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18FACD0-1C0C-F844-A6D9-6990A191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36F959D-05A5-F54F-866D-1FC89F6D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73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3FE235-85E2-1A43-BF30-19167724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CC76E4-8C64-B342-B4EC-44F76008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C9758BE-896D-4443-9F29-4E18D53FB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5AB6F4E-2BB2-9542-83B0-174B6AC1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8C1D8FA-7F1B-BE43-BC85-4673B367B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695DCC4-1DAA-064E-8320-65BC1EBE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034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589E15-52F3-DB45-A42D-3F61DE42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87BD87E-B3E7-DF45-95D0-286AFA3AB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B831928-3F51-F445-ADB5-05183485E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DB8D77B-5A0A-F64D-B935-6497FC34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0606790-016F-E54D-85B0-4B1E659B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CED7389-4408-AA49-B7D2-C64C6652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496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23ABBF-61CE-2343-B786-F51900E1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E49DC93-9DC1-4049-A045-E6FBD9BED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6BD782-94F5-5941-B929-871FD568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5E8FD7-FD2E-E44E-8873-B0F5664F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F22D4D-9D52-8947-9398-81B831C5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734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9D8B94DF-9C10-F744-84AC-2D788A9B6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EE070A1-AF86-9443-AEFA-9B376AB8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693308C-5B7C-B949-A2F9-F004509B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0646E30-46C7-B14D-9F74-F28EF834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43329E-064A-C547-89FC-FB32F811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48210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F91565E-1330-4B41-9057-C6551F41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04A2AE8-5086-4F49-AEF5-F297986E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A47F096-3E19-C541-9264-4ADD4AFAB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2EC1A-E248-0345-9930-A1AA535348D4}" type="datetimeFigureOut">
              <a:rPr lang="tr-TR" smtClean="0"/>
              <a:t>4.06.2026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3A27738-D8F5-9F47-8FC7-84CD34D5D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3EFD96A-A9C0-114E-84B0-21F7E892B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0F883-CC7D-2543-97CB-E121364E9F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678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Kadro mu büyüdü, iş mi büyüdü?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Sezon 2026 · beş mağaza kadrosu · üç POS mağazası iş hacmi · 2025 ile aynı takvim dönemi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Beş soruda cevap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572768"/>
            <a:ext cx="530352" cy="530352"/>
          </a:xfrm>
          <a:prstGeom prst="ellipse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" y="1692097"/>
            <a:ext cx="291693" cy="2916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Kadro ne oldu?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Taban 30.06 · sezon içi hareket · sezonluk.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566160" cy="64008"/>
          </a:xfrm>
          <a:prstGeom prst="rect">
            <a:avLst/>
          </a:prstGeom>
          <a:solidFill>
            <a:srgbClr val="C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572768"/>
            <a:ext cx="530352" cy="530352"/>
          </a:xfrm>
          <a:prstGeom prst="ellipse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329" y="1692097"/>
            <a:ext cx="291693" cy="2916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İş ne oldu?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Elleçlenen ürün adedi ve ciro, aynı dönemde.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64008"/>
          </a:xfrm>
          <a:prstGeom prst="rect">
            <a:avLst/>
          </a:prstGeom>
          <a:solidFill>
            <a:srgbClr val="7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1572768"/>
            <a:ext cx="530352" cy="530352"/>
          </a:xfrm>
          <a:prstGeom prst="ellipse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089" y="1692097"/>
            <a:ext cx="291693" cy="2916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Kişi başına düşen iş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4203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Asıl ölçü: adam başı kaç ürün, kaç lira.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3756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3566160" cy="640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538728"/>
            <a:ext cx="530352" cy="530352"/>
          </a:xfrm>
          <a:prstGeom prst="ellipse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69" y="3658057"/>
            <a:ext cx="291693" cy="29169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Artış nereye gitti?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0799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Yönetime mi, rafın önüne mi?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33756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337560"/>
            <a:ext cx="3566160" cy="6400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3538728"/>
            <a:ext cx="530352" cy="530352"/>
          </a:xfrm>
          <a:prstGeom prst="ellipse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hield-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329" y="3658057"/>
            <a:ext cx="291693" cy="29169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Gelebilecek itirazlar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50799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Enflasyon · kurumsal · kasa değişimi · takvim.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33756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337560"/>
            <a:ext cx="356616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6760" y="3538728"/>
            <a:ext cx="530352" cy="530352"/>
          </a:xfrm>
          <a:prstGeom prst="ellipse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lert-triang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089" y="3658057"/>
            <a:ext cx="291693" cy="29169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6676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Düzeltmemiz gereken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50799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Yeni alınanın ilk iki hafta tutunması.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 sayfada cevap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727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TABAN FARKI · 30.06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4708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30622"/>
                </a:solidFill>
                <a:latin typeface="Calibri"/>
              </a:rPr>
              <a:t>+14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0545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kadrolu 139 → 153 kişi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5176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5727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SEZON İÇİ KADROLU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84708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30622"/>
                </a:solidFill>
                <a:latin typeface="Calibri"/>
              </a:rPr>
              <a:t>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50545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153 → 149 · geçen yıl 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51760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727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ÜRÜN ADEDİ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84708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A6001A"/>
                </a:solidFill>
                <a:latin typeface="Calibri"/>
              </a:rPr>
              <a:t>+%34,9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50545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574.718 → 775.192 adet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37160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371600"/>
            <a:ext cx="2651760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15727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KİŞİ BAŞI ÜRÜN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184708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A6001A"/>
                </a:solidFill>
                <a:latin typeface="Calibri"/>
              </a:rPr>
              <a:t>+%20,6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50545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4.019 → 4.845 adet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1101852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6001A"/>
                </a:solidFill>
                <a:latin typeface="Calibri"/>
              </a:rPr>
              <a:t>Kadro farkı sezon başlamadan önce kurulmuştu; sezon içinde kadro küçülürken iş hacmi %34,9 büyüdü.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8912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5394960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98848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KADRO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73168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  <a:latin typeface="Calibri"/>
              </a:rPr>
              <a:t>143 → 160 kişi  (+%11,9)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8912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389120"/>
            <a:ext cx="539496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498848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İŞ HACMİ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73168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30622"/>
                </a:solidFill>
                <a:latin typeface="Calibri"/>
              </a:rPr>
              <a:t>iş, kadronun 2,9 katı hızla büyüdü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Kadro ne oldu?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Bölüm 1 — taban 30 Haziran, kesim 31 Ağustos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Fark sezon başlamadan önce oluştu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084831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84831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5361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2025 tabanı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65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A9A9A"/>
                </a:solidFill>
                <a:latin typeface="Calibri"/>
              </a:rPr>
              <a:t>139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70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9A9A"/>
                </a:solidFill>
                <a:latin typeface="Calibri"/>
              </a:rPr>
              <a:t>30 Haziran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2011680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A9A9A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9776" y="1417320"/>
            <a:ext cx="2084831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9776" y="1417320"/>
            <a:ext cx="2084831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5361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1 Tem'den önce eklenen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0622"/>
                </a:solidFill>
                <a:latin typeface="Calibri"/>
              </a:rPr>
              <a:t>+14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70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9A9A"/>
                </a:solidFill>
                <a:latin typeface="Calibri"/>
              </a:rPr>
              <a:t>sezon başlamadan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011680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A9A9A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1417320"/>
            <a:ext cx="2084831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10912" y="1417320"/>
            <a:ext cx="2084831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5361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2026 tabanı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965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A9A9A"/>
                </a:solidFill>
                <a:latin typeface="Calibri"/>
              </a:rPr>
              <a:t>153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670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9A9A"/>
                </a:solidFill>
                <a:latin typeface="Calibri"/>
              </a:rPr>
              <a:t>30 Haziran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011680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A9A9A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8" y="1417320"/>
            <a:ext cx="2084831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42048" y="1417320"/>
            <a:ext cx="2084831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15361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Sezon içi değişim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1965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A6001A"/>
                </a:solidFill>
                <a:latin typeface="Calibri"/>
              </a:rPr>
              <a:t>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2670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9A9A"/>
                </a:solidFill>
                <a:latin typeface="Calibri"/>
              </a:rPr>
              <a:t>1 Tem – 31 Ağu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011680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A9A9A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73184" y="1417320"/>
            <a:ext cx="2084831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73184" y="1417320"/>
            <a:ext cx="2084831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153619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31 Ağustos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1965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9A9A9A"/>
                </a:solidFill>
                <a:latin typeface="Calibri"/>
              </a:rPr>
              <a:t>149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670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9A9A"/>
                </a:solidFill>
                <a:latin typeface="Calibri"/>
              </a:rPr>
              <a:t>sezon zirvesi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48640" y="3383280"/>
          <a:ext cx="557784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400800" y="3474720"/>
            <a:ext cx="5166360" cy="1600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584448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6001A"/>
                </a:solidFill>
                <a:latin typeface="Calibri"/>
              </a:rPr>
              <a:t>Sezon içinde kadro büyümedi.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Kadrolu 153 → 149 (-4). Geçen yıl da aynı yönde (-4): sezonda alınan kadrolu, ayrılanların yerine geldi — kadroyu büyütmedi.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Mağaza mağaza kadro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11018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6916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Mağaza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Kadrolu 30.06 · 2025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Kadrolu 30.06 · 2026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Kadrolu 31.08 · 2026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Sezon içi hareket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Sezonluk 31.08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İst. Yolu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Özlüce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FSM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Heykel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Şura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00600"/>
            <a:ext cx="11018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Heykel ve Şura POS raporlamasında yok — iş hacmi üç mağazada ölçülür, kadro hareketi beş mağazanın tamamında verilir.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İş ne oldu?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Bölüm 2 — okul açılışına hizalı 56 gün, Sınav hariç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Aynı dönemde iş hacmi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727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ELLEÇLENEN ÜRÜN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47088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6001A"/>
                </a:solidFill>
                <a:latin typeface="Calibri"/>
              </a:rPr>
              <a:t>+%34,9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05456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574.718 → 775.192 adet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7160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1371600"/>
            <a:ext cx="3566160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727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CİRO (KDV DAHİL)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847088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6001A"/>
                </a:solidFill>
                <a:latin typeface="Calibri"/>
              </a:rPr>
              <a:t>+%70,7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505456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71,8 → 122,6 milyon 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3566160" cy="6400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5727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KADRO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47088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B2B"/>
                </a:solidFill>
                <a:latin typeface="Calibri"/>
              </a:rPr>
              <a:t>+%11,9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505456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143 → 160 kişi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48640" y="3200400"/>
          <a:ext cx="557784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400800" y="3383280"/>
            <a:ext cx="5166360" cy="1828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47548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6001A"/>
                </a:solidFill>
                <a:latin typeface="Calibri"/>
              </a:rPr>
              <a:t>Ürün adedi neden birincil ölçü?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Adet enflasyondan etkilenmez — fiilen kasadan geçen, rafa dizilen, depodan çıkan mal miktarıdır. Ciro fiyat artışıyla şişebilir; adet şişmez.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Kıyas okul açılışına hizalı: 2025 açılış 8 Eylül, 2026 açılış 14 Eylül — her iki yıl da açılıştan geriye 56 gün. Kaynak: DerinSIS mağaza satışı, Sınav hariç, iadeler düşülmüş.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Kişi başına düşen iş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576072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583680" y="160020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1600200"/>
            <a:ext cx="498348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709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B2B"/>
                </a:solidFill>
                <a:latin typeface="Calibri"/>
              </a:rPr>
              <a:t>Özlüce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0574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33333"/>
                </a:solidFill>
                <a:latin typeface="Calibri"/>
              </a:rPr>
              <a:t>4.525 → 5.579 adet/kişi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70992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A6001A"/>
                </a:solidFill>
                <a:latin typeface="Calibri"/>
              </a:rPr>
              <a:t>+%23,3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78892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788920"/>
            <a:ext cx="498348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898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B2B"/>
                </a:solidFill>
                <a:latin typeface="Calibri"/>
              </a:rPr>
              <a:t>İst. Yolu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2461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33333"/>
                </a:solidFill>
                <a:latin typeface="Calibri"/>
              </a:rPr>
              <a:t>3.468 → 4.232 adet/kişi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89864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A6001A"/>
                </a:solidFill>
                <a:latin typeface="Calibri"/>
              </a:rPr>
              <a:t>+%22,0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977639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977639"/>
            <a:ext cx="498348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0873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B2B"/>
                </a:solidFill>
                <a:latin typeface="Calibri"/>
              </a:rPr>
              <a:t>FSM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348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33333"/>
                </a:solidFill>
                <a:latin typeface="Calibri"/>
              </a:rPr>
              <a:t>4.061 → 4.795 adet/kişi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08736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A6001A"/>
                </a:solidFill>
                <a:latin typeface="Calibri"/>
              </a:rPr>
              <a:t>+%18,1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1018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Calibri"/>
              </a:rPr>
              <a:t>Kişi başı = o mağazada 31 Ağustos'ta fiilen çalışan TÜM personel (sezonluk dahil). En çok kadro büyüyen mağazada (İst. Yolu 50 → 61 kişi) bile kişi başı iş arttı.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Kişi başına iş — dört yıllık seyir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658368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06640" y="1600200"/>
            <a:ext cx="4160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06640" y="1600200"/>
            <a:ext cx="4160520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709928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B2B2B"/>
                </a:solidFill>
                <a:latin typeface="Calibri"/>
              </a:rPr>
              <a:t>2024'te kadro atladı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039112"/>
            <a:ext cx="3703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Kadrolu 60 → 91. Adet yalnız %11 arttı → kişi başı iş düştü.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834640"/>
            <a:ext cx="4160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2834640"/>
            <a:ext cx="4160520" cy="64008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2944368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B2B2B"/>
                </a:solidFill>
                <a:latin typeface="Calibri"/>
              </a:rPr>
              <a:t>Ama 2023 'norm' değil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273552"/>
            <a:ext cx="3703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O yıl FSM kasada 0, Özlüce kasada 1 kişi vardı — eksik kadroyla çalışma.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069080"/>
            <a:ext cx="4160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069080"/>
            <a:ext cx="416052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178808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B2B2B"/>
                </a:solidFill>
                <a:latin typeface="Calibri"/>
              </a:rPr>
              <a:t>2024 → 2026 toparlanma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07992"/>
            <a:ext cx="3703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Kişi başı iş %28,8 arttı; bu yıl kadro büyürken verim de arttı.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18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A9A"/>
                </a:solidFill>
                <a:latin typeface="Calibri"/>
              </a:rPr>
              <a:t>Ocak–Ağustos kümülatif, üç POS mağazası, Sınav hariç. Kadro = 31.08 itibarıyla kadrolu (sezonluk hariç — yıllar arası tahliye zamanlaması kıyası bozar).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Artış nereye gitti?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Bölüm 3 — bölüm bölüm kadro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Yönetimde değil, rafın önünde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658368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06640" y="1463040"/>
            <a:ext cx="41605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06640" y="1463040"/>
            <a:ext cx="4160520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572768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BÜYÜMEYEN BÖLÜMLER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01952"/>
            <a:ext cx="3703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B2B2B"/>
                </a:solidFill>
                <a:latin typeface="Calibri"/>
              </a:rPr>
              <a:t>Yönetim +0  ·  Mal Kabul +0  ·  İdari İşler +0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Bu üç bölüm bir kişi bile büyümedi.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00400"/>
            <a:ext cx="4160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3200400"/>
            <a:ext cx="416052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310128"/>
            <a:ext cx="3703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E6E"/>
                </a:solidFill>
                <a:latin typeface="Calibri"/>
              </a:rPr>
              <a:t>BÜYÜYEN BÖLÜMLER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639312"/>
            <a:ext cx="3703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6001A"/>
                </a:solidFill>
                <a:latin typeface="Calibri"/>
              </a:rPr>
              <a:t>Yardımcı Kitap +6  ·  Kırtasiye +3  ·  Kasa +2  ·  Akademi +2  ·  Şura +2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18520" cy="7772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A6001A"/>
                </a:solidFill>
                <a:latin typeface="Calibri"/>
              </a:rPr>
              <a:t>Kadrolu +14 kişinin tamamı satış ve kasa tarafında. Yönetim kadrosu bir kişi bile büyümedi.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Mağaza × bölüm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185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08760"/>
                <a:gridCol w="1371600"/>
                <a:gridCol w="1234440"/>
                <a:gridCol w="1417320"/>
                <a:gridCol w="1234440"/>
                <a:gridCol w="1508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Bölüm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İst. Yolu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Özlüce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FSM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Heykel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Şura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Yardımcı Kitap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Kırtasiye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Akademi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Kasa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Şura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Kültür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Etkinlik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Oyuncak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Mağaza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İdari İşler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MAL Kabul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6001A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Çocuk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285232"/>
            <a:ext cx="11018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Calibri"/>
              </a:rPr>
              <a:t>'—' o mağazada o bölüm hiç yok. Yönetim (Mağaza), Mal Kabul ve İdari İşler satırları her mağazada sıfır veya eksi: artış yalnız satış ve kasa reyonlarında.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Mağaza performansı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18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371600"/>
                <a:gridCol w="1691640"/>
                <a:gridCol w="1371600"/>
                <a:gridCol w="155448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Mağaza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Kadro 31.08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Kadro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Ürün adedi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Ciro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Adet/kişi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İş ÷ kadro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Özlüce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51 → 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+%5,9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+%30,5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+%57,6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+%23,3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5,2x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İst. Yolu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50 → 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+%22,0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+%48,9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+%96,1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+%22,0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2,2x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FSM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42 →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+%7,1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+%26,5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+%62,3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A6001A"/>
                          </a:solidFill>
                          <a:latin typeface="Calibri"/>
                        </a:rPr>
                        <a:t>+%18,1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3,7x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143 → 160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+%11,9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+%34,9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+%70,7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+%20,6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2,9x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3291840"/>
          <a:ext cx="6766560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98079" y="3474720"/>
            <a:ext cx="4069080" cy="17830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361188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A6001A"/>
                </a:solidFill>
                <a:latin typeface="Calibri"/>
              </a:rPr>
              <a:t>Her mağazada aynı desen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Calibri"/>
              </a:rPr>
              <a:t>Kırmızı ve koyu çubuk (iş) gri çubuğun (kadro) hep üstünde. En çok kadro büyüyen İst. Yolu'nda bile iş, kadronun 2,2 katı hızla büyüdü.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Kadro, işin büyüdüğü rafa gitti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651760"/>
                <a:gridCol w="1371600"/>
                <a:gridCol w="1371600"/>
                <a:gridCol w="12344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Bakan bölüm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Ürün adedi 2025 → 2026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Adet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Ciro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Bölüm kadro Δ</a:t>
                      </a:r>
                    </a:p>
                  </a:txBody>
                  <a:tcPr>
                    <a:solidFill>
                      <a:srgbClr val="E3062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Hazırlık Kitapları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Yardımcı Kitap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38.847 → 54.032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+%39,1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+%91,7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+6 kişi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Kırtasiye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Kırtasiye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222.233 → 296.797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+%33,6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+%75,0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+3 kişi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Akademi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Akademi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7.328 → 24.841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+%239,0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+%242,1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+2 kişi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Kitap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Kültür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66.399 → 83.655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+%26,0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+%59,7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+1 kişi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Oyuncak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Oyuncak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37.135 → 58.662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+%58,0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+%50,4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+1 kişi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Çocuk Kitabı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Çocuk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73.247 → 85.696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+%17,0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001A"/>
                          </a:solidFill>
                          <a:latin typeface="Calibri"/>
                        </a:rPr>
                        <a:t>+%54,7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-1 kişi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3977639"/>
          <a:ext cx="676656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03320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E6E"/>
                </a:solidFill>
                <a:latin typeface="Calibri"/>
              </a:rPr>
              <a:t>Ürün adedi büyümesi (%) — kategori bazında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023360"/>
            <a:ext cx="406908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411480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A6001A"/>
                </a:solidFill>
                <a:latin typeface="Calibri"/>
              </a:rPr>
              <a:t>Alım rastgele değil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Calibri"/>
              </a:rPr>
              <a:t>Kadro, adedi en hızlı büyüyen raflara verildi. En yavaş büyüyen kategoride (Çocuk Kitabı) kadro azaltıldı.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Gelebilecek itirazlar ve cevapları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018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1852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le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81328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417320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001A"/>
                </a:solidFill>
                <a:latin typeface="Calibri"/>
              </a:rPr>
              <a:t>"Büyüme kurumsaldan geldi"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737360"/>
            <a:ext cx="10058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33333"/>
                </a:solidFill>
                <a:latin typeface="Calibri"/>
              </a:rPr>
              <a:t>Tersi: Sınav Okulları küçüldü. Ocak–Ağustos cirosu 136,1 → 105,6 milyon TL (−%22,4). Mağaza tarafı +%54,9 büyüdü — büyümenin tamamı raftan geldi.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4872"/>
            <a:ext cx="11018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1018520" cy="64008"/>
          </a:xfrm>
          <a:prstGeom prst="rect">
            <a:avLst/>
          </a:prstGeom>
          <a:solidFill>
            <a:srgbClr val="C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rcle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0432" y="2496312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001A"/>
                </a:solidFill>
                <a:latin typeface="Calibri"/>
              </a:rPr>
              <a:t>"Ciro enflasyonla şişti"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16352"/>
            <a:ext cx="10058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33333"/>
                </a:solidFill>
                <a:latin typeface="Calibri"/>
              </a:rPr>
              <a:t>Kısmen doğru: eşleşen ürünlerde fiyat endeksi +%19,8. Bu yüzden savunma ciroya değil ADEDE dayanıyor: ürün adedi +%34,9 ve adet fiyattan etkilenmez.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83863"/>
            <a:ext cx="11018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83863"/>
            <a:ext cx="11018520" cy="64008"/>
          </a:xfrm>
          <a:prstGeom prst="rect">
            <a:avLst/>
          </a:prstGeom>
          <a:solidFill>
            <a:srgbClr val="E30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ircle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9311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432" y="3575303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001A"/>
                </a:solidFill>
                <a:latin typeface="Calibri"/>
              </a:rPr>
              <a:t>"Kasalar değişti, kıyaslanamaz"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95344"/>
            <a:ext cx="10058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33333"/>
                </a:solidFill>
                <a:latin typeface="Calibri"/>
              </a:rPr>
              <a:t>Bu yüzden ölçüm POS'tan değil ERP'den (DerinSIS) alındı — iki yılda da aynı kaynak, aynı belge tipi. Temmuz 2025 kasa geçişi ölçüye girmiyor.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62855"/>
            <a:ext cx="11018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62855"/>
            <a:ext cx="11018520" cy="64008"/>
          </a:xfrm>
          <a:prstGeom prst="rect">
            <a:avLst/>
          </a:prstGeom>
          <a:solidFill>
            <a:srgbClr val="C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ircle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18303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0432" y="4654295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001A"/>
                </a:solidFill>
                <a:latin typeface="Calibri"/>
              </a:rPr>
              <a:t>"Ağustos'ta ivme düştü"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974336"/>
            <a:ext cx="10058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33333"/>
                </a:solidFill>
                <a:latin typeface="Calibri"/>
              </a:rPr>
              <a:t>Takvim etkisi: okullar 2025'te 8 Eylül, 2026'da 14 Eylül açıldı — sezon 6 gün geriye kaydı. Açılışa hizalanınca haftalık büyüme %65–79 bandında düz seyrediyor.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Düzeltmemiz gereken taraf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64008"/>
          </a:xfrm>
          <a:prstGeom prst="rect">
            <a:avLst/>
          </a:prstGeom>
          <a:solidFill>
            <a:srgbClr val="A6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E6E6E"/>
                </a:solidFill>
                <a:latin typeface="Calibri"/>
              </a:rPr>
              <a:t>KADROLU ALIMDA TUTUNMA DÜŞTÜ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6001A"/>
                </a:solidFill>
                <a:latin typeface="Calibri"/>
              </a:rPr>
              <a:t>%95,7 → %75,0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Calibri"/>
              </a:rPr>
              <a:t>İlk 14 günü tamamlama oranı. 32 alımdan 10'u kesime kadar ayrıldı (geçen yıl 24 alımdan 2). Aynı pozisyonu iki kez doldurma maliyeti.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394960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E6E6E"/>
                </a:solidFill>
                <a:latin typeface="Calibri"/>
              </a:rPr>
              <a:t>SEZONLUK TARAFTA TERSİ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6001A"/>
                </a:solidFill>
                <a:latin typeface="Calibri"/>
              </a:rPr>
              <a:t>%93,9 → %95,1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Calibri"/>
              </a:rPr>
              <a:t>Sezon kadrosunun tutunması İYİLEŞTİ. Yani sorun sezonluk alımda değil, kadrolu alımın ilk haftasında.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11018520" cy="1600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30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A6001A"/>
                </a:solidFill>
                <a:latin typeface="Calibri"/>
              </a:rPr>
              <a:t>Aksiyon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• En bozuk üç nokta: Özlüce, Heykel, Merkez Depo → ilk hafta karşılama protokolü.
• İdari İşler pozisyonunda ücret–vardiya revizyonu.
• Ölçüt: gelecek sezon Eylül öncesi kayıp %20'den %12'ye (2025 seviyesi).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9A9A"/>
                </a:solidFill>
                <a:latin typeface="Calibri"/>
              </a:rPr>
              <a:t>© Fikri Eren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Kadro değil, iş büyüdü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Taban farkı sezon başlamadan kurulmuştu · sezon içinde kadrolu -4 · ürün adedi +%34,9 · kişi başı iş +%20,6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10211</TotalTime>
  <Words>12</Words>
  <Application>Microsoft Office PowerPoint</Application>
  <PresentationFormat>Geniş ekran</PresentationFormat>
  <Paragraphs>6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Microsoft Office User</dc:creator>
  <cp:lastModifiedBy>Fikri EREN</cp:lastModifiedBy>
  <cp:revision>38</cp:revision>
  <dcterms:created xsi:type="dcterms:W3CDTF">2021-08-17T14:49:48Z</dcterms:created>
  <dcterms:modified xsi:type="dcterms:W3CDTF">2026-06-03T21:08:53Z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2026-04-28T14:42:08Z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ce838670-1954-4442-b940-eac0d507ddc2</vt:lpwstr>
  </property>
  <property fmtid="{D5CDD505-2E9C-101B-9397-08002B2CF9AE}" pid="7" name="MSIP_Label_defa4170-0d19-0005-0004-bc88714345d2_ActionId">
    <vt:lpwstr>6985f007-4c57-476a-a6d9-44ba75cd90f5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