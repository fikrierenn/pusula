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56" r:id="rId4"/>
    <p:sldId id="257" r:id="rId3"/>
    <p:sldId id="258" r:id="rId2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2000" cy="6858000"/>
  <p:notesSz cx="6858000" cy="9144000"/>
  <p:defaultTextStyle>
    <a:defPPr>
      <a:defRPr lang="tr-T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00"/>
    <a:srgbClr val="E7433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Orta Stil 2 - Vurgu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87737" autoAdjust="0"/>
  </p:normalViewPr>
  <p:slideViewPr>
    <p:cSldViewPr snapToGrid="0" snapToObjects="1">
      <p:cViewPr varScale="1">
        <p:scale>
          <a:sx n="83" d="100"/>
          <a:sy n="83" d="100"/>
        </p:scale>
        <p:origin x="658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3.xml"/><Relationship Id="rId3" Type="http://schemas.openxmlformats.org/officeDocument/2006/relationships/slide" Target="slides/slide2.xml"/><Relationship Id="rId4" Type="http://schemas.openxmlformats.org/officeDocument/2006/relationships/slide" Target="slides/slide1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9A9A"/>
            </a:solidFill>
          </c:spPr>
          <c:cat>
            <c:strRef>
              <c:f>Sheet1!$A$2:$A$3</c:f>
              <c:strCache>
                <c:ptCount val="2"/>
                <c:pt idx="0">
                  <c:v>Taban 30.06</c:v>
                </c:pt>
                <c:pt idx="1">
                  <c:v>Kesim 31.08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139</c:v>
                </c:pt>
                <c:pt idx="1">
                  <c:v>135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Sheet1!$A$2:$A$3</c:f>
              <c:strCache>
                <c:ptCount val="2"/>
                <c:pt idx="0">
                  <c:v>Taban 30.06</c:v>
                </c:pt>
                <c:pt idx="1">
                  <c:v>Kesim 31.08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153</c:v>
                </c:pt>
                <c:pt idx="1">
                  <c:v>149</c:v>
                </c:pt>
              </c:numCache>
            </c:numRef>
          </c:val>
        </c:ser>
        <c:dLbls>
          <c:numFmt sourceLinked="0" formatCode="#,##0"/>
          <c:txPr>
            <a:bodyPr/>
            <a:lstStyle/>
            <a:p>
              <a:pPr>
                <a:defRPr sz="9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9A9A"/>
            </a:solidFill>
          </c:spPr>
          <c:cat>
            <c:strRef>
              <c:f>Sheet1!$A$2:$A$4</c:f>
              <c:strCache>
                <c:ptCount val="3"/>
                <c:pt idx="0">
                  <c:v>Ürün adedi (bin)</c:v>
                </c:pt>
                <c:pt idx="1">
                  <c:v>Ciro (milyon TL)</c:v>
                </c:pt>
                <c:pt idx="2">
                  <c:v>Kadro (kişi)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574.7176999999999</c:v>
                </c:pt>
                <c:pt idx="1">
                  <c:v>71.83742912000012</c:v>
                </c:pt>
                <c:pt idx="2">
                  <c:v>143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Sheet1!$A$2:$A$4</c:f>
              <c:strCache>
                <c:ptCount val="3"/>
                <c:pt idx="0">
                  <c:v>Ürün adedi (bin)</c:v>
                </c:pt>
                <c:pt idx="1">
                  <c:v>Ciro (milyon TL)</c:v>
                </c:pt>
                <c:pt idx="2">
                  <c:v>Kadro (kişi)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775.19155</c:v>
                </c:pt>
                <c:pt idx="1">
                  <c:v>122.60138085000007</c:v>
                </c:pt>
                <c:pt idx="2">
                  <c:v>160</c:v>
                </c:pt>
              </c:numCache>
            </c:numRef>
          </c:val>
        </c:ser>
        <c:dLbls>
          <c:numFmt sourceLinked="0" formatCode="#,##0"/>
          <c:txPr>
            <a:bodyPr/>
            <a:lstStyle/>
            <a:p>
              <a:pPr>
                <a:defRPr sz="9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9A9A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4524.798039215687</c:v>
                </c:pt>
                <c:pt idx="1">
                  <c:v>3467.96</c:v>
                </c:pt>
                <c:pt idx="2">
                  <c:v>4060.8333333333335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5578.70462962963</c:v>
                </c:pt>
                <c:pt idx="1">
                  <c:v>4232.270491803279</c:v>
                </c:pt>
                <c:pt idx="2">
                  <c:v>4794.955555555555</c:v>
                </c:pt>
              </c:numCache>
            </c:numRef>
          </c:val>
        </c:ser>
        <c:dLbls>
          <c:numFmt sourceLinked="0" formatCode="#,##0"/>
          <c:txPr>
            <a:bodyPr/>
            <a:lstStyle/>
            <a:p>
              <a:pPr>
                <a:defRPr sz="9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adet / kişi</c:v>
                </c:pt>
              </c:strCache>
            </c:strRef>
          </c:tx>
          <c:spPr>
            <a:ln w="31750">
              <a:solidFill>
                <a:srgbClr val="E30622"/>
              </a:solidFill>
            </a:ln>
          </c:spPr>
          <c:marker>
            <c:symbol val="circle"/>
            <c:size val="7"/>
            <c:spPr>
              <a:solidFill>
                <a:srgbClr val="E30622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34404.7405</c:v>
                </c:pt>
                <c:pt idx="1">
                  <c:v>25239.9278021978</c:v>
                </c:pt>
                <c:pt idx="2">
                  <c:v>28670.6775</c:v>
                </c:pt>
                <c:pt idx="3">
                  <c:v>32498.27846846847</c:v>
                </c:pt>
              </c:numCache>
            </c:numRef>
          </c:val>
          <c:smooth val="0"/>
        </c:ser>
        <c:dLbls>
          <c:numFmt sourceLinked="0" formatCode="#,##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100">
          <a:latin typeface="Calibri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kadrolu değişim (kişi)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Sheet1!$A$2:$A$9</c:f>
              <c:strCache>
                <c:ptCount val="8"/>
                <c:pt idx="0">
                  <c:v>Yardımcı Kitap</c:v>
                </c:pt>
                <c:pt idx="1">
                  <c:v>Kırtasiye</c:v>
                </c:pt>
                <c:pt idx="2">
                  <c:v>Kasa</c:v>
                </c:pt>
                <c:pt idx="3">
                  <c:v>Akademi</c:v>
                </c:pt>
                <c:pt idx="4">
                  <c:v>Şura</c:v>
                </c:pt>
                <c:pt idx="5">
                  <c:v>Mağaza</c:v>
                </c:pt>
                <c:pt idx="6">
                  <c:v>Mal Kabul</c:v>
                </c:pt>
                <c:pt idx="7">
                  <c:v>İdari İşler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</c:v>
                </c:pt>
                <c:pt idx="1">
                  <c:v>3</c:v>
                </c:pt>
                <c:pt idx="2">
                  <c:v>2</c:v>
                </c:pt>
                <c:pt idx="3">
                  <c:v>2</c:v>
                </c:pt>
                <c:pt idx="4">
                  <c:v>2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</c:numCache>
            </c:numRef>
          </c:val>
        </c:ser>
        <c:dLbls>
          <c:numFmt sourceLinked="0" formatCode="+0;-0;0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50">
          <a:latin typeface="Calibri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9A9A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</c:numCache>
            </c:numRef>
          </c:val>
        </c:ser>
        <c:dLbls>
          <c:numFmt sourceLinked="0" formatCode="#,##0"/>
          <c:txPr>
            <a:bodyPr/>
            <a:lstStyle/>
            <a:p>
              <a:pPr>
                <a:defRPr sz="9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kadro Δ%</c:v>
                </c:pt>
              </c:strCache>
            </c:strRef>
          </c:tx>
          <c:spPr>
            <a:solidFill>
              <a:srgbClr val="9A9A9A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5.882352941176472</c:v>
                </c:pt>
                <c:pt idx="1">
                  <c:v>21.999999999999996</c:v>
                </c:pt>
                <c:pt idx="2">
                  <c:v>7.14285714285714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ürün adedi Δ%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30.5442513521349</c:v>
                </c:pt>
                <c:pt idx="1">
                  <c:v>48.88781877530306</c:v>
                </c:pt>
                <c:pt idx="2">
                  <c:v>26.512268769605107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ciro Δ%</c:v>
                </c:pt>
              </c:strCache>
            </c:strRef>
          </c:tx>
          <c:spPr>
            <a:solidFill>
              <a:srgbClr val="7A1020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57.55862375814158</c:v>
                </c:pt>
                <c:pt idx="1">
                  <c:v>96.12850541161207</c:v>
                </c:pt>
                <c:pt idx="2">
                  <c:v>62.26752661005723</c:v>
                </c:pt>
              </c:numCache>
            </c:numRef>
          </c:val>
        </c:ser>
        <c:dLbls>
          <c:numFmt sourceLinked="0" formatCode="0&quot;%&quot;"/>
          <c:txPr>
            <a:bodyPr/>
            <a:lstStyle/>
            <a:p>
              <a:pPr>
                <a:defRPr sz="85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950">
          <a:latin typeface="Calibri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ürün adedi Δ%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Sheet1!$A$2:$A$7</c:f>
              <c:strCache>
                <c:ptCount val="6"/>
                <c:pt idx="0">
                  <c:v>Hazırlık Kitapları</c:v>
                </c:pt>
                <c:pt idx="1">
                  <c:v>Kırtasiye</c:v>
                </c:pt>
                <c:pt idx="2">
                  <c:v>Akademi</c:v>
                </c:pt>
                <c:pt idx="3">
                  <c:v>Kitap</c:v>
                </c:pt>
                <c:pt idx="4">
                  <c:v>Oyuncak</c:v>
                </c:pt>
                <c:pt idx="5">
                  <c:v>Çocuk Kitabı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39.08924756094421</c:v>
                </c:pt>
                <c:pt idx="1">
                  <c:v>33.552172719623094</c:v>
                </c:pt>
                <c:pt idx="2">
                  <c:v>238.98744541484714</c:v>
                </c:pt>
                <c:pt idx="3">
                  <c:v>25.988343197939724</c:v>
                </c:pt>
                <c:pt idx="4">
                  <c:v>57.96957048606437</c:v>
                </c:pt>
                <c:pt idx="5">
                  <c:v>16.995917921553104</c:v>
                </c:pt>
              </c:numCache>
            </c:numRef>
          </c:val>
        </c:ser>
        <c:dLbls>
          <c:numFmt sourceLinked="0" formatCode="0&quot;%&quot;"/>
          <c:txPr>
            <a:bodyPr/>
            <a:lstStyle/>
            <a:p>
              <a:pPr>
                <a:defRPr sz="85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Calibri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 gerçekleşen</c:v>
                </c:pt>
              </c:strCache>
            </c:strRef>
          </c:tx>
          <c:spPr>
            <a:solidFill>
              <a:srgbClr val="9A9A9A"/>
            </a:solidFill>
          </c:spPr>
          <c:cat>
            <c:strRef>
              <c:f>Sheet1!$A$2:$A$2</c:f>
              <c:strCache>
                <c:ptCount val="1"/>
                <c:pt idx="0">
                  <c:v>Ağustos (adet, bin)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458.50870000000003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gerçekleşen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Sheet1!$A$2:$A$2</c:f>
              <c:strCache>
                <c:ptCount val="1"/>
                <c:pt idx="0">
                  <c:v>Ağustos (adet, bin)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483.65855000000005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 kayma olmasaydı</c:v>
                </c:pt>
              </c:strCache>
            </c:strRef>
          </c:tx>
          <c:spPr>
            <a:solidFill>
              <a:srgbClr val="7A1020"/>
            </a:solidFill>
          </c:spPr>
          <c:cat>
            <c:strRef>
              <c:f>Sheet1!$A$2:$A$2</c:f>
              <c:strCache>
                <c:ptCount val="1"/>
                <c:pt idx="0">
                  <c:v>Ağustos (adet, bin)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617.2970044317599</c:v>
                </c:pt>
              </c:numCache>
            </c:numRef>
          </c:val>
        </c:ser>
        <c:dLbls>
          <c:numFmt sourceLinked="0" formatCode="#,##0"/>
          <c:txPr>
            <a:bodyPr/>
            <a:lstStyle/>
            <a:p>
              <a:pPr>
                <a:defRPr sz="9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950"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Üst Bilgi Yer Tutucusu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3" name="Veri Yer Tutucusu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6300641-7B70-43EC-9136-1D81371FEE47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4" name="Slayt Resmi Yer Tutucus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tr-TR"/>
          </a:p>
        </p:txBody>
      </p:sp>
      <p:sp>
        <p:nvSpPr>
          <p:cNvPr id="5" name="Not Yer Tutucusu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6" name="Alt Bilgi Yer Tutucusu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7" name="Slayt Numarası Yer Tutucus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D3DCFB-12CD-4DAE-BBD4-16A1DFAADA0C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5741095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aşlık Slayd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6A12A0B8-7CD9-B74F-AD7D-AA5C0069195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Alt Başlık 2">
            <a:extLst>
              <a:ext uri="{FF2B5EF4-FFF2-40B4-BE49-F238E27FC236}">
                <a16:creationId xmlns:a16="http://schemas.microsoft.com/office/drawing/2014/main" id="{1E65EBCF-2F36-CF46-9DD1-6FFE1AA5AA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tr-TR"/>
              <a:t>Asıl alt başlık stilini düzenlemek için tıklayın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0488EE4F-7D91-234B-8366-AA89856152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09D6E736-D18C-C440-B2A3-19ECC78493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7A482C50-33CE-4643-B22A-C50A02C7E6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3548739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aşlık ve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C6312382-F59E-E44D-94A0-09384B0F9A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976D9B72-D3A8-E240-AEF8-FE471ED664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85B1322A-D814-E643-B637-F0282443BB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C2582D07-6D20-5949-950C-B5A20A0F4D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68D4B1F6-7694-B744-8AAA-4BECF121D4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0865419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Bölüm Üst Bilgis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6EBB9133-18E9-7041-99FE-48C21A3B0A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Metin Yer Tutucusu 2">
            <a:extLst>
              <a:ext uri="{FF2B5EF4-FFF2-40B4-BE49-F238E27FC236}">
                <a16:creationId xmlns:a16="http://schemas.microsoft.com/office/drawing/2014/main" id="{D142A014-6DBE-244A-8639-0EE92109B3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DA43E15A-394F-0044-AF14-DF4A8E99FA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B36113B3-E6C6-874A-90AD-FD4D22C5E4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F4E3EE12-20EA-8E44-9CBB-3793CBA50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4588173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İki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B9DE5D64-D6D9-1B4C-880B-F020BD5B74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DA614EDC-B75D-FD4A-913F-EB03DAD5035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İçerik Yer Tutucusu 3">
            <a:extLst>
              <a:ext uri="{FF2B5EF4-FFF2-40B4-BE49-F238E27FC236}">
                <a16:creationId xmlns:a16="http://schemas.microsoft.com/office/drawing/2014/main" id="{E9E8DC66-2F12-BF45-BDF1-EB4DE2DCF41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50EB4623-12A7-9540-B93C-840D6334EF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5EBF5A08-683B-A041-B5AF-469F3D01EE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47AF5A4F-3422-8D4C-B532-C19D5521D6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1867228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Karşılaştırm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7085C4E5-E52A-DF43-85E4-57E96D05DB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Metin Yer Tutucusu 2">
            <a:extLst>
              <a:ext uri="{FF2B5EF4-FFF2-40B4-BE49-F238E27FC236}">
                <a16:creationId xmlns:a16="http://schemas.microsoft.com/office/drawing/2014/main" id="{F46582EA-A382-1A41-AA8F-C0DD08B585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4" name="İçerik Yer Tutucusu 3">
            <a:extLst>
              <a:ext uri="{FF2B5EF4-FFF2-40B4-BE49-F238E27FC236}">
                <a16:creationId xmlns:a16="http://schemas.microsoft.com/office/drawing/2014/main" id="{B1AAA910-32F1-1540-8CA3-526201D046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5" name="Metin Yer Tutucusu 4">
            <a:extLst>
              <a:ext uri="{FF2B5EF4-FFF2-40B4-BE49-F238E27FC236}">
                <a16:creationId xmlns:a16="http://schemas.microsoft.com/office/drawing/2014/main" id="{BBDC8A26-902D-E743-9638-6203DB67245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6" name="İçerik Yer Tutucusu 5">
            <a:extLst>
              <a:ext uri="{FF2B5EF4-FFF2-40B4-BE49-F238E27FC236}">
                <a16:creationId xmlns:a16="http://schemas.microsoft.com/office/drawing/2014/main" id="{BF5DAED4-7A45-A34F-956E-DACEA754168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7" name="Veri Yer Tutucusu 6">
            <a:extLst>
              <a:ext uri="{FF2B5EF4-FFF2-40B4-BE49-F238E27FC236}">
                <a16:creationId xmlns:a16="http://schemas.microsoft.com/office/drawing/2014/main" id="{C5ACEEAF-4684-F04E-80D2-76BE898845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8" name="Alt Bilgi Yer Tutucusu 7">
            <a:extLst>
              <a:ext uri="{FF2B5EF4-FFF2-40B4-BE49-F238E27FC236}">
                <a16:creationId xmlns:a16="http://schemas.microsoft.com/office/drawing/2014/main" id="{5B223AD2-9BE0-0A4D-B738-5296F04B1D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9" name="Slayt Numarası Yer Tutucusu 8">
            <a:extLst>
              <a:ext uri="{FF2B5EF4-FFF2-40B4-BE49-F238E27FC236}">
                <a16:creationId xmlns:a16="http://schemas.microsoft.com/office/drawing/2014/main" id="{BBEB5DF6-944F-E94C-A1BA-10A5A661D2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4975449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Yalnızca Başlı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ED3F0FF1-32E6-FD40-8A9C-E85D7C194B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Veri Yer Tutucusu 2">
            <a:extLst>
              <a:ext uri="{FF2B5EF4-FFF2-40B4-BE49-F238E27FC236}">
                <a16:creationId xmlns:a16="http://schemas.microsoft.com/office/drawing/2014/main" id="{6D2C6123-FE18-C44A-A357-D8B6B0B53E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4" name="Alt Bilgi Yer Tutucusu 3">
            <a:extLst>
              <a:ext uri="{FF2B5EF4-FFF2-40B4-BE49-F238E27FC236}">
                <a16:creationId xmlns:a16="http://schemas.microsoft.com/office/drawing/2014/main" id="{18C92C8A-24FE-B446-8032-DED13B381A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5" name="Slayt Numarası Yer Tutucusu 4">
            <a:extLst>
              <a:ext uri="{FF2B5EF4-FFF2-40B4-BE49-F238E27FC236}">
                <a16:creationId xmlns:a16="http://schemas.microsoft.com/office/drawing/2014/main" id="{DB36637B-5E7C-0847-BC64-C447140609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5596900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o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i Yer Tutucusu 1">
            <a:extLst>
              <a:ext uri="{FF2B5EF4-FFF2-40B4-BE49-F238E27FC236}">
                <a16:creationId xmlns:a16="http://schemas.microsoft.com/office/drawing/2014/main" id="{EA6A8CB8-EFDA-1841-AB52-284AC13EB0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3" name="Alt Bilgi Yer Tutucusu 2">
            <a:extLst>
              <a:ext uri="{FF2B5EF4-FFF2-40B4-BE49-F238E27FC236}">
                <a16:creationId xmlns:a16="http://schemas.microsoft.com/office/drawing/2014/main" id="{518FACD0-1C0C-F844-A6D9-6990A191D4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Slayt Numarası Yer Tutucusu 3">
            <a:extLst>
              <a:ext uri="{FF2B5EF4-FFF2-40B4-BE49-F238E27FC236}">
                <a16:creationId xmlns:a16="http://schemas.microsoft.com/office/drawing/2014/main" id="{536F959D-05A5-F54F-866D-1FC89F6DD2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737328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Başlıklı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753FE235-85E2-1A43-BF30-191677246E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E8CC76E4-8C64-B342-B4EC-44F7600841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Metin Yer Tutucusu 3">
            <a:extLst>
              <a:ext uri="{FF2B5EF4-FFF2-40B4-BE49-F238E27FC236}">
                <a16:creationId xmlns:a16="http://schemas.microsoft.com/office/drawing/2014/main" id="{0C9758BE-896D-4443-9F29-4E18D53FB0A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65AB6F4E-2BB2-9542-83B0-174B6AC191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98C1D8FA-7F1B-BE43-BC85-4673B367B4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F695DCC4-1DAA-064E-8320-65BC1EBE64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4003492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aşlıklı Resi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CF589E15-52F3-DB45-A42D-3F61DE42DC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Resim Yer Tutucusu 2">
            <a:extLst>
              <a:ext uri="{FF2B5EF4-FFF2-40B4-BE49-F238E27FC236}">
                <a16:creationId xmlns:a16="http://schemas.microsoft.com/office/drawing/2014/main" id="{087BD87E-B3E7-DF45-95D0-286AFA3AB38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tr-TR"/>
          </a:p>
        </p:txBody>
      </p:sp>
      <p:sp>
        <p:nvSpPr>
          <p:cNvPr id="4" name="Metin Yer Tutucusu 3">
            <a:extLst>
              <a:ext uri="{FF2B5EF4-FFF2-40B4-BE49-F238E27FC236}">
                <a16:creationId xmlns:a16="http://schemas.microsoft.com/office/drawing/2014/main" id="{CB831928-3F51-F445-ADB5-05183485EB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ADB8D77B-5A0A-F64D-B935-6497FC341E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50606790-016F-E54D-85B0-4B1E659B4C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2CED7389-4408-AA49-B7D2-C64C665284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1349623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Başlık ve Dikey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3823ABBF-61CE-2343-B786-F51900E187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Dikey Metin Yer Tutucusu 2">
            <a:extLst>
              <a:ext uri="{FF2B5EF4-FFF2-40B4-BE49-F238E27FC236}">
                <a16:creationId xmlns:a16="http://schemas.microsoft.com/office/drawing/2014/main" id="{AE49DC93-9DC1-4049-A045-E6FBD9BEDA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296BD782-94F5-5941-B929-871FD56836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725E8FD7-FD2E-E44E-8873-B0F5664F60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B0F22D4D-9D52-8947-9398-81B831C5AC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1473469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Dikey Başlık ve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key Başlık 1">
            <a:extLst>
              <a:ext uri="{FF2B5EF4-FFF2-40B4-BE49-F238E27FC236}">
                <a16:creationId xmlns:a16="http://schemas.microsoft.com/office/drawing/2014/main" id="{9D8B94DF-9C10-F744-84AC-2D788A9B69A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Dikey Metin Yer Tutucusu 2">
            <a:extLst>
              <a:ext uri="{FF2B5EF4-FFF2-40B4-BE49-F238E27FC236}">
                <a16:creationId xmlns:a16="http://schemas.microsoft.com/office/drawing/2014/main" id="{EEE070A1-AF86-9443-AEFA-9B376AB8FE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C693308C-5B7C-B949-A2F9-F004509B35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10646E30-46C7-B14D-9F74-F28EF8347E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6943329E-064A-C547-89FC-FB32F81177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76482103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Yer Tutucusu 1">
            <a:extLst>
              <a:ext uri="{FF2B5EF4-FFF2-40B4-BE49-F238E27FC236}">
                <a16:creationId xmlns:a16="http://schemas.microsoft.com/office/drawing/2014/main" id="{1F91565E-1330-4B41-9057-C6551F413C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Metin Yer Tutucusu 2">
            <a:extLst>
              <a:ext uri="{FF2B5EF4-FFF2-40B4-BE49-F238E27FC236}">
                <a16:creationId xmlns:a16="http://schemas.microsoft.com/office/drawing/2014/main" id="{704A2AE8-5086-4F49-AEF5-F297986E21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AA47F096-3E19-C541-9264-4ADD4AFAB6F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13A27738-D8F5-9F47-8FC7-84CD34D5D74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33EFD96A-A9C0-114E-84B0-21F7E892BF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1067886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tr-T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3.png"/><Relationship Id="rId6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6.xml"/><Relationship Id="rId4" Type="http://schemas.openxmlformats.org/officeDocument/2006/relationships/chart" Target="../charts/char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chart" Target="../charts/chart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7.png"/><Relationship Id="rId4" Type="http://schemas.openxmlformats.org/officeDocument/2006/relationships/image" Target="../media/image3.png"/><Relationship Id="rId5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Kadro ve İş Hacmi Değerlendirmesi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Sezon 2026 · Mağazalar · kadro 30.06 ve 31.08 · iş hacmi 01.07.2025 – 25.08.2025 ile 07.07.2026 – 31.08.2026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Yönetici Özeti — Norma Göre Durum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68580" cy="182880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us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1536192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4672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NORM · KADRO + SEZON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9A9A9A"/>
                </a:solidFill>
                <a:latin typeface="Calibri"/>
              </a:rPr>
              <a:t>217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kadrolu 145 + sezonluk 72 · 11.08.2026 tarihli norm</a:t>
            </a:r>
          </a:p>
        </p:txBody>
      </p:sp>
      <p:sp>
        <p:nvSpPr>
          <p:cNvPr id="9" name="Rectangle 8"/>
          <p:cNvSpPr/>
          <p:nvPr/>
        </p:nvSpPr>
        <p:spPr>
          <a:xfrm>
            <a:off x="4279392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79392" y="1371600"/>
            <a:ext cx="68580" cy="182880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us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70064" y="1536192"/>
            <a:ext cx="274320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35424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GERÇEK · 31 AĞUSTOS (OPERASYONEL)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5424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9A9A9A"/>
                </a:solidFill>
                <a:latin typeface="Calibri"/>
              </a:rPr>
              <a:t>189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engelli ve etkinlik norm dışı tutuldu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100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1000" y="1371600"/>
            <a:ext cx="68580" cy="18288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alert-triang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91672" y="1536192"/>
            <a:ext cx="274320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257031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NORMA GÖRE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7031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A6001A"/>
                </a:solidFill>
                <a:latin typeface="Calibri"/>
              </a:rPr>
              <a:t>-28 kişi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kadrolu -14 · sezonluk -14 (engelli/etkinlik norm dışı)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310128"/>
            <a:ext cx="11018520" cy="749808"/>
          </a:xfrm>
          <a:prstGeom prst="roundRect">
            <a:avLst/>
          </a:prstGeom>
          <a:solidFill>
            <a:srgbClr val="F2F2F2"/>
          </a:solidFill>
          <a:ln w="2540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3310128"/>
            <a:ext cx="1051560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A6001A"/>
                </a:solidFill>
                <a:latin typeface="Calibri"/>
              </a:rPr>
              <a:t>Kadro fazlası yok: 31 Ağustos'ta toplam personel şirketin kendi norm tablosunun 28 KİŞİ ALTINDADIR.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133087"/>
            <a:ext cx="1101852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4133087"/>
            <a:ext cx="68580" cy="1115568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pack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91672" y="4297679"/>
            <a:ext cx="274320" cy="27432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68680" y="4242816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6E6E6E"/>
                </a:solidFill>
                <a:latin typeface="Calibri"/>
              </a:rPr>
              <a:t>AYNI DÖNEMDE İŞ HACMİ · ÜÇ POS MAĞAZASI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4553712"/>
            <a:ext cx="1024128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A6001A"/>
                </a:solidFill>
                <a:latin typeface="Calibri"/>
              </a:rPr>
              <a:t>ürün adedi +%34,9 (574.718 → 775.192) · ciro +%70,7 — eksik kadroyla üretildi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5321808"/>
            <a:ext cx="11018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E6E6E"/>
                </a:solidFill>
                <a:latin typeface="Calibri"/>
              </a:rPr>
              <a:t>Kadro farkı sezon ÖNCESİNDE oluştu (taban 30.06: 139 → 153, +14) · sezon içinde kadrolu -4 · personel başına iş +%20,6 · mağaza ve grup kırılımı detay slaytlarında.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Norm = ENGELLİ DIŞINDAKİ personel sayısı (yönetim kararı); etkinlik kadrosu da norm dışı — gerçek rakamdan düşüldü (engelli 3 · etkinlik 3 kişi). İK'nın kayıt toplamı kadrolu 137 + sezonluk 58 = 195 · Norm kaynağı: BKMKİTAP Mağaza Kadro ve Sezon Takip Tablosu, 11.08.2026 · Kapsam: dört mağaza (Şura norm tablosunda yok) · İş hacmi üç POS mağazası.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Kadro Farkının Oluşum Dönemi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417320"/>
            <a:ext cx="2084831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417320"/>
            <a:ext cx="68580" cy="173736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4944" y="1536192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2025 tabanı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" y="196596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9A9A9A"/>
                </a:solidFill>
                <a:latin typeface="Calibri"/>
              </a:rPr>
              <a:t>139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2670048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A9A9A"/>
                </a:solidFill>
                <a:latin typeface="Calibri"/>
              </a:rPr>
              <a:t>30 Haziran 2025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33472" y="2011680"/>
            <a:ext cx="14630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9A9A9A"/>
                </a:solidFill>
                <a:latin typeface="Calibri"/>
              </a:rPr>
              <a:t>›</a:t>
            </a:r>
          </a:p>
        </p:txBody>
      </p:sp>
      <p:sp>
        <p:nvSpPr>
          <p:cNvPr id="9" name="Rectangle 8"/>
          <p:cNvSpPr/>
          <p:nvPr/>
        </p:nvSpPr>
        <p:spPr>
          <a:xfrm>
            <a:off x="2779776" y="1417320"/>
            <a:ext cx="2084831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79776" y="1417320"/>
            <a:ext cx="68580" cy="173736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26080" y="1536192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Sezon öncesi eklenen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196596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30622"/>
                </a:solidFill>
                <a:latin typeface="Calibri"/>
              </a:rPr>
              <a:t>+14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0" y="2670048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A9A9A"/>
                </a:solidFill>
                <a:latin typeface="Calibri"/>
              </a:rPr>
              <a:t>1 Temmuz'dan önce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4608" y="2011680"/>
            <a:ext cx="14630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9A9A9A"/>
                </a:solidFill>
                <a:latin typeface="Calibri"/>
              </a:rPr>
              <a:t>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10912" y="1417320"/>
            <a:ext cx="2084831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10912" y="1417320"/>
            <a:ext cx="68580" cy="173736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57216" y="1536192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2026 tabanı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57216" y="196596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9A9A9A"/>
                </a:solidFill>
                <a:latin typeface="Calibri"/>
              </a:rPr>
              <a:t>153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57216" y="2670048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A9A9A"/>
                </a:solidFill>
                <a:latin typeface="Calibri"/>
              </a:rPr>
              <a:t>30 Haziran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95744" y="2011680"/>
            <a:ext cx="14630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9A9A9A"/>
                </a:solidFill>
                <a:latin typeface="Calibri"/>
              </a:rPr>
              <a:t>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42048" y="1417320"/>
            <a:ext cx="2084831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42048" y="1417320"/>
            <a:ext cx="68580" cy="173736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88352" y="1536192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Sezon içi değişim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88352" y="196596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A6001A"/>
                </a:solidFill>
                <a:latin typeface="Calibri"/>
              </a:rPr>
              <a:t>-4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88352" y="2670048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A9A9A"/>
                </a:solidFill>
                <a:latin typeface="Calibri"/>
              </a:rPr>
              <a:t>1 Tem – 31 Ağu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0" y="2011680"/>
            <a:ext cx="14630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9A9A9A"/>
                </a:solidFill>
                <a:latin typeface="Calibri"/>
              </a:rPr>
              <a:t>›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473184" y="1417320"/>
            <a:ext cx="2084831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473184" y="1417320"/>
            <a:ext cx="68580" cy="173736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19488" y="1536192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31 Ağustos 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19488" y="196596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9A9A9A"/>
                </a:solidFill>
                <a:latin typeface="Calibri"/>
              </a:rPr>
              <a:t>149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19488" y="2670048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A9A9A"/>
                </a:solidFill>
                <a:latin typeface="Calibri"/>
              </a:rPr>
              <a:t>sezon zirvesi</a:t>
            </a:r>
          </a:p>
        </p:txBody>
      </p:sp>
      <p:graphicFrame>
        <p:nvGraphicFramePr>
          <p:cNvPr id="32" name="Chart 31"/>
          <p:cNvGraphicFramePr>
            <a:graphicFrameLocks noGrp="1"/>
          </p:cNvGraphicFramePr>
          <p:nvPr/>
        </p:nvGraphicFramePr>
        <p:xfrm>
          <a:off x="548640" y="3383280"/>
          <a:ext cx="5577840" cy="1874519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33" name="Rounded Rectangle 32"/>
          <p:cNvSpPr/>
          <p:nvPr/>
        </p:nvSpPr>
        <p:spPr>
          <a:xfrm>
            <a:off x="6400800" y="3474720"/>
            <a:ext cx="5166360" cy="160020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29400" y="3584448"/>
            <a:ext cx="475488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A6001A"/>
                </a:solidFill>
                <a:latin typeface="Calibri"/>
              </a:rPr>
              <a:t>Sezon döneminde kadro artışı yoktur.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Kadrolu personel 153 → 149 (-4). Önceki yıl da aynı yönde (-4): sezon döneminde alınan kadrolu personel ayrılanların yerine gelmiş, kadroyu büyütmemiştir.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beş mağazanın tamamı — FSM · Özlüce · İst. Yolu · Heykel · Şura · Ölçüm noktaları: 30.06 tabanı ve 31.08 kesimi (tarih aralığı değil, o gün fiilen çalışan kişi)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Mağaza Bazında Kadro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417320"/>
          <a:ext cx="11018520" cy="308936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005840"/>
                <a:gridCol w="1005840"/>
                <a:gridCol w="1005840"/>
                <a:gridCol w="1005840"/>
                <a:gridCol w="841248"/>
                <a:gridCol w="841248"/>
                <a:gridCol w="1005840"/>
                <a:gridCol w="1005840"/>
                <a:gridCol w="941832"/>
                <a:gridCol w="941832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Mağaza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Kadrolu 30.06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Kadrolu 30.06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Kadrolu 31.08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Kadrolu 31.08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Sezon içi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Sezon içi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Sezonluk 31.08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Sezonluk 31.08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GENEL TOPLAM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31.08 · 2025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GENEL TOPLAM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31.08 · 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İst. Yolu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-2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61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Özlüce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39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44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41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-3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-3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51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54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FSM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42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45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Heykel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26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-3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Şura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</a:tr>
              <a:tr h="431076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TOPLAM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139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153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135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149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65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62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200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211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548640" y="4526280"/>
            <a:ext cx="11018520" cy="68580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4526280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A6001A"/>
                </a:solidFill>
                <a:latin typeface="Calibri"/>
              </a:rPr>
              <a:t>İŞ HACMİ KAPSAMI — üç POS mağazası (FSM · Özlüce · İst. Yolu): kadrolu 96 → 111 · sezonluk 47 → 49 · TOPLAM KADRO 143 → 160.  Diğer slaytlardaki 143 → 160 kadro rakamı bu satırdır.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285232"/>
            <a:ext cx="11018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Kadrolu = sezonluk dışı personel · Sezon içi = 31.08 kesimi ile 30.06 tabanı arasındaki değişim (her iki yılda da negatif: -4 ve -4).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beş mağazanın tamamı — FSM · Özlüce · İst. Yolu · Heykel · Şura · Ölçüm noktaları: 30.06 tabanı ve 31.08 kesimi (tarih aralığı değil, o gün fiilen çalışan kişi) İş hacmi kapsamı üç POS mağazasıdır (FSM · Özlüce · İst. Yolu).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Dönem İş Hacmi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68580" cy="18288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ack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1536192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4672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ELLEÇLENEN ÜRÜN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A6001A"/>
                </a:solidFill>
                <a:latin typeface="Calibri"/>
              </a:rPr>
              <a:t>+%34,9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574.718 → 775.192 adet</a:t>
            </a:r>
          </a:p>
        </p:txBody>
      </p:sp>
      <p:sp>
        <p:nvSpPr>
          <p:cNvPr id="9" name="Rectangle 8"/>
          <p:cNvSpPr/>
          <p:nvPr/>
        </p:nvSpPr>
        <p:spPr>
          <a:xfrm>
            <a:off x="4279392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79392" y="1371600"/>
            <a:ext cx="68580" cy="18288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lay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70064" y="1536192"/>
            <a:ext cx="274320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35424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CİRO · KDV DAHİL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5424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A6001A"/>
                </a:solidFill>
                <a:latin typeface="Calibri"/>
              </a:rPr>
              <a:t>+%70,7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71,8 → 122,6 milyon TL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100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1000" y="1371600"/>
            <a:ext cx="68580" cy="182880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use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91672" y="1536192"/>
            <a:ext cx="274320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257031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KADRO · 3 MAĞAZA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7031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9A9A9A"/>
                </a:solidFill>
                <a:latin typeface="Calibri"/>
              </a:rPr>
              <a:t>+%11,9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143 → 160 kişi (sezonluk dahil)</a:t>
            </a:r>
          </a:p>
        </p:txBody>
      </p:sp>
      <p:graphicFrame>
        <p:nvGraphicFramePr>
          <p:cNvPr id="21" name="Chart 20"/>
          <p:cNvGraphicFramePr>
            <a:graphicFrameLocks noGrp="1"/>
          </p:cNvGraphicFramePr>
          <p:nvPr/>
        </p:nvGraphicFramePr>
        <p:xfrm>
          <a:off x="548640" y="3200400"/>
          <a:ext cx="5577840" cy="1965960"/>
        </p:xfrm>
        <a:graphic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22" name="Rounded Rectangle 21"/>
          <p:cNvSpPr/>
          <p:nvPr/>
        </p:nvSpPr>
        <p:spPr>
          <a:xfrm>
            <a:off x="6400800" y="3383280"/>
            <a:ext cx="5166360" cy="182880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400" y="3520440"/>
            <a:ext cx="4754880" cy="160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A6001A"/>
                </a:solidFill>
                <a:latin typeface="Calibri"/>
              </a:rPr>
              <a:t>Ürün adedi birincil ölçüdür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Adet enflasyondan etkilenmez; kasadan geçen, rafa dizilen ve depodan çıkan fiili mal miktarını gösterir. Ciro fiyat artışını içerir, adet içermez.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230368"/>
            <a:ext cx="110185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A9A9A"/>
                </a:solidFill>
                <a:latin typeface="Calibri"/>
              </a:rPr>
              <a:t>Kaynak: DerinSIS mağaza satışı · Sınav hariç · iadeler düşülmüş · KDV dahil.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üç POS mağazası — FSM · Özlüce · İst. Yolu (Heykel ve Şura POS raporlamasında yok) · Dönem: 01.07 – 25.08.2025 (2025) · 07.07 – 31.08.2026 (2026), her iki yıl 56 gün, okul açılışına hizalı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Personel Başına İş Hacmi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463040"/>
          <a:ext cx="5760720" cy="3566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Rectangle 3"/>
          <p:cNvSpPr/>
          <p:nvPr/>
        </p:nvSpPr>
        <p:spPr>
          <a:xfrm>
            <a:off x="6583680" y="1600200"/>
            <a:ext cx="49834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0" y="1600200"/>
            <a:ext cx="68580" cy="105156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12280" y="1709928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B2B2B"/>
                </a:solidFill>
                <a:latin typeface="Calibri"/>
              </a:rPr>
              <a:t>Özlüce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12280" y="2057400"/>
            <a:ext cx="2788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333333"/>
                </a:solidFill>
                <a:latin typeface="Calibri"/>
              </a:rPr>
              <a:t>4.525 → 5.579 adet/kişi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0" y="1709928"/>
            <a:ext cx="1691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00" b="1">
                <a:solidFill>
                  <a:srgbClr val="A6001A"/>
                </a:solidFill>
                <a:latin typeface="Calibri"/>
              </a:rPr>
              <a:t>+%23,3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0" y="2788920"/>
            <a:ext cx="49834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0" y="2788920"/>
            <a:ext cx="68580" cy="105156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12280" y="2898648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B2B2B"/>
                </a:solidFill>
                <a:latin typeface="Calibri"/>
              </a:rPr>
              <a:t>İst. Yolu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12280" y="3246120"/>
            <a:ext cx="2788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333333"/>
                </a:solidFill>
                <a:latin typeface="Calibri"/>
              </a:rPr>
              <a:t>3.468 → 4.232 adet/kişi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0" y="2898648"/>
            <a:ext cx="1691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00" b="1">
                <a:solidFill>
                  <a:srgbClr val="A6001A"/>
                </a:solidFill>
                <a:latin typeface="Calibri"/>
              </a:rPr>
              <a:t>+%22,0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0" y="3977639"/>
            <a:ext cx="49834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0" y="3977639"/>
            <a:ext cx="68580" cy="105156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12280" y="4087368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B2B2B"/>
                </a:solidFill>
                <a:latin typeface="Calibri"/>
              </a:rPr>
              <a:t>FSM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12280" y="4434840"/>
            <a:ext cx="2788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333333"/>
                </a:solidFill>
                <a:latin typeface="Calibri"/>
              </a:rPr>
              <a:t>4.061 → 4.795 adet/kişi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84080" y="4087368"/>
            <a:ext cx="1691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00" b="1">
                <a:solidFill>
                  <a:srgbClr val="A6001A"/>
                </a:solidFill>
                <a:latin typeface="Calibri"/>
              </a:rPr>
              <a:t>+%18,1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193792"/>
            <a:ext cx="110185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E6E6E"/>
                </a:solidFill>
                <a:latin typeface="Calibri"/>
              </a:rPr>
              <a:t>Kişi başı = 31 Ağustos'ta o mağazada fiilen çalışan TÜM personel (sezonluk dahil). Kadrosu en çok büyüyen mağazada dahi kişi başı iş artmıştır (İst. Yolu 50 → 61).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üç POS mağazası — FSM · Özlüce · İst. Yolu (Heykel ve Şura POS raporlamasında yok) · Dönem: 01.07 – 25.08.2025 (2025) · 07.07 – 31.08.2026 (2026), her iki yıl 56 gün, okul açılışına hizalı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Personel Başına İş Hacmi — Dört Yıllık Seyir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463040"/>
          <a:ext cx="6583680" cy="3566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Rectangle 3"/>
          <p:cNvSpPr/>
          <p:nvPr/>
        </p:nvSpPr>
        <p:spPr>
          <a:xfrm>
            <a:off x="7406640" y="1600200"/>
            <a:ext cx="416052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406640" y="1600200"/>
            <a:ext cx="68580" cy="109728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35240" y="1709928"/>
            <a:ext cx="3703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B2B2B"/>
                </a:solidFill>
                <a:latin typeface="Calibri"/>
              </a:rPr>
              <a:t>2024'te kadro atladı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35240" y="2039112"/>
            <a:ext cx="37033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E6E6E"/>
                </a:solidFill>
                <a:latin typeface="Calibri"/>
              </a:rPr>
              <a:t>Kadrolu 60 → 91. Adet yalnız %11 arttı → kişi başı iş düştü.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06640" y="2834640"/>
            <a:ext cx="416052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06640" y="2834640"/>
            <a:ext cx="68580" cy="1097280"/>
          </a:xfrm>
          <a:prstGeom prst="rect">
            <a:avLst/>
          </a:prstGeom>
          <a:solidFill>
            <a:srgbClr val="6E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35240" y="2944368"/>
            <a:ext cx="3703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B2B2B"/>
                </a:solidFill>
                <a:latin typeface="Calibri"/>
              </a:rPr>
              <a:t>Ama 2023 'norm' değil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3273552"/>
            <a:ext cx="37033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E6E6E"/>
                </a:solidFill>
                <a:latin typeface="Calibri"/>
              </a:rPr>
              <a:t>O yıl FSM kasada 0, Özlüce kasada 1 kişi vardı — eksik kadroyla çalışma.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06640" y="4069080"/>
            <a:ext cx="416052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06640" y="4069080"/>
            <a:ext cx="68580" cy="109728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35240" y="4178808"/>
            <a:ext cx="3703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B2B2B"/>
                </a:solidFill>
                <a:latin typeface="Calibri"/>
              </a:rPr>
              <a:t>2024 → 2026 toparlanma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40" y="4507992"/>
            <a:ext cx="37033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E6E6E"/>
                </a:solidFill>
                <a:latin typeface="Calibri"/>
              </a:rPr>
              <a:t>Kişi başı iş %28,8 arttı; bu yıl kadro büyürken verim de arttı.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166360"/>
            <a:ext cx="11018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A9A9A"/>
                </a:solidFill>
                <a:latin typeface="Calibri"/>
              </a:rPr>
              <a:t>Kadro = 31.08 itibarıyla kadrolu (sezonluk hariç; yıllar arası tahliye zamanlaması kıyası bozar).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üç POS mağazası — FSM · Özlüce · İst. Yolu · Dönem: 01.01 – 31.08 (her iki yıl, kümülatif) · kadro: 31.08 kesimi, her yıl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Bölüm Bazında Kadro Değişimi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463040"/>
          <a:ext cx="6583680" cy="32918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Rectangle 3"/>
          <p:cNvSpPr/>
          <p:nvPr/>
        </p:nvSpPr>
        <p:spPr>
          <a:xfrm>
            <a:off x="7406640" y="1463040"/>
            <a:ext cx="416052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406640" y="1463040"/>
            <a:ext cx="68580" cy="160020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35240" y="1572768"/>
            <a:ext cx="3703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KADROSU DEĞİŞMEYEN BÖLÜMLER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35240" y="1901952"/>
            <a:ext cx="37033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2B2B2B"/>
                </a:solidFill>
                <a:latin typeface="Calibri"/>
              </a:rPr>
              <a:t>Yönetim +0  ·  Mal Kabul +0  ·  İdari İşler +0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6E6E6E"/>
                </a:solidFill>
                <a:latin typeface="Calibri"/>
              </a:rPr>
              <a:t>Bu üç bölümde kadro değişimi sıfırdır.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06640" y="3200400"/>
            <a:ext cx="416052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06640" y="3200400"/>
            <a:ext cx="68580" cy="155448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35240" y="3310128"/>
            <a:ext cx="3703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KADROSU ARTAN BÖLÜMLER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3639312"/>
            <a:ext cx="370332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A6001A"/>
                </a:solidFill>
                <a:latin typeface="Calibri"/>
              </a:rPr>
              <a:t>Yardımcı Kitap +6  ·  Kırtasiye +3  ·  Kasa +2  ·  Akademi +2  ·  Şura +2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828032"/>
            <a:ext cx="11018520" cy="658368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828032"/>
            <a:ext cx="1051560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A6001A"/>
                </a:solidFill>
                <a:latin typeface="Calibri"/>
              </a:rPr>
              <a:t>Kadrolu +14 kişilik artışın tamamı satış ve kasa bölümlerindedir; yönetim kadrosunda değişim yoktur.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beş mağazanın tamamı — FSM · Özlüce · İst. Yolu · Heykel · Şura · Ölçüm noktaları: 30.06 tabanı ve 31.08 kesimi (tarih aralığı değil, o gün fiilen çalışan kişi)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Mağaza Performans Karşılaştırması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1852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37360"/>
                <a:gridCol w="1371600"/>
                <a:gridCol w="1691640"/>
                <a:gridCol w="1371600"/>
                <a:gridCol w="1554480"/>
                <a:gridCol w="1280160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Mağaza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Kadro 31.08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Kadro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Ürün adedi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Ciro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Adet/kişi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İş ÷ kadro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Özlüce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51 → 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+%5,9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+%30,5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+%57,6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+%23,3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5,2x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İst. Yolu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50 → 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+%22,0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+%48,9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+%96,1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+%22,0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2,2x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FSM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42 → 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+%7,1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+%26,5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+%62,3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+%18,1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3,7x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TOPLAM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143 → 160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+%11,9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+%34,9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+%70,7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+%20,6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2,9x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3291840"/>
          <a:ext cx="6766560" cy="214884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498079" y="3474720"/>
            <a:ext cx="4069080" cy="178308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26679" y="3611880"/>
            <a:ext cx="36576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A6001A"/>
                </a:solidFill>
                <a:latin typeface="Calibri"/>
              </a:rPr>
              <a:t>Değerlendirme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333333"/>
                </a:solidFill>
                <a:latin typeface="Calibri"/>
              </a:rPr>
              <a:t>Üç mağazanın tamamında iş hacmi artışı kadro artışının üzerindedir. Kadro artışı en yüksek olan İst. Yolu'nda dahi oran 2,2 katıdır.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üç POS mağazası — FSM · Özlüce · İst. Yolu (Heykel ve Şura POS raporlamasında yok) · Dönem: 01.07 – 25.08.2025 (2025) · 07.07 – 31.08.2026 (2026), her iki yıl 56 gün, okul açılışına hizalı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Kategori Büyümesi ve İlgili Bölüm Kadrosu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18520" cy="257338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00200"/>
                <a:gridCol w="2148840"/>
                <a:gridCol w="1097280"/>
                <a:gridCol w="1051560"/>
                <a:gridCol w="1143000"/>
                <a:gridCol w="1051560"/>
                <a:gridCol w="96012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Kategori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Bakan bölüm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Ürün adedi 2025 → 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SEZON</a:t>
                      </a:r>
                    </a:p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adet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SEZON</a:t>
                      </a:r>
                    </a:p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ciro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OCA-AĞU</a:t>
                      </a:r>
                    </a:p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adet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OCA-AĞU</a:t>
                      </a:r>
                    </a:p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ciro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Bölüm</a:t>
                      </a:r>
                    </a:p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kadro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Hazırlık Kitapları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Yardımcı Kitap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38.847 → 54.032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+%39,1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+%91,7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+%21,7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+%46,2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+6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Kırtasiye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Kırtasiye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222.233 → 296.797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+%33,6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+%75,0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+%22,8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+%37,5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+3 kişi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Akademi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Akademi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7.328 → 24.841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+%239,0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+%242,1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+%152,9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+%176,9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+2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Kitap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Kültür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66.399 → 83.655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+%26,0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+%59,7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+%16,7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+%49,2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+1 kişi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Oyuncak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Oyuncak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37.135 → 58.662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+%58,0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+%50,4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+%45,3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+%66,6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+1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269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Çocuk Kitabı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Çocuk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73.247 → 85.696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+%17,0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+%54,7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+%22,9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+%57,7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-1 kişi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4224528"/>
          <a:ext cx="6766560" cy="1298448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968496"/>
            <a:ext cx="67665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E6E6E"/>
                </a:solidFill>
                <a:latin typeface="Calibri"/>
              </a:rPr>
              <a:t>Ürün adedi büyümesi (%) — kategori bazında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98079" y="4041648"/>
            <a:ext cx="4069080" cy="1481328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26679" y="4114800"/>
            <a:ext cx="3657600" cy="13533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A6001A"/>
                </a:solidFill>
                <a:latin typeface="Calibri"/>
              </a:rPr>
              <a:t>Değerlendirme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333333"/>
                </a:solidFill>
                <a:latin typeface="Calibri"/>
              </a:rPr>
              <a:t>Kadro artışı, ürün adedi en hızlı artan kategorilere yönlendirilmiştir. SEZON kolonları okul-hizalı pencereyi, OCA-AĞU kolonları yılın tamamını (01.01–31.08) gösterir; sıralama iki pencerede de aynıdır.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üç POS mağazası — FSM · Özlüce · İst. Yolu (Heykel ve Şura POS raporlamasında yok) · Dönem: 01.07 – 25.08.2025 (2025) · 07.07 – 31.08.2026 (2026), her iki yıl 56 gün, okul açılışına hizalı · OCA-AĞU kolonları: 01.01 – 31.08 kümülatif (her iki yıl)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Takvim Kayması: Ağustos ve Eylül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68580" cy="182880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work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1536192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4672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AĞUSTOS · GERÇEK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9A9A9A"/>
                </a:solidFill>
                <a:latin typeface="Calibri"/>
              </a:rPr>
              <a:t>+%5,5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458.509 → 483.659 adet</a:t>
            </a:r>
          </a:p>
        </p:txBody>
      </p:sp>
      <p:sp>
        <p:nvSpPr>
          <p:cNvPr id="9" name="Rectangle 8"/>
          <p:cNvSpPr/>
          <p:nvPr/>
        </p:nvSpPr>
        <p:spPr>
          <a:xfrm>
            <a:off x="4279392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79392" y="1371600"/>
            <a:ext cx="68580" cy="18288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rock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70064" y="1536192"/>
            <a:ext cx="274320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35424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AĞUSTOS · KAYMASIZ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5424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A6001A"/>
                </a:solidFill>
                <a:latin typeface="Calibri"/>
              </a:rPr>
              <a:t>617.297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adet tahmini · 102,9 M TL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100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1000" y="1371600"/>
            <a:ext cx="68580" cy="18288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work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1672" y="1536192"/>
            <a:ext cx="274320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257031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EYLÜL'E KAYAN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7031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A6001A"/>
                </a:solidFill>
                <a:latin typeface="Calibri"/>
              </a:rPr>
              <a:t>133.638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adet · 24,7 M TL</a:t>
            </a:r>
          </a:p>
        </p:txBody>
      </p:sp>
      <p:graphicFrame>
        <p:nvGraphicFramePr>
          <p:cNvPr id="21" name="Chart 20"/>
          <p:cNvGraphicFramePr>
            <a:graphicFrameLocks noGrp="1"/>
          </p:cNvGraphicFramePr>
          <p:nvPr/>
        </p:nvGraphicFramePr>
        <p:xfrm>
          <a:off x="548640" y="3200400"/>
          <a:ext cx="5577840" cy="214884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22" name="Rounded Rectangle 21"/>
          <p:cNvSpPr/>
          <p:nvPr/>
        </p:nvSpPr>
        <p:spPr>
          <a:xfrm>
            <a:off x="6400800" y="3291840"/>
            <a:ext cx="5166360" cy="196596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400" y="3401568"/>
            <a:ext cx="4754880" cy="1783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A6001A"/>
                </a:solidFill>
                <a:latin typeface="Calibri"/>
              </a:rPr>
              <a:t>Eylül'de beklenen dalga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333333"/>
                </a:solidFill>
                <a:latin typeface="Calibri"/>
              </a:rPr>
              <a:t>2025'te okul öncesi alış dalgası 27.08 - 07.09.2025 aralığındaydı: 431.358 adet · 56,9 M TL. Aynı dalga 2026'da 02.09 - 13.09.2026 aralığına denk geliyor; hizalı büyüme oranıyla 580.744 adet · 95,5 M TL beklenmektedir.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üç POS mağazası — FSM · Özlüce · İst. Yolu · Hizalı pencere 01.08 – 26.08.2025 ile 07.08 – 01.09.2026 (26 gün; bugün hariç, son tam gün 01.09.2026) · Tahmin yöntemi: hizalı büyüme +%34,6, talep kaybı olmadığı varsayımıyla.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Norm Kadro — Mağaza Detayı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185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A6001A"/>
                </a:solidFill>
                <a:latin typeface="Calibri"/>
              </a:rPr>
              <a:t>Norm 217 (kadrolu 145 + sezonluk 72) · operasyonel gerçek 189 (kadrolu 131 + sezonluk 58) · fark -28 kişi — engelli ve etkinlik norm dışı tutuldu.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810512"/>
          <a:ext cx="10515599" cy="1810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932688"/>
                <a:gridCol w="987552"/>
                <a:gridCol w="749808"/>
                <a:gridCol w="960120"/>
                <a:gridCol w="1042415"/>
                <a:gridCol w="749808"/>
                <a:gridCol w="1051560"/>
                <a:gridCol w="1143000"/>
                <a:gridCol w="749808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Mağaza / Grup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Norm</a:t>
                      </a:r>
                    </a:p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kadrolu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Gerçek</a:t>
                      </a:r>
                    </a:p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kadrolu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Fark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Norm</a:t>
                      </a:r>
                    </a:p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sezonluk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Gerçek</a:t>
                      </a:r>
                    </a:p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sezonluk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Fark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NORM</a:t>
                      </a:r>
                    </a:p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TOPLAM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GERÇEK</a:t>
                      </a:r>
                    </a:p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TOPLAM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FARK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Özlüce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-5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-4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62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53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-9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FSM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32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-5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47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-4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İst. Yolu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+0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+0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58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58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+0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Heykel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26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-4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-11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-15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Etkinlik (norm dışı)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Engelli ** (norm dışı)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OPERASYONEL TOPLAM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145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131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-14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72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58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-14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217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189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-28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Kayıt toplamı (İK, tüm gruplar)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137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58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195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913632"/>
            <a:ext cx="110185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E6E6E"/>
                </a:solidFill>
                <a:latin typeface="Calibri"/>
              </a:rPr>
              <a:t>** YÖNETİM KARARI: engelli ve etkinlik kadrosu NORM DIŞIDIR — norm doluluğuna sayılmaz, mağaza satırlarından düşülmüştür. Heykel ve Şura'da engelli kadro yoktur (ayrı tüzel kişilik, 50 çalışan altı → 4857/30 yükümlülüğü doğmaz).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4370832"/>
            <a:ext cx="11018520" cy="475488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370832"/>
            <a:ext cx="106070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A6001A"/>
                </a:solidFill>
                <a:latin typeface="Calibri"/>
              </a:rPr>
              <a:t>Norm doluluğu (engelli ve etkinlik hariç): norm 217 · operasyonel gerçek 189 → -28 KİŞİ EKSİK (kadrolu -14 · sezonluk -14).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4882896"/>
            <a:ext cx="11018520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4882896"/>
            <a:ext cx="68580" cy="676656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4901184"/>
            <a:ext cx="106070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6E6E6E"/>
                </a:solidFill>
                <a:latin typeface="Calibri"/>
              </a:rPr>
              <a:t>KAPSAM SÖZLÜĞÜ — bu destede üç ayrı kapsam kullanılır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5102352"/>
            <a:ext cx="10835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00" b="0">
                <a:solidFill>
                  <a:srgbClr val="333333"/>
                </a:solidFill>
                <a:latin typeface="Calibri"/>
              </a:rPr>
              <a:t>• 3 POS mağazası (FSM · Özlüce · İst. Yolu) — iş hacminin ölçülebildiği kapsam: kadro 143 → 160
• 4 norm mağazası (+ Heykel) — norm karşılaştırması: norm 217 · kayıt 195 · operasyonel 189
• 5 mağaza (+ Şura) — İK kadro raporu: kadrolu 149 + sezonluk 62 = 211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Norm = ENGELLİ DIŞINDAKİ personel sayısı (yönetim kararı); etkinlik de norm dışı. Mağaza satırları operasyonel kadroyu gösterir (kadrolu − engelli − etkinlik). Engelli 3 · etkinlik 3 kişi ayrı satırda; en alttaki kayıt toplamı İK'nın resmi rakamıdır (kadrolu 137 · sezonluk 58) · Norm kaynağı: BKMKİTAP Mağaza Kadro ve Sezon Takip Tablosu, 11.08.2026 · Kapsam dışı: Şura · Gerçek sayılar 31.08 as-of.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Norm Açığı — Bölüm Bazında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6858000" cy="3054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731520"/>
                <a:gridCol w="1143000"/>
                <a:gridCol w="960120"/>
                <a:gridCol w="685800"/>
                <a:gridCol w="685800"/>
                <a:gridCol w="96012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Bölüm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Norm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Operasyonel</a:t>
                      </a:r>
                    </a:p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kadrolu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Engelli</a:t>
                      </a:r>
                    </a:p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(norm dışı)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Açık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Fazla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Sezonluk</a:t>
                      </a:r>
                    </a:p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31.08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Çocuk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Mağaza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İdari İşler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Kültür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Kasa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Muhasebe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Akademi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Oyun Alanı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Mal Kabul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Oyuncak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Yardımcı Kitap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Kırtasiye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Kıyafet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TOPLAM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145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131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58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Etkinlik (norm dışı)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7955279" y="1371600"/>
            <a:ext cx="361188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955279" y="1371600"/>
            <a:ext cx="68580" cy="196596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lert-triang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1672" y="1536192"/>
            <a:ext cx="274320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83879" y="1481328"/>
            <a:ext cx="27432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E6E6E"/>
                </a:solidFill>
                <a:latin typeface="Calibri"/>
              </a:rPr>
              <a:t>EN BÜYÜK AÇIKLAR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83879" y="1810512"/>
            <a:ext cx="32004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A6001A"/>
                </a:solidFill>
                <a:latin typeface="Calibri"/>
              </a:rPr>
              <a:t>Çocuk  5 kişi
Mağaza  2 kişi
İdari İşler  2 kişi
Kültür  2 kişi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79" y="3520440"/>
            <a:ext cx="3611880" cy="196596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83879" y="3630168"/>
            <a:ext cx="3200400" cy="1783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>
                <a:solidFill>
                  <a:srgbClr val="A6001A"/>
                </a:solidFill>
                <a:latin typeface="Calibri"/>
              </a:rPr>
              <a:t>Neden mağaza toplamından büyük?</a:t>
            </a:r>
          </a:p>
          <a:p>
            <a:pPr algn="l">
              <a:lnSpc>
                <a:spcPct val="112000"/>
              </a:lnSpc>
            </a:pPr>
            <a:r>
              <a:rPr sz="1000" b="0">
                <a:solidFill>
                  <a:srgbClr val="333333"/>
                </a:solidFill>
                <a:latin typeface="Calibri"/>
              </a:rPr>
              <a:t>Bölüm bazında açık 17 kişi, mağaza bazında 14. Aradaki fark, bir mağazada bir bölümün fazlasının başka bölümün açığını maskelemesinden gelir. Gerçek ihtiyaç bölüm bazında okunur.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Norm = engelli DIŞINDAKİ personel (yönetim kararı) — engelli bölüm bazında da DÜŞÜLDÜ: Kırtasiye 2 · Mal Kabul 1 · ETKİNLİK normda tanımlı olmadığı için norm dışı satır olarak en altta · Kapsam: norm tablosundaki dört mağaza (Şura yok) · Norm 11.08.2026 tarihli · Gerçek sayılar 31.08 as-of.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Sezonluk Alım Zamanlaması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68580" cy="182880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work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1536192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4672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ORTALAMA ALIM GÜNÜ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9A9A9A"/>
                </a:solidFill>
                <a:latin typeface="Calibri"/>
              </a:rPr>
              <a:t>2,5 gün geç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takvim ölçüsü · 225. → 228. gün</a:t>
            </a:r>
          </a:p>
        </p:txBody>
      </p:sp>
      <p:sp>
        <p:nvSpPr>
          <p:cNvPr id="9" name="Rectangle 8"/>
          <p:cNvSpPr/>
          <p:nvPr/>
        </p:nvSpPr>
        <p:spPr>
          <a:xfrm>
            <a:off x="4279392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79392" y="1371600"/>
            <a:ext cx="68580" cy="18288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us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70064" y="1536192"/>
            <a:ext cx="274320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35424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TEMMUZ VE ÖNCESİ ALIM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5424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A6001A"/>
                </a:solidFill>
                <a:latin typeface="Calibri"/>
              </a:rPr>
              <a:t>6 →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gerçek erken alım azaldı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100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1000" y="1371600"/>
            <a:ext cx="68580" cy="18288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pack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91672" y="1536192"/>
            <a:ext cx="274320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257031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1–14 AĞUSTOS İŞ HACMİ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7031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A6001A"/>
                </a:solidFill>
                <a:latin typeface="Calibri"/>
              </a:rPr>
              <a:t>+%25,1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137.483 → 171.963 adet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548640" y="3246120"/>
          <a:ext cx="110185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737360"/>
                <a:gridCol w="1737360"/>
                <a:gridCol w="4251960"/>
              </a:tblGrid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Ölçü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Yorum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Ortalama alım günü (takvim)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225. gün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228. gün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A6001A"/>
                          </a:solidFill>
                          <a:latin typeface="Calibri"/>
                        </a:rPr>
                        <a:t>2026 alımı ortalama 2,5 gün DAHA GEÇ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Temmuz ve öncesi alınan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6 kişi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2 kişi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A6001A"/>
                          </a:solidFill>
                          <a:latin typeface="Calibri"/>
                        </a:rPr>
                        <a:t>erken alım azaldı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Açılıştan 45+ gün önce alınan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4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2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A6001A"/>
                          </a:solidFill>
                          <a:latin typeface="Calibri"/>
                        </a:rPr>
                        <a:t>çok erken alım azaldı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1–14 Ağustos alınan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12 kişi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30 kişi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A6001A"/>
                          </a:solidFill>
                          <a:latin typeface="Calibri"/>
                        </a:rPr>
                        <a:t>artış bu iki haftada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1–14 Ağustos ürün adedi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137.483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171.963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A6001A"/>
                          </a:solidFill>
                          <a:latin typeface="Calibri"/>
                        </a:rPr>
                        <a:t>iş +%25,1 büyüdü — alım işi takip etti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15–31 Ağustos ürün adedi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321.026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311.695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A6001A"/>
                          </a:solidFill>
                          <a:latin typeface="Calibri"/>
                        </a:rPr>
                        <a:t>−%2,9 — dalga Eylül'e kaydı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31.08'de çalışan sezonluk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65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62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A6001A"/>
                          </a:solidFill>
                          <a:latin typeface="Calibri"/>
                        </a:rPr>
                        <a:t>kesimde 3 kişi DAHA AZ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   — Temmuz alımı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4 kişi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2 kişi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A6001A"/>
                          </a:solidFill>
                          <a:latin typeface="Calibri"/>
                        </a:rPr>
                        <a:t>erken alım payı düştü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   — 1–14 Ağustos alımı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12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27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A6001A"/>
                          </a:solidFill>
                          <a:latin typeface="Calibri"/>
                        </a:rPr>
                        <a:t>iş +%25,1 büyüyen dönem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   — 15–31 Ağustos alımı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49 kişi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32 kişi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A6001A"/>
                          </a:solidFill>
                          <a:latin typeface="Calibri"/>
                        </a:rPr>
                        <a:t>iş −%2,9 → alım azaltıldı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İK'da düzeltme bekleyen 1 kayıt: 2025 girişli bir sezonluk personel çıkış tarihi işlenmediği için 31.08'de aktif görünüyor; düzeltilince sezonluk 62 → 61 olur (rakamlar İK'nın resmi kaydıyla birebir tutulsun diye şimdilik düzeltilmedi) · Kapsam: beş mağaza (FSM · Özlüce · İst. Yolu · Heykel · Şura) · Kohortlar okul açılışına göre AYNI ofsette kesildi (T−12: 27.08.2025 ve 02.09.2026) · İş hacmi üç POS mağazası · ⚠ "açılıştan kaç gün önce" ölçüsü açılış 6 gün kaydığı için 2026'yı mekanik olarak erken gösterir, takvim ölçüsü esastır.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Yöntem ve Açıklamalar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18520" cy="74066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68580" cy="740664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ircle-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453895"/>
            <a:ext cx="256032" cy="2560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43000" y="1389888"/>
            <a:ext cx="10058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A6001A"/>
                </a:solidFill>
                <a:latin typeface="Calibri"/>
              </a:rPr>
              <a:t>Büyüme kurumsal kanaldan mı geldi?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1673352"/>
            <a:ext cx="10058400" cy="3566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3333"/>
                </a:solidFill>
                <a:latin typeface="Calibri"/>
              </a:rPr>
              <a:t>Tersi: Sınav Okulları küçüldü. Ocak–Ağustos cirosu 136,1 → 105,6 milyon TL (−%22,4). Mağaza tarafı +%54,9 büyüdü — büyümenin tamamı raftan geldi.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157984"/>
            <a:ext cx="11018520" cy="74066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157984"/>
            <a:ext cx="68580" cy="740664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ircle-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286000"/>
            <a:ext cx="256032" cy="2560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43000" y="2221991"/>
            <a:ext cx="10058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A6001A"/>
                </a:solidFill>
                <a:latin typeface="Calibri"/>
              </a:rPr>
              <a:t>Ciro artışı enflasyon kaynaklı mı?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505456"/>
            <a:ext cx="10058400" cy="3566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3333"/>
                </a:solidFill>
                <a:latin typeface="Calibri"/>
              </a:rPr>
              <a:t>Kısmen doğru: eşleşen ürünlerde fiyat endeksi +%19,8. Bu yüzden savunma ciroya değil ADEDE dayanıyor: ürün adedi +%34,9 ve adet fiyattan etkilenmez.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990087"/>
            <a:ext cx="11018520" cy="74066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2990087"/>
            <a:ext cx="68580" cy="740664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circle-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118103"/>
            <a:ext cx="256032" cy="25603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143000" y="3054095"/>
            <a:ext cx="10058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A6001A"/>
                </a:solidFill>
                <a:latin typeface="Calibri"/>
              </a:rPr>
              <a:t>Kasa sistemi değişti, karşılaştırma geçerli mi?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337559"/>
            <a:ext cx="10058400" cy="3566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3333"/>
                </a:solidFill>
                <a:latin typeface="Calibri"/>
              </a:rPr>
              <a:t>Bu yüzden ölçüm POS'tan değil ERP'den (DerinSIS) alındı — iki yılda da aynı kaynak, aynı belge tipi. Temmuz 2025 kasa geçişi ölçüye girmiyor.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822191"/>
            <a:ext cx="11018520" cy="74066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822191"/>
            <a:ext cx="68580" cy="740664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ircle-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950207"/>
            <a:ext cx="256032" cy="25603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143000" y="3886200"/>
            <a:ext cx="10058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A6001A"/>
                </a:solidFill>
                <a:latin typeface="Calibri"/>
              </a:rPr>
              <a:t>Sezonluk personel erken mi alındı?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4169663"/>
            <a:ext cx="10058400" cy="3566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3333"/>
                </a:solidFill>
                <a:latin typeface="Calibri"/>
              </a:rPr>
              <a:t>Hayır: takvim ölçüsünde 2026 alımı ortalama 2,5 gün DAHA GEÇ; Temmuz ve öncesi alım 6 kişiden 2'ye indi. Artış 1–14 Ağustos'ta ve o iki haftada ürün adedi +%25,1 büyüdü — alım işi takip etti.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654296"/>
            <a:ext cx="11018520" cy="74066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4654296"/>
            <a:ext cx="68580" cy="740664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circle-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782312"/>
            <a:ext cx="256032" cy="256032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143000" y="4718304"/>
            <a:ext cx="10058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A6001A"/>
                </a:solidFill>
                <a:latin typeface="Calibri"/>
              </a:rPr>
              <a:t>Ağustos ayında ivme düşüşü var mı?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3000" y="5001768"/>
            <a:ext cx="10058400" cy="3566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3333"/>
                </a:solidFill>
                <a:latin typeface="Calibri"/>
              </a:rPr>
              <a:t>Takvim etkisi: okullar 2025'te 8 Eylül, 2026'da 14 Eylül açıldı — sezon 6 gün geriye kaydı. Açılışa hizalanınca haftalık büyüme %65–79 bandında düz seyrediyor.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üç POS mağazası — FSM · Özlüce · İst. Yolu · Dönem: 01.01 – 31.08 (her iki yıl, kümülatif) (kurumsal/mağaza kıyası) · hizalı dönem: 01.07 – 25.08.2025 (2025) · 07.07 – 31.08.2026 (2026), her iki yıl 56 gün, okul açılışına hizalı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İyileştirme Alanı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53949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68580" cy="22860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50876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E6E6E"/>
                </a:solidFill>
                <a:latin typeface="Calibri"/>
              </a:rPr>
              <a:t>KADROLU ALIMDA KALMA ORANI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74519"/>
            <a:ext cx="49377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A6001A"/>
                </a:solidFill>
                <a:latin typeface="Calibri"/>
              </a:rPr>
              <a:t>%95,7 → %75,0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697480"/>
            <a:ext cx="49377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333333"/>
                </a:solidFill>
                <a:latin typeface="Calibri"/>
              </a:rPr>
              <a:t>İlk 14 günü tamamlama oranı. 32 alımdan 10'u kesim tarihine kadar ayrılmıştır (önceki yıl 24 alımdan 2). Aynı pozisyonun iki kez doldurulması maliyet yaratmaktadır.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2200" y="1371600"/>
            <a:ext cx="53949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1371600"/>
            <a:ext cx="68580" cy="228600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50876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E6E6E"/>
                </a:solidFill>
                <a:latin typeface="Calibri"/>
              </a:rPr>
              <a:t>SEZONLUK KADRODA KALMA ORANI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874519"/>
            <a:ext cx="49377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A6001A"/>
                </a:solidFill>
                <a:latin typeface="Calibri"/>
              </a:rPr>
              <a:t>%93,9 → %95,1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697480"/>
            <a:ext cx="49377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333333"/>
                </a:solidFill>
                <a:latin typeface="Calibri"/>
              </a:rPr>
              <a:t>Sezonluk kadroda kalma oranı yükselmiştir. Sorun sezonluk alımda değil, kadrolu alımın ilk haftasındadır.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840480"/>
            <a:ext cx="11018520" cy="160020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3977639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A6001A"/>
                </a:solidFill>
                <a:latin typeface="Calibri"/>
              </a:rPr>
              <a:t>Planlanan Aksiyonlar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• En bozuk üç nokta: Özlüce, Heykel, Merkez Depo → ilk hafta karşılama protokolü.
• İdari İşler pozisyonunda ücret–vardiya revizyonu.
• Ölçüt: gelecek sezon Eylül öncesi kayıp %20'den %12'ye (2025 seviyesi).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beş mağazanın tamamı — FSM · Özlüce · İst. Yolu · Heykel · Şura · Ölçüm noktaları: 30.06 tabanı ve 31.08 kesimi (tarih aralığı değil, o gün fiilen çalışan kişi) Tutunma ölçümü mağaza kadrosu üzerinden yapılmıştır.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Sonuç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Norma göre -28 kişi · kadrolu −4 · ürün adedi +%34,9 · personel başına iş +%20,6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eması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eması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10211</TotalTime>
  <Words>12</Words>
  <Application>Microsoft Office PowerPoint</Application>
  <PresentationFormat>Geniş ekran</PresentationFormat>
  <Paragraphs>6</Paragraphs>
  <Slides>3</Slides>
  <Notes>0</Notes>
  <HiddenSlides>0</HiddenSlides>
  <MMClips>0</MMClips>
  <ScaleCrop>false</ScaleCrop>
  <HeadingPairs>
    <vt:vector size="6" baseType="variant">
      <vt:variant>
        <vt:lpstr>Kullanılan Yazı Tipleri</vt:lpstr>
      </vt:variant>
      <vt:variant>
        <vt:i4>3</vt:i4>
      </vt:variant>
      <vt:variant>
        <vt:lpstr>Tema</vt:lpstr>
      </vt:variant>
      <vt:variant>
        <vt:i4>1</vt:i4>
      </vt:variant>
      <vt:variant>
        <vt:lpstr>Slayt Başlıkları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Office Teması</vt:lpstr>
      <vt:lpstr>PowerPoint Sunusu</vt:lpstr>
      <vt:lpstr>PowerPoint Sunusu</vt:lpstr>
      <vt:lpstr>PowerPoint Sunusu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Sunusu</dc:title>
  <dc:creator>Microsoft Office User</dc:creator>
  <cp:lastModifiedBy>Fikri EREN</cp:lastModifiedBy>
  <cp:revision>38</cp:revision>
  <dcterms:created xsi:type="dcterms:W3CDTF">2021-08-17T14:49:48Z</dcterms:created>
  <dcterms:modified xsi:type="dcterms:W3CDTF">2026-06-03T21:08:53Z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defa4170-0d19-0005-0004-bc88714345d2_Enabled">
    <vt:lpwstr>true</vt:lpwstr>
  </property>
  <property fmtid="{D5CDD505-2E9C-101B-9397-08002B2CF9AE}" pid="3" name="MSIP_Label_defa4170-0d19-0005-0004-bc88714345d2_SetDate">
    <vt:lpwstr>2026-04-28T14:42:08Z</vt:lpwstr>
  </property>
  <property fmtid="{D5CDD505-2E9C-101B-9397-08002B2CF9AE}" pid="4" name="MSIP_Label_defa4170-0d19-0005-0004-bc88714345d2_Method">
    <vt:lpwstr>Standard</vt:lpwstr>
  </property>
  <property fmtid="{D5CDD505-2E9C-101B-9397-08002B2CF9AE}" pid="5" name="MSIP_Label_defa4170-0d19-0005-0004-bc88714345d2_Name">
    <vt:lpwstr>defa4170-0d19-0005-0004-bc88714345d2</vt:lpwstr>
  </property>
  <property fmtid="{D5CDD505-2E9C-101B-9397-08002B2CF9AE}" pid="6" name="MSIP_Label_defa4170-0d19-0005-0004-bc88714345d2_SiteId">
    <vt:lpwstr>ce838670-1954-4442-b940-eac0d507ddc2</vt:lpwstr>
  </property>
  <property fmtid="{D5CDD505-2E9C-101B-9397-08002B2CF9AE}" pid="7" name="MSIP_Label_defa4170-0d19-0005-0004-bc88714345d2_ActionId">
    <vt:lpwstr>6985f007-4c57-476a-a6d9-44ba75cd90f5</vt:lpwstr>
  </property>
  <property fmtid="{D5CDD505-2E9C-101B-9397-08002B2CF9AE}" pid="8" name="MSIP_Label_defa4170-0d19-0005-0004-bc88714345d2_ContentBits">
    <vt:lpwstr>0</vt:lpwstr>
  </property>
  <property fmtid="{D5CDD505-2E9C-101B-9397-08002B2CF9AE}" pid="9" name="MSIP_Label_defa4170-0d19-0005-0004-bc88714345d2_Tag">
    <vt:lpwstr>10, 3, 0, 1</vt:lpwstr>
  </property>
</Properties>
</file>