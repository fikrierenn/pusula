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71.83742911999343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122.60138084999475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25239.927802197803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57.5586237581637</c:v>
                </c:pt>
                <c:pt idx="1">
                  <c:v>96.12850541161808</c:v>
                </c:pt>
                <c:pt idx="2">
                  <c:v>62.26752661004522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9.png"/><Relationship Id="rId6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Kapsam ve İçerik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" y="1692097"/>
            <a:ext cx="291693" cy="291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gelişimi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Taban 30.06 · sezon içi hareket · sezonluk kadro.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29" y="1692097"/>
            <a:ext cx="291693" cy="2916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İş hacmi gelişimi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Elleçlenen ürün adedi ve ciro, aynı dönemde.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089" y="1692097"/>
            <a:ext cx="291693" cy="2916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Personel başına iş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Kadro büyümesiyle iş büyümesinin karşılaştırması.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" y="3658057"/>
            <a:ext cx="291693" cy="29169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dağılımı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Bölüm ve mağaza bazında artışın dağılımı.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329" y="3658057"/>
            <a:ext cx="291693" cy="29169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7200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Yöntem ve açıklamalar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Enflasyon · kurumsal kanal · sistem geçişi · takvim.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lert-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089" y="3658057"/>
            <a:ext cx="291693" cy="2916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İyileştirme alanı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Yeni alınan personelin ilk iki haftada kalma oranı.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9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TABAN FARKI · 30.06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139 → 153 kişi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1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İÇİ KADROLU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1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1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153 → 149 · geçen yıl -4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251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ÜRÜN ADEDİ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7143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 ÜRÜN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+%20,6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4.019 → 4.845 adet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29000"/>
            <a:ext cx="110185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429000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farkı sezon öncesinde oluşmuştur; sezon döneminde kadro azalırken iş hacmi %34,9 artmıştır.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68580" cy="10058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ÜÇ POS MAĞAZASI (SEZONLUK DAHİL)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  <a:latin typeface="Calibri"/>
              </a:rPr>
              <a:t>143 → 160 kişi  (+%11,9)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4434840"/>
            <a:ext cx="68580" cy="100584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İŞ HACMİ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30622"/>
                </a:solidFill>
                <a:latin typeface="Calibri"/>
              </a:rPr>
              <a:t>iş hacmi, kadronun 2,9 katı oranında artmıştır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Kadro: beş mağaza (FSM · Özlüce · İst. Yolu · Heykel · Şura), ölçüm noktaları 30.06 ve 31.08 · İş hacmi ve personel başına: üç POS mağazası (FSM · Özlüce · İst. Yolu), dönem 01.07 – 25.08.2025 (2025) · 07.07 – 31.08.2026 (2026), her iki yıl 56 gün, okul açılışına hizalı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19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88720"/>
                <a:gridCol w="1188720"/>
                <a:gridCol w="1188720"/>
                <a:gridCol w="1188720"/>
                <a:gridCol w="1005840"/>
                <a:gridCol w="1005840"/>
                <a:gridCol w="118872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× Bölüm Kadro Değişimi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08760"/>
                <a:gridCol w="1371600"/>
                <a:gridCol w="1234440"/>
                <a:gridCol w="1417320"/>
                <a:gridCol w="12344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Bilgi İşlem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48656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'—' ilgili mağazada o bölüm yoktur · Yönetim, Mal Kabul ve İdari İşler satırları tüm mağazalarda sıfır veya negatiftir.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651760"/>
                <a:gridCol w="1371600"/>
                <a:gridCol w="1371600"/>
                <a:gridCol w="123444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 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059936"/>
          <a:ext cx="6766560" cy="14264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03904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23360"/>
            <a:ext cx="4069080" cy="15544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Artışın en düşük olduğu kategoride (Çocuk Kitabı) kadro azaltılmıştır.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987552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81328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70432" y="1417320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737360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04872"/>
            <a:ext cx="11018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04872"/>
            <a:ext cx="68580" cy="987552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70432" y="2496312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16352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83863"/>
            <a:ext cx="11018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483863"/>
            <a:ext cx="68580" cy="987552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39311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0432" y="3575303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895344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62855"/>
            <a:ext cx="11018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562855"/>
            <a:ext cx="68580" cy="987552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18303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432" y="4654295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974336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dönemi kadrolu -4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