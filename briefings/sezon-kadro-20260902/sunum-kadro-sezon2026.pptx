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4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E743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87737" autoAdjust="0"/>
  </p:normalViewPr>
  <p:slideViewPr>
    <p:cSldViewPr snapToGrid="0" snapToObjects="1">
      <p:cViewPr varScale="1">
        <p:scale>
          <a:sx n="83" d="100"/>
          <a:sy n="83" d="100"/>
        </p:scale>
        <p:origin x="65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139</c:v>
                </c:pt>
                <c:pt idx="1">
                  <c:v>135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153</c:v>
                </c:pt>
                <c:pt idx="1">
                  <c:v>149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574.7176999999999</c:v>
                </c:pt>
                <c:pt idx="1">
                  <c:v>71.83742911999343</c:v>
                </c:pt>
                <c:pt idx="2">
                  <c:v>143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775.19155</c:v>
                </c:pt>
                <c:pt idx="1">
                  <c:v>122.60138084999475</c:v>
                </c:pt>
                <c:pt idx="2">
                  <c:v>160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4524.798039215687</c:v>
                </c:pt>
                <c:pt idx="1">
                  <c:v>3467.96</c:v>
                </c:pt>
                <c:pt idx="2">
                  <c:v>4060.8333333333335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5578.70462962963</c:v>
                </c:pt>
                <c:pt idx="1">
                  <c:v>4232.270491803279</c:v>
                </c:pt>
                <c:pt idx="2">
                  <c:v>4794.955555555555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adet / kişi</c:v>
                </c:pt>
              </c:strCache>
            </c:strRef>
          </c:tx>
          <c:spPr>
            <a:ln w="31750">
              <a:solidFill>
                <a:srgbClr val="E30622"/>
              </a:solidFill>
            </a:ln>
          </c:spPr>
          <c:marker>
            <c:symbol val="circle"/>
            <c:size val="7"/>
            <c:spPr>
              <a:solidFill>
                <a:srgbClr val="E30622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34404.7405</c:v>
                </c:pt>
                <c:pt idx="1">
                  <c:v>25239.927802197803</c:v>
                </c:pt>
                <c:pt idx="2">
                  <c:v>28670.6775</c:v>
                </c:pt>
                <c:pt idx="3">
                  <c:v>32498.27846846847</c:v>
                </c:pt>
              </c:numCache>
            </c:numRef>
          </c:val>
          <c:smooth val="0"/>
        </c:ser>
        <c:dLbls>
          <c:numFmt sourceLinked="0" formatCode="#,##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kadrolu değişim (kişi)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Sheet1!$A$2:$A$9</c:f>
              <c:strCache>
                <c:ptCount val="8"/>
                <c:pt idx="0">
                  <c:v>Yardımcı Kitap</c:v>
                </c:pt>
                <c:pt idx="1">
                  <c:v>Kırtasiye</c:v>
                </c:pt>
                <c:pt idx="2">
                  <c:v>Kasa</c:v>
                </c:pt>
                <c:pt idx="3">
                  <c:v>Akademi</c:v>
                </c:pt>
                <c:pt idx="4">
                  <c:v>Şura</c:v>
                </c:pt>
                <c:pt idx="5">
                  <c:v>Mağaza</c:v>
                </c:pt>
                <c:pt idx="6">
                  <c:v>Mal Kabul</c:v>
                </c:pt>
                <c:pt idx="7">
                  <c:v>İdari İşler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sourceLinked="0" formatCode="+0;-0;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kadro Δ%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5.882352941176472</c:v>
                </c:pt>
                <c:pt idx="1">
                  <c:v>21.999999999999996</c:v>
                </c:pt>
                <c:pt idx="2">
                  <c:v>7.14285714285714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30.5442513521349</c:v>
                </c:pt>
                <c:pt idx="1">
                  <c:v>48.88781877530306</c:v>
                </c:pt>
                <c:pt idx="2">
                  <c:v>26.512268769605107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ciro Δ%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57.5586237581637</c:v>
                </c:pt>
                <c:pt idx="1">
                  <c:v>96.12850541161808</c:v>
                </c:pt>
                <c:pt idx="2">
                  <c:v>62.26752661004522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Sheet1!$A$2:$A$7</c:f>
              <c:strCache>
                <c:ptCount val="6"/>
                <c:pt idx="0">
                  <c:v>Hazırlık Kitapları</c:v>
                </c:pt>
                <c:pt idx="1">
                  <c:v>Kırtasiye</c:v>
                </c:pt>
                <c:pt idx="2">
                  <c:v>Akademi</c:v>
                </c:pt>
                <c:pt idx="3">
                  <c:v>Kitap</c:v>
                </c:pt>
                <c:pt idx="4">
                  <c:v>Oyuncak</c:v>
                </c:pt>
                <c:pt idx="5">
                  <c:v>Çocuk Kitabı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39.08924756094421</c:v>
                </c:pt>
                <c:pt idx="1">
                  <c:v>33.552172719623094</c:v>
                </c:pt>
                <c:pt idx="2">
                  <c:v>238.98744541484714</c:v>
                </c:pt>
                <c:pt idx="3">
                  <c:v>25.988343197939724</c:v>
                </c:pt>
                <c:pt idx="4">
                  <c:v>57.96957048606437</c:v>
                </c:pt>
                <c:pt idx="5">
                  <c:v>16.995917921553104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gerçekleşen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458.50870000000003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gerçekleşen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483.65855000000005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 kayma olmasaydı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617.2970044317599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300641-7B70-43EC-9136-1D81371FEE47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D3DCFB-12CD-4DAE-BBD4-16A1DFAADA0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74109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A12A0B8-7CD9-B74F-AD7D-AA5C006919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1E65EBCF-2F36-CF46-9DD1-6FFE1AA5A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488EE4F-7D91-234B-8366-AA8985615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9D6E736-D18C-C440-B2A3-19ECC7849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A482C50-33CE-4643-B22A-C50A02C7E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54873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6312382-F59E-E44D-94A0-09384B0F9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76D9B72-D3A8-E240-AEF8-FE471ED66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5B1322A-D814-E643-B637-F0282443B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2582D07-6D20-5949-950C-B5A20A0F4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8D4B1F6-7694-B744-8AAA-4BECF121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86541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EBB9133-18E9-7041-99FE-48C21A3B0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142A014-6DBE-244A-8639-0EE92109B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A43E15A-394F-0044-AF14-DF4A8E99F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36113B3-E6C6-874A-90AD-FD4D22C5E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4E3EE12-20EA-8E44-9CBB-3793CBA50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5881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9DE5D64-D6D9-1B4C-880B-F020BD5B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A614EDC-B75D-FD4A-913F-EB03DAD50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9E8DC66-2F12-BF45-BDF1-EB4DE2DCF4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0EB4623-12A7-9540-B93C-840D6334E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EBF5A08-683B-A041-B5AF-469F3D01E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7AF5A4F-3422-8D4C-B532-C19D5521D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6722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085C4E5-E52A-DF43-85E4-57E96D05D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F46582EA-A382-1A41-AA8F-C0DD08B58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B1AAA910-32F1-1540-8CA3-526201D04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BBDC8A26-902D-E743-9638-6203DB6724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F5DAED4-7A45-A34F-956E-DACEA75416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C5ACEEAF-4684-F04E-80D2-76BE89884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5B223AD2-9BE0-0A4D-B738-5296F04B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BBEB5DF6-944F-E94C-A1BA-10A5A661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97544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D3F0FF1-32E6-FD40-8A9C-E85D7C1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D2C6123-FE18-C44A-A357-D8B6B0B53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8C92C8A-24FE-B446-8032-DED13B38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DB36637B-5E7C-0847-BC64-C44714060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59690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A6A8CB8-EFDA-1841-AB52-284AC13EB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518FACD0-1C0C-F844-A6D9-6990A191D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536F959D-05A5-F54F-866D-1FC89F6DD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3732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53FE235-85E2-1A43-BF30-191677246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8CC76E4-8C64-B342-B4EC-44F760084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0C9758BE-896D-4443-9F29-4E18D53FB0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65AB6F4E-2BB2-9542-83B0-174B6AC1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8C1D8FA-7F1B-BE43-BC85-4673B367B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695DCC4-1DAA-064E-8320-65BC1EBE6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003492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F589E15-52F3-DB45-A42D-3F61DE42D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087BD87E-B3E7-DF45-95D0-286AFA3AB3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B831928-3F51-F445-ADB5-05183485EB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DB8D77B-5A0A-F64D-B935-6497FC341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0606790-016F-E54D-85B0-4B1E659B4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2CED7389-4408-AA49-B7D2-C64C66528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34962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823ABBF-61CE-2343-B786-F51900E18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E49DC93-9DC1-4049-A045-E6FBD9BEDA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6BD782-94F5-5941-B929-871FD568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25E8FD7-FD2E-E44E-8873-B0F5664F6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0F22D4D-9D52-8947-9398-81B831C5A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4734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9D8B94DF-9C10-F744-84AC-2D788A9B6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EEE070A1-AF86-9443-AEFA-9B376AB8F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693308C-5B7C-B949-A2F9-F004509B3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0646E30-46C7-B14D-9F74-F28EF8347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943329E-064A-C547-89FC-FB32F8117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648210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1F91565E-1330-4B41-9057-C6551F413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04A2AE8-5086-4F49-AEF5-F297986E2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AA47F096-3E19-C541-9264-4ADD4AFAB6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3A27738-D8F5-9F47-8FC7-84CD34D5D7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3EFD96A-A9C0-114E-84B0-21F7E892BF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6788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Kadro ve İş Hacmi Değerlendirmesi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Sezon 2026 · Mağazalar · kadro 30.06 ve 31.08 · iş hacmi 01.07.2025 – 25.08.2025 ile 07.07.2026 – 31.08.2026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Kapsam ve İçerik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936" y="1399032"/>
            <a:ext cx="3401568" cy="548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569" y="1692097"/>
            <a:ext cx="291693" cy="2916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Kadro gelişimi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Taban 30.06 · sezon içi hareket · sezonluk kadro.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37160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25696" y="1399032"/>
            <a:ext cx="3401568" cy="54864"/>
          </a:xfrm>
          <a:prstGeom prst="rect">
            <a:avLst/>
          </a:prstGeom>
          <a:solidFill>
            <a:srgbClr val="C0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0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329" y="1692097"/>
            <a:ext cx="291693" cy="29169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İş hacmi gelişimi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Elleçlenen ürün adedi ve ciro, aynı dönemde.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37160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0456" y="1399032"/>
            <a:ext cx="3401568" cy="54864"/>
          </a:xfrm>
          <a:prstGeom prst="rect">
            <a:avLst/>
          </a:prstGeom>
          <a:solidFill>
            <a:srgbClr val="7A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6676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z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6089" y="1692097"/>
            <a:ext cx="291693" cy="29169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6676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Personel başına iş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Kadro büyümesiyle iş büyümesinin karşılaştırması.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33756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" y="3364991"/>
            <a:ext cx="3401568" cy="5486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724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569" y="3658057"/>
            <a:ext cx="291693" cy="29169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Kadro dağılımı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Bölüm ve mağaza bazında artışın dağılımı.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3400" y="333756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25696" y="3364991"/>
            <a:ext cx="3401568" cy="54864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hield-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1329" y="3658057"/>
            <a:ext cx="291693" cy="29169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57200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Yöntem ve açıklamalar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Enflasyon · kurumsal kanal · sistem geçişi · takvim.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8160" y="333756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20456" y="3364991"/>
            <a:ext cx="3401568" cy="548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6676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alert-triang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6089" y="3658057"/>
            <a:ext cx="291693" cy="29169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36676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İyileştirme alanı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Yeni alınan personelin ilk iki haftada kalma oranı.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Yönetici Özeti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26517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936" y="1399032"/>
            <a:ext cx="2487168" cy="548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536192"/>
            <a:ext cx="23042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TABAN FARKI · 30.06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975104"/>
            <a:ext cx="230428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688336"/>
            <a:ext cx="23042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139 → 153 kişi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371600"/>
            <a:ext cx="26517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19856" y="1399032"/>
            <a:ext cx="2487168" cy="548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8728" y="1536192"/>
            <a:ext cx="23042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SEZON İÇİ KADROLU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1975104"/>
            <a:ext cx="230428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30622"/>
                </a:solidFill>
                <a:latin typeface="Calibri"/>
              </a:rPr>
              <a:t>-4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688336"/>
            <a:ext cx="23042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153 → 149 · geçen yıl -4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371600"/>
            <a:ext cx="26517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8776" y="1399032"/>
            <a:ext cx="2487168" cy="54864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536192"/>
            <a:ext cx="23042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ÜRÜN ADEDİ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1975104"/>
            <a:ext cx="230428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2688336"/>
            <a:ext cx="23042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1371600"/>
            <a:ext cx="26517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97696" y="1399032"/>
            <a:ext cx="2487168" cy="54864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1536192"/>
            <a:ext cx="23042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KİŞİ BAŞI ÜRÜN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6568" y="1975104"/>
            <a:ext cx="230428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+%20,6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688336"/>
            <a:ext cx="23042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4.019 → 4.845 adet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429000"/>
            <a:ext cx="11018520" cy="8686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429000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Kadro farkı sezon öncesinde oluşmuştur; sezon döneminde kadro azalırken iş hacmi %34,9 artmıştır.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434840"/>
            <a:ext cx="53949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" y="4462272"/>
            <a:ext cx="5230368" cy="54864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52628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KADRO · ÜÇ POS MAĞAZASI (SEZONLUK DAHİL)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80060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B2B2B"/>
                </a:solidFill>
                <a:latin typeface="Calibri"/>
              </a:rPr>
              <a:t>143 → 160 kişi  (+%11,9)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4434840"/>
            <a:ext cx="53949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54496" y="4462272"/>
            <a:ext cx="5230368" cy="548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452628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İŞ HACMİ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80060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30622"/>
                </a:solidFill>
                <a:latin typeface="Calibri"/>
              </a:rPr>
              <a:t>iş hacmi, kadronun 2,9 katı oranında artmıştır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Kadro: beş mağaza (FSM · Özlüce · İst. Yolu · Heykel · Şura), ölçüm noktaları 30.06 ve 31.08 · İş hacmi ve personel başına: üç POS mağazası (FSM · Özlüce · İst. Yolu), dönem 01.07 – 25.08.2025 (2025) · 07.07 – 31.08.2026 (2026), her iki yıl 56 gün, okul açılışına hizalı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Kadro Farkının Oluşum Dönemi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2084831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936" y="1444752"/>
            <a:ext cx="1920239" cy="54864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2025 tabanı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3472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79776" y="1417320"/>
            <a:ext cx="2084831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62072" y="1444752"/>
            <a:ext cx="1920239" cy="548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öncesi eklenen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Temmuz'dan önce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10912" y="1417320"/>
            <a:ext cx="2084831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93207" y="1444752"/>
            <a:ext cx="1920239" cy="54864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2026 tabanı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744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42048" y="1417320"/>
            <a:ext cx="2084831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24344" y="1444752"/>
            <a:ext cx="1920239" cy="54864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içi değişim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-4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 – 31 Ağu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73184" y="1417320"/>
            <a:ext cx="2084831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555480" y="1444752"/>
            <a:ext cx="1920239" cy="54864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9488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31 Ağustos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9488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sezon zirvesi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548640" y="3383280"/>
          <a:ext cx="557784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400800" y="3474720"/>
            <a:ext cx="516636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584448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Sezon döneminde kadro artışı yoktur.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Kadrolu personel 153 → 149 (-4). Önceki yıl da aynı yönde (-4): sezon döneminde alınan kadrolu personel ayrılanların yerine gelmiş, kadroyu büyütmemiştir.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Bazında Kadro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11018519" cy="30893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188720"/>
                <a:gridCol w="1188720"/>
                <a:gridCol w="1188720"/>
                <a:gridCol w="1188720"/>
                <a:gridCol w="1005840"/>
                <a:gridCol w="1005840"/>
                <a:gridCol w="1188720"/>
                <a:gridCol w="11887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48640" y="4526280"/>
            <a:ext cx="11018520" cy="685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26280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İŞ HACMİ KAPSAMI — üç POS mağazası (FSM · Özlüce · İst. Yolu): kadrolu 96 → 111 · sezonluk 47 → 49 · TOPLAM KADRO 143 → 160.  Diğer slaytlardaki 143 → 160 kadro rakamı bu satırdır.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85232"/>
            <a:ext cx="11018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= sezonluk dışı personel · Sezon içi = 31.08 kesimi ile 30.06 tabanı arasındaki değişim (her iki yılda da negatif: -4 ve -4).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İş hacmi kapsamı üç POS mağazasıdır (FSM · Özlüce · İst. Yolu).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Dönem İş Hacmi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5661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936" y="1399032"/>
            <a:ext cx="3401568" cy="54864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536192"/>
            <a:ext cx="32186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ELLEÇLENEN ÜRÜN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975104"/>
            <a:ext cx="321868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688336"/>
            <a:ext cx="32186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9392" y="1371600"/>
            <a:ext cx="35661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61688" y="1399032"/>
            <a:ext cx="3401568" cy="54864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59" y="1536192"/>
            <a:ext cx="32186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CİRO · KDV DAHİL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1975104"/>
            <a:ext cx="321868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+%70,7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688336"/>
            <a:ext cx="32186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71,8 → 122,6 milyon TL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1371600"/>
            <a:ext cx="35661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83296" y="1399032"/>
            <a:ext cx="3401568" cy="54864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2168" y="1536192"/>
            <a:ext cx="32186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KADRO · 3 MAĞAZA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2168" y="1975104"/>
            <a:ext cx="321868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+%11,9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2688336"/>
            <a:ext cx="32186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143 → 160 kişi (sezonluk dahil)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548640" y="3200400"/>
          <a:ext cx="5577840" cy="1965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6400800" y="3383280"/>
            <a:ext cx="516636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352044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birincil ölçüdür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Adet enflasyondan etkilenmez; kasadan geçen, rafa dizilen ve depodan çıkan fiili mal miktarını gösterir. Ciro fiyat artışını içerir, adet içermez.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230368"/>
            <a:ext cx="11018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Kaynak: DerinSIS mağaza satışı · Sınav hariç · iadeler düşülmüş · KDV dahil.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57607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583680" y="1600200"/>
            <a:ext cx="4983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65976" y="1627632"/>
            <a:ext cx="4818888" cy="548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170992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Özlüce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5740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4.525 → 5.579 adet/kişi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70992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+%23,3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788920"/>
            <a:ext cx="4983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65976" y="2816351"/>
            <a:ext cx="4818888" cy="548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89864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İst. Yolu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24612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3.468 → 4.232 adet/kişi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89864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+%22,0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3977639"/>
            <a:ext cx="4983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65976" y="4005072"/>
            <a:ext cx="4818888" cy="548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408736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FSM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3484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4.061 → 4.795 adet/kişi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08736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+%18,1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93792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Kişi başı = 31 Ağustos'ta o mağazada fiilen çalışan TÜM personel (sezonluk dahil). Kadrosu en çok büyüyen mağazada dahi kişi başı iş artmıştır (İst. Yolu 50 → 61).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 — Dört Yıllık Seyir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406640" y="1600200"/>
            <a:ext cx="41605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88936" y="1627632"/>
            <a:ext cx="3995928" cy="54864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7099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2024'te kadro atladı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03911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Kadrolu 60 → 91. Adet yalnız %11 arttı → kişi başı iş düştü.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2834640"/>
            <a:ext cx="41605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88936" y="2862072"/>
            <a:ext cx="3995928" cy="54864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29443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Ama 2023 'norm' değil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27355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O yıl FSM kasada 0, Özlüce kasada 1 kişi vardı — eksik kadroyla çalışma.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4069080"/>
            <a:ext cx="41605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88936" y="4096512"/>
            <a:ext cx="3995928" cy="548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417880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 → 2026 toparlanma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0799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Kişi başı iş %28,8 arttı; bu yıl kadro büyürken verim de arttı.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11018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Kadro = 31.08 itibarıyla kadrolu (sezonluk hariç; yıllar arası tahliye zamanlaması kıyası bozar).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· kadro: 31.08 kesimi, her yıl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Bölüm Bazında Kadro Değişimi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406640" y="1463040"/>
            <a:ext cx="41605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88936" y="1490472"/>
            <a:ext cx="3995928" cy="54864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5727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DEĞİŞMEYEN BÖLÜMLER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01952"/>
            <a:ext cx="3703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Yönetim +0  ·  Mal Kabul +0  ·  İdari İşler +0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Bu üç bölümde kadro değişimi sıfırdır.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3200400"/>
            <a:ext cx="41605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88936" y="3227832"/>
            <a:ext cx="3995928" cy="548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3101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ARTAN BÖLÜMLER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639312"/>
            <a:ext cx="3703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Yardımcı Kitap +6  ·  Kırtasiye +3  ·  Kasa +2  ·  Akademi +2  ·  Şura +2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28032"/>
            <a:ext cx="11018520" cy="65836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28032"/>
            <a:ext cx="10515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Kadrolu +14 kişilik artışın tamamı satış ve kasa bölümlerindedir; yönetim kadrosunda değişim yoktur.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× Bölüm Kadro Değişimi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508760"/>
                <a:gridCol w="1371600"/>
                <a:gridCol w="1234440"/>
                <a:gridCol w="1417320"/>
                <a:gridCol w="1234440"/>
                <a:gridCol w="1508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Kasa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Etkinlik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İdari İşler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Mal Kabul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Ön Muhasebe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248656"/>
            <a:ext cx="11018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'—' ilgili mağazada o bölüm yoktur · Yönetim, Mal Kabul ve İdari İşler satırları tüm mağazalarda sıfır veya negatiftir.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Performans Karşılaştırması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37360"/>
                <a:gridCol w="1371600"/>
                <a:gridCol w="1691640"/>
                <a:gridCol w="1371600"/>
                <a:gridCol w="155448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Adet/kişi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İş ÷ kadro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51 → 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+%30,5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+%57,6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+%23,3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5,2x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50 → 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+%48,9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+%96,1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42 → 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+%26,5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+%62,3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+%18,1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3,7x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143 → 160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+%11,9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+%34,9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+%70,7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+%20,6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2,9x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3291840"/>
          <a:ext cx="6766560" cy="2148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498079" y="3474720"/>
            <a:ext cx="4069080" cy="17830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79" y="3611880"/>
            <a:ext cx="3657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Üç mağazanın tamamında iş hacmi artışı kadro artışının üzerindedir. Kadro artışı en yüksek olan İst. Yolu'nda dahi oran 2,2 katıdır.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Kategori Büyümesi ve İlgili Bölüm Kadrosu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2651760"/>
                <a:gridCol w="1371600"/>
                <a:gridCol w="1371600"/>
                <a:gridCol w="123444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Kategori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Bakan 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2025 →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Bölüm 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Hazırlık Kitapları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38.847 → 54.032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+%39,1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+%91,7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+6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222.233 → 296.797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+%33,6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+%75,0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+3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7.328 → 24.841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+%239,0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+%242,1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Kitap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66.399 → 83.655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+%26,0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+%59,7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37.135 → 58.662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+%58,0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+%50,4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 Kitabı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73.247 → 85.696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+%17,0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+%54,7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-1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4059936"/>
          <a:ext cx="6766560" cy="14264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803904"/>
            <a:ext cx="6766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Ürün adedi büyümesi (%) — kategori bazında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023360"/>
            <a:ext cx="4069080" cy="15544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79" y="4114800"/>
            <a:ext cx="3657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Kadro artışı, ürün adedi en hızlı artan kategorilere yönlendirilmiştir. Artışın en düşük olduğu kategoride (Çocuk Kitabı) kadro azaltılmıştır.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Takvim Kayması: Ağustos ve Eylül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5661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936" y="1399032"/>
            <a:ext cx="3401568" cy="54864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536192"/>
            <a:ext cx="32186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GERÇEK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975104"/>
            <a:ext cx="321868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+%5,5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688336"/>
            <a:ext cx="32186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458.509 → 483.659 adet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9392" y="1371600"/>
            <a:ext cx="35661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61688" y="1399032"/>
            <a:ext cx="3401568" cy="54864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59" y="1536192"/>
            <a:ext cx="32186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KAYMASIZ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1975104"/>
            <a:ext cx="321868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617.297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688336"/>
            <a:ext cx="32186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tahmini · 102,9 M TL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1371600"/>
            <a:ext cx="35661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83296" y="1399032"/>
            <a:ext cx="3401568" cy="54864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2168" y="1536192"/>
            <a:ext cx="32186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EYLÜL'E KAYAN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2168" y="1975104"/>
            <a:ext cx="321868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133.638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2688336"/>
            <a:ext cx="32186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· 24,7 M TL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548640" y="3200400"/>
          <a:ext cx="5577840" cy="2148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6400800" y="3291840"/>
            <a:ext cx="516636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3401568"/>
            <a:ext cx="475488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Eylül'de beklenen dalga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2025'te okul öncesi alış dalgası 27.08 - 07.09.2025 aralığındaydı: 431.358 adet · 56,9 M TL. Aynı dalga 2026'da 02.09 - 13.09.2026 aralığına denk geliyor; hizalı büyüme oranıyla 580.744 adet · 95,5 M TL beklenmektedir.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Hizalı pencere 01.08 – 26.08.2025 ile 07.08 – 01.09.2026 (26 gün; bugün hariç, son tam gün 01.09.2026) · Tahmin yöntemi: hizalı büyüme +%34,6, talep kaybı olmadığı varsayımıyla.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Yöntem ve Açıklamalar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110185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936" y="1353312"/>
            <a:ext cx="10853928" cy="548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81328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70432" y="1417320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Büyüme kurumsal kanaldan mı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737360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Tersi: Sınav Okulları küçüldü. Ocak–Ağustos cirosu 136,1 → 105,6 milyon TL (−%22,4). Mağaza tarafı +%54,9 büyüdü — büyümenin tamamı raftan geldi.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04872"/>
            <a:ext cx="110185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" y="2432303"/>
            <a:ext cx="10853928" cy="54864"/>
          </a:xfrm>
          <a:prstGeom prst="rect">
            <a:avLst/>
          </a:prstGeom>
          <a:solidFill>
            <a:srgbClr val="C0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560320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70432" y="2496312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Ciro artışı enflasyon kaynaklı mı?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816352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Kısmen doğru: eşleşen ürünlerde fiyat endeksi +%19,8. Bu yüzden savunma ciroya değil ADEDE dayanıyor: ürün adedi +%34,9 ve adet fiyattan etkilenmez.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83863"/>
            <a:ext cx="110185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" y="3511295"/>
            <a:ext cx="10853928" cy="548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639311"/>
            <a:ext cx="27432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70432" y="3575303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Kasa sistemi değişti, karşılaştırma geçerli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895344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Bu yüzden ölçüm POS'tan değil ERP'den (DerinSIS) alındı — iki yılda da aynı kaynak, aynı belge tipi. Temmuz 2025 kasa geçişi ölçüye girmiyor.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562855"/>
            <a:ext cx="110185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" y="4590288"/>
            <a:ext cx="10853928" cy="54864"/>
          </a:xfrm>
          <a:prstGeom prst="rect">
            <a:avLst/>
          </a:prstGeom>
          <a:solidFill>
            <a:srgbClr val="C0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718303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70432" y="4654295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Ağustos ayında ivme düşüşü var mı?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974336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Takvim etkisi: okullar 2025'te 8 Eylül, 2026'da 14 Eylül açıldı — sezon 6 gün geriye kaydı. Açılışa hizalanınca haftalık büyüme %65–79 bandında düz seyrediyor.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(kurumsal/mağaza kıyası) · hizalı dönem: 01.07 – 25.08.2025 (2025) · 07.07 – 31.08.2026 (2026), her iki yıl 56 gün, okul açılışına hizalı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İyileştirme Alanı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936" y="1399032"/>
            <a:ext cx="5230368" cy="54864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KADROLU ALIMDA KALMA ORANI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%95,7 → %75,0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İlk 14 günü tamamlama oranı. 32 alımdan 10'u kesim tarihine kadar ayrılmıştır (önceki yıl 24 alımdan 2). Aynı pozisyonun iki kez doldurulması maliyet yaratmaktadır.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54496" y="1399032"/>
            <a:ext cx="5230368" cy="54864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SEZONLUK KADRODA KALMA ORANI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%93,9 → %95,1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Sezonluk kadroda kalma oranı yükselmiştir. Sorun sezonluk alımda değil, kadrolu alımın ilk haftasındadır.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1101852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Planlanan Aksiyonlar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• En bozuk üç nokta: Özlüce, Heykel, Merkez Depo → ilk hafta karşılama protokolü.
• İdari İşler pozisyonunda ücret–vardiya revizyonu.
• Ölçüt: gelecek sezon Eylül öncesi kayıp %20'den %12'ye (2025 seviyesi).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Tutunma ölçümü mağaza kadrosu üzerinden yapılmıştır.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Sezon dönemi kadrolu -4 · ürün adedi +%34,9 · personel başına iş +%20,6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10211</TotalTime>
  <Words>12</Words>
  <Application>Microsoft Office PowerPoint</Application>
  <PresentationFormat>Geniş ekran</PresentationFormat>
  <Paragraphs>6</Paragraphs>
  <Slides>3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Teması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creator>Microsoft Office User</dc:creator>
  <cp:lastModifiedBy>Fikri EREN</cp:lastModifiedBy>
  <cp:revision>38</cp:revision>
  <dcterms:created xsi:type="dcterms:W3CDTF">2021-08-17T14:49:48Z</dcterms:created>
  <dcterms:modified xsi:type="dcterms:W3CDTF">2026-06-03T21:08:53Z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2026-04-28T14:42:08Z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ce838670-1954-4442-b940-eac0d507ddc2</vt:lpwstr>
  </property>
  <property fmtid="{D5CDD505-2E9C-101B-9397-08002B2CF9AE}" pid="7" name="MSIP_Label_defa4170-0d19-0005-0004-bc88714345d2_ActionId">
    <vt:lpwstr>6985f007-4c57-476a-a6d9-44ba75cd90f5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