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4"/>
    <p:sldId id="257" r:id="rId3"/>
    <p:sldId id="258" r:id="rId2"/>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E7433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Orta Stil 2 - Vurgu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87737" autoAdjust="0"/>
  </p:normalViewPr>
  <p:slideViewPr>
    <p:cSldViewPr snapToGrid="0" snapToObjects="1">
      <p:cViewPr varScale="1">
        <p:scale>
          <a:sx n="83" d="100"/>
          <a:sy n="83" d="100"/>
        </p:scale>
        <p:origin x="658"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Sheet1!$A$2:$A$3</c:f>
              <c:strCache>
                <c:ptCount val="2"/>
                <c:pt idx="0">
                  <c:v>Taban 30.06</c:v>
                </c:pt>
                <c:pt idx="1">
                  <c:v>Kesim 31.08</c:v>
                </c:pt>
              </c:strCache>
            </c:strRef>
          </c:cat>
          <c:val>
            <c:numRef>
              <c:f>Sheet1!$B$2:$B$3</c:f>
              <c:numCache>
                <c:formatCode>General</c:formatCode>
                <c:ptCount val="2"/>
                <c:pt idx="0">
                  <c:v>139</c:v>
                </c:pt>
                <c:pt idx="1">
                  <c:v>135</c:v>
                </c:pt>
              </c:numCache>
            </c:numRef>
          </c:val>
        </c:ser>
        <c:ser>
          <c:idx val="1"/>
          <c:order val="1"/>
          <c:tx>
            <c:strRef>
              <c:f>Sheet1!$C$1</c:f>
              <c:strCache>
                <c:ptCount val="1"/>
                <c:pt idx="0">
                  <c:v>2026</c:v>
                </c:pt>
              </c:strCache>
            </c:strRef>
          </c:tx>
          <c:spPr>
            <a:solidFill>
              <a:srgbClr val="E30622"/>
            </a:solidFill>
          </c:spPr>
          <c:cat>
            <c:strRef>
              <c:f>Sheet1!$A$2:$A$3</c:f>
              <c:strCache>
                <c:ptCount val="2"/>
                <c:pt idx="0">
                  <c:v>Taban 30.06</c:v>
                </c:pt>
                <c:pt idx="1">
                  <c:v>Kesim 31.08</c:v>
                </c:pt>
              </c:strCache>
            </c:strRef>
          </c:cat>
          <c:val>
            <c:numRef>
              <c:f>Sheet1!$C$2:$C$3</c:f>
              <c:numCache>
                <c:formatCode>General</c:formatCode>
                <c:ptCount val="2"/>
                <c:pt idx="0">
                  <c:v>153</c:v>
                </c:pt>
                <c:pt idx="1">
                  <c:v>149</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in val="0.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Ürün adedi (bin)</c:v>
                </c:pt>
                <c:pt idx="1">
                  <c:v>Ciro (milyon TL)</c:v>
                </c:pt>
                <c:pt idx="2">
                  <c:v>Kadro (kişi)</c:v>
                </c:pt>
              </c:strCache>
            </c:strRef>
          </c:cat>
          <c:val>
            <c:numRef>
              <c:f>Sheet1!$B$2:$B$4</c:f>
              <c:numCache>
                <c:formatCode>General</c:formatCode>
                <c:ptCount val="3"/>
                <c:pt idx="0">
                  <c:v>574.6556999999999</c:v>
                </c:pt>
                <c:pt idx="1">
                  <c:v>71.81704577000012</c:v>
                </c:pt>
                <c:pt idx="2">
                  <c:v>143</c:v>
                </c:pt>
              </c:numCache>
            </c:numRef>
          </c:val>
        </c:ser>
        <c:ser>
          <c:idx val="1"/>
          <c:order val="1"/>
          <c:tx>
            <c:strRef>
              <c:f>Sheet1!$C$1</c:f>
              <c:strCache>
                <c:ptCount val="1"/>
                <c:pt idx="0">
                  <c:v>2026</c:v>
                </c:pt>
              </c:strCache>
            </c:strRef>
          </c:tx>
          <c:spPr>
            <a:solidFill>
              <a:srgbClr val="E30622"/>
            </a:solidFill>
          </c:spPr>
          <c:cat>
            <c:strRef>
              <c:f>Sheet1!$A$2:$A$4</c:f>
              <c:strCache>
                <c:ptCount val="3"/>
                <c:pt idx="0">
                  <c:v>Ürün adedi (bin)</c:v>
                </c:pt>
                <c:pt idx="1">
                  <c:v>Ciro (milyon TL)</c:v>
                </c:pt>
                <c:pt idx="2">
                  <c:v>Kadro (kişi)</c:v>
                </c:pt>
              </c:strCache>
            </c:strRef>
          </c:cat>
          <c:val>
            <c:numRef>
              <c:f>Sheet1!$C$2:$C$4</c:f>
              <c:numCache>
                <c:formatCode>General</c:formatCode>
                <c:ptCount val="3"/>
                <c:pt idx="0">
                  <c:v>775.03155</c:v>
                </c:pt>
                <c:pt idx="1">
                  <c:v>122.53417561000005</c:v>
                </c:pt>
                <c:pt idx="2">
                  <c:v>160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4524.798039215687</c:v>
                </c:pt>
                <c:pt idx="1">
                  <c:v>3466.72</c:v>
                </c:pt>
                <c:pt idx="2">
                  <c:v>4060.8333333333335</c:v>
                </c:pt>
              </c:numCache>
            </c:numRef>
          </c:val>
        </c:ser>
        <c:ser>
          <c:idx val="1"/>
          <c:order val="1"/>
          <c:tx>
            <c:strRef>
              <c:f>Sheet1!$C$1</c:f>
              <c:strCache>
                <c:ptCount val="1"/>
                <c:pt idx="0">
                  <c:v>2026</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5578.704629629629</c:v>
                </c:pt>
                <c:pt idx="1">
                  <c:v>4229.647540983607</c:v>
                </c:pt>
                <c:pt idx="2">
                  <c:v>4794.955555555555</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Oca-Ağu adet ÷ kadrolu</c:v>
                </c:pt>
              </c:strCache>
            </c:strRef>
          </c:tx>
          <c:spPr>
            <a:ln w="31750">
              <a:solidFill>
                <a:srgbClr val="E30622"/>
              </a:solidFill>
            </a:ln>
          </c:spPr>
          <c:marker>
            <c:symbol val="circle"/>
            <c:size val="7"/>
            <c:spPr>
              <a:solidFill>
                <a:srgbClr val="E30622"/>
              </a:solidFill>
              <a:ln>
                <a:solidFill>
                  <a:srgbClr val="FFFFFF"/>
                </a:solidFill>
              </a:ln>
            </c:spPr>
          </c:marker>
          <c:cat>
            <c:strRef>
              <c:f>Sheet1!$A$2:$A$5</c:f>
              <c:strCache>
                <c:ptCount val="4"/>
                <c:pt idx="0">
                  <c:v>2023</c:v>
                </c:pt>
                <c:pt idx="1">
                  <c:v>2024</c:v>
                </c:pt>
                <c:pt idx="2">
                  <c:v>2025</c:v>
                </c:pt>
                <c:pt idx="3">
                  <c:v>2026</c:v>
                </c:pt>
              </c:strCache>
            </c:strRef>
          </c:cat>
          <c:val>
            <c:numRef>
              <c:f>Sheet1!$B$2:$B$5</c:f>
              <c:numCache>
                <c:formatCode>General</c:formatCode>
                <c:ptCount val="4"/>
                <c:pt idx="0">
                  <c:v>34377.72383333333</c:v>
                </c:pt>
                <c:pt idx="1">
                  <c:v>25227.686043956044</c:v>
                </c:pt>
                <c:pt idx="2">
                  <c:v>28668.031666666666</c:v>
                </c:pt>
                <c:pt idx="3">
                  <c:v>32496.782972972975</c:v>
                </c:pt>
              </c:numCache>
            </c:numRef>
          </c:val>
          <c:smooth val="0"/>
        </c:ser>
        <c:dLbls>
          <c:numFmt sourceLinked="0" formatCode="#,##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100">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kadrolu değişim (kişi)</c:v>
                </c:pt>
              </c:strCache>
            </c:strRef>
          </c:tx>
          <c:spPr>
            <a:solidFill>
              <a:srgbClr val="E30622"/>
            </a:solidFill>
          </c:spPr>
          <c:cat>
            <c:strRef>
              <c:f>Sheet1!$A$2:$A$9</c:f>
              <c:strCache>
                <c:ptCount val="8"/>
                <c:pt idx="0">
                  <c:v>Yardımcı Kitap</c:v>
                </c:pt>
                <c:pt idx="1">
                  <c:v>Kırtasiye</c:v>
                </c:pt>
                <c:pt idx="2">
                  <c:v>Kasa</c:v>
                </c:pt>
                <c:pt idx="3">
                  <c:v>Akademi</c:v>
                </c:pt>
                <c:pt idx="4">
                  <c:v>Şura</c:v>
                </c:pt>
                <c:pt idx="5">
                  <c:v>Mağaza</c:v>
                </c:pt>
                <c:pt idx="6">
                  <c:v>Mal Kabul</c:v>
                </c:pt>
                <c:pt idx="7">
                  <c:v>İdari İşler</c:v>
                </c:pt>
              </c:strCache>
            </c:strRef>
          </c:cat>
          <c:val>
            <c:numRef>
              <c:f>Sheet1!$B$2:$B$9</c:f>
              <c:numCache>
                <c:formatCode>General</c:formatCode>
                <c:ptCount val="8"/>
                <c:pt idx="0">
                  <c:v>6</c:v>
                </c:pt>
                <c:pt idx="1">
                  <c:v>3</c:v>
                </c:pt>
                <c:pt idx="2">
                  <c:v>2</c:v>
                </c:pt>
                <c:pt idx="3">
                  <c:v>2</c:v>
                </c:pt>
                <c:pt idx="4">
                  <c:v>2</c:v>
                </c:pt>
                <c:pt idx="5">
                  <c:v>0</c:v>
                </c:pt>
                <c:pt idx="6">
                  <c:v>0</c:v>
                </c:pt>
                <c:pt idx="7">
                  <c:v>0</c:v>
                </c:pt>
              </c:numCache>
            </c:numRef>
          </c:val>
        </c:ser>
        <c:dLbls>
          <c:numFmt sourceLinked="0" formatCode="+0;-0;0"/>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05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0.0</c:v>
                </c:pt>
                <c:pt idx="1">
                  <c:v>0.0</c:v>
                </c:pt>
                <c:pt idx="2">
                  <c:v>0.0</c:v>
                </c:pt>
              </c:numCache>
            </c:numRef>
          </c:val>
        </c:ser>
        <c:ser>
          <c:idx val="1"/>
          <c:order val="1"/>
          <c:tx>
            <c:strRef>
              <c:f>Sheet1!$C$1</c:f>
              <c:strCache>
                <c:ptCount val="1"/>
                <c:pt idx="0">
                  <c:v>2026</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0.0</c:v>
                </c:pt>
                <c:pt idx="1">
                  <c:v>0.0</c:v>
                </c:pt>
                <c:pt idx="2">
                  <c:v>0.0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kadro Δ%</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5.882352941176472</c:v>
                </c:pt>
                <c:pt idx="1">
                  <c:v>21.999999999999996</c:v>
                </c:pt>
                <c:pt idx="2">
                  <c:v>7.14285714285714</c:v>
                </c:pt>
              </c:numCache>
            </c:numRef>
          </c:val>
        </c:ser>
        <c:ser>
          <c:idx val="1"/>
          <c:order val="1"/>
          <c:tx>
            <c:strRef>
              <c:f>Sheet1!$C$1</c:f>
              <c:strCache>
                <c:ptCount val="1"/>
                <c:pt idx="0">
                  <c:v>ürün adedi Δ%</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30.54425135213488</c:v>
                </c:pt>
                <c:pt idx="1">
                  <c:v>48.848767711265985</c:v>
                </c:pt>
                <c:pt idx="2">
                  <c:v>26.512268769605107</c:v>
                </c:pt>
              </c:numCache>
            </c:numRef>
          </c:val>
        </c:ser>
        <c:ser>
          <c:idx val="2"/>
          <c:order val="2"/>
          <c:tx>
            <c:strRef>
              <c:f>Sheet1!$D$1</c:f>
              <c:strCache>
                <c:ptCount val="1"/>
                <c:pt idx="0">
                  <c:v>ciro Δ%</c:v>
                </c:pt>
              </c:strCache>
            </c:strRef>
          </c:tx>
          <c:spPr>
            <a:solidFill>
              <a:srgbClr val="7A1020"/>
            </a:solidFill>
          </c:spPr>
          <c:cat>
            <c:strRef>
              <c:f>Sheet1!$A$2:$A$4</c:f>
              <c:strCache>
                <c:ptCount val="3"/>
                <c:pt idx="0">
                  <c:v>Özlüce</c:v>
                </c:pt>
                <c:pt idx="1">
                  <c:v>İst. Yolu</c:v>
                </c:pt>
                <c:pt idx="2">
                  <c:v>FSM</c:v>
                </c:pt>
              </c:strCache>
            </c:strRef>
          </c:cat>
          <c:val>
            <c:numRef>
              <c:f>Sheet1!$D$2:$D$4</c:f>
              <c:numCache>
                <c:formatCode>General</c:formatCode>
                <c:ptCount val="3"/>
                <c:pt idx="0">
                  <c:v>57.55862375814162</c:v>
                </c:pt>
                <c:pt idx="1">
                  <c:v>96.00493094594296</c:v>
                </c:pt>
                <c:pt idx="2">
                  <c:v>62.267526610057104</c:v>
                </c:pt>
              </c:numCache>
            </c:numRef>
          </c:val>
        </c:ser>
        <c:dLbls>
          <c:numFmt sourceLinked="0" formatCode="0&quot;%&quot;"/>
          <c:txPr>
            <a:bodyPr/>
            <a:lstStyle/>
            <a:p>
              <a:pPr>
                <a:defRPr sz="85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ürün adedi Δ%</c:v>
                </c:pt>
              </c:strCache>
            </c:strRef>
          </c:tx>
          <c:spPr>
            <a:solidFill>
              <a:srgbClr val="E30622"/>
            </a:solidFill>
          </c:spPr>
          <c:cat>
            <c:strRef>
              <c:f>Sheet1!$A$2:$A$7</c:f>
              <c:strCache>
                <c:ptCount val="6"/>
                <c:pt idx="0">
                  <c:v>Hazırlık Kitapları</c:v>
                </c:pt>
                <c:pt idx="1">
                  <c:v>Kırtasiye</c:v>
                </c:pt>
                <c:pt idx="2">
                  <c:v>Akademi</c:v>
                </c:pt>
                <c:pt idx="3">
                  <c:v>Kitap</c:v>
                </c:pt>
                <c:pt idx="4">
                  <c:v>Oyuncak</c:v>
                </c:pt>
                <c:pt idx="5">
                  <c:v>Çocuk Kitabı</c:v>
                </c:pt>
              </c:strCache>
            </c:strRef>
          </c:cat>
          <c:val>
            <c:numRef>
              <c:f>Sheet1!$B$2:$B$7</c:f>
              <c:numCache>
                <c:formatCode>General</c:formatCode>
                <c:ptCount val="6"/>
                <c:pt idx="0">
                  <c:v>38.89905891452881</c:v>
                </c:pt>
                <c:pt idx="1">
                  <c:v>33.552172719623094</c:v>
                </c:pt>
                <c:pt idx="2">
                  <c:v>238.98744541484714</c:v>
                </c:pt>
                <c:pt idx="3">
                  <c:v>25.988343197939724</c:v>
                </c:pt>
                <c:pt idx="4">
                  <c:v>57.96957048606437</c:v>
                </c:pt>
                <c:pt idx="5">
                  <c:v>16.995917921553104</c:v>
                </c:pt>
              </c:numCache>
            </c:numRef>
          </c:val>
        </c:ser>
        <c:dLbls>
          <c:numFmt sourceLinked="0" formatCode="0&quot;%&quot;"/>
          <c:txPr>
            <a:bodyPr/>
            <a:lstStyle/>
            <a:p>
              <a:pPr>
                <a:defRPr sz="850"/>
              </a:pPr>
            </a:p>
          </c:txPr>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900">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gerçekleşen</c:v>
                </c:pt>
              </c:strCache>
            </c:strRef>
          </c:tx>
          <c:spPr>
            <a:solidFill>
              <a:srgbClr val="9A9A9A"/>
            </a:solidFill>
          </c:spPr>
          <c:cat>
            <c:strRef>
              <c:f>Sheet1!$A$2:$A$2</c:f>
              <c:strCache>
                <c:ptCount val="1"/>
                <c:pt idx="0">
                  <c:v>Ağustos (adet, bin)</c:v>
                </c:pt>
              </c:strCache>
            </c:strRef>
          </c:cat>
          <c:val>
            <c:numRef>
              <c:f>Sheet1!$B$2:$B$2</c:f>
              <c:numCache>
                <c:formatCode>General</c:formatCode>
                <c:ptCount val="1"/>
                <c:pt idx="0">
                  <c:v>458.25870000000003</c:v>
                </c:pt>
              </c:numCache>
            </c:numRef>
          </c:val>
        </c:ser>
        <c:ser>
          <c:idx val="1"/>
          <c:order val="1"/>
          <c:tx>
            <c:strRef>
              <c:f>Sheet1!$C$1</c:f>
              <c:strCache>
                <c:ptCount val="1"/>
                <c:pt idx="0">
                  <c:v>2026 gerçekleşen</c:v>
                </c:pt>
              </c:strCache>
            </c:strRef>
          </c:tx>
          <c:spPr>
            <a:solidFill>
              <a:srgbClr val="E30622"/>
            </a:solidFill>
          </c:spPr>
          <c:cat>
            <c:strRef>
              <c:f>Sheet1!$A$2:$A$2</c:f>
              <c:strCache>
                <c:ptCount val="1"/>
                <c:pt idx="0">
                  <c:v>Ağustos (adet, bin)</c:v>
                </c:pt>
              </c:strCache>
            </c:strRef>
          </c:cat>
          <c:val>
            <c:numRef>
              <c:f>Sheet1!$C$2:$C$2</c:f>
              <c:numCache>
                <c:formatCode>General</c:formatCode>
                <c:ptCount val="1"/>
                <c:pt idx="0">
                  <c:v>483.49955000000006</c:v>
                </c:pt>
              </c:numCache>
            </c:numRef>
          </c:val>
        </c:ser>
        <c:ser>
          <c:idx val="2"/>
          <c:order val="2"/>
          <c:tx>
            <c:strRef>
              <c:f>Sheet1!$D$1</c:f>
              <c:strCache>
                <c:ptCount val="1"/>
                <c:pt idx="0">
                  <c:v>2026 kayma olmasaydı</c:v>
                </c:pt>
              </c:strCache>
            </c:strRef>
          </c:tx>
          <c:spPr>
            <a:solidFill>
              <a:srgbClr val="7A1020"/>
            </a:solidFill>
          </c:spPr>
          <c:cat>
            <c:strRef>
              <c:f>Sheet1!$A$2:$A$2</c:f>
              <c:strCache>
                <c:ptCount val="1"/>
                <c:pt idx="0">
                  <c:v>Ağustos (adet, bin)</c:v>
                </c:pt>
              </c:strCache>
            </c:strRef>
          </c:cat>
          <c:val>
            <c:numRef>
              <c:f>Sheet1!$D$2:$D$2</c:f>
              <c:numCache>
                <c:formatCode>General</c:formatCode>
                <c:ptCount val="1"/>
                <c:pt idx="0">
                  <c:v>614.955640162407</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fiili</c:v>
                </c:pt>
              </c:strCache>
            </c:strRef>
          </c:tx>
          <c:spPr>
            <a:solidFill>
              <a:srgbClr val="9A9A9A"/>
            </a:solidFill>
          </c:spPr>
          <c:cat>
            <c:strRef>
              <c:f>Sheet1!$A$2:$A$2</c:f>
              <c:strCache>
                <c:ptCount val="1"/>
                <c:pt idx="0">
                  <c:v>Kişi başına yıllık fazla mesai (saat)</c:v>
                </c:pt>
              </c:strCache>
            </c:strRef>
          </c:cat>
          <c:val>
            <c:numRef>
              <c:f>Sheet1!$B$2:$B$2</c:f>
              <c:numCache>
                <c:formatCode>General</c:formatCode>
                <c:ptCount val="1"/>
                <c:pt idx="0">
                  <c:v>79.43719972546329</c:v>
                </c:pt>
              </c:numCache>
            </c:numRef>
          </c:val>
        </c:ser>
        <c:ser>
          <c:idx val="1"/>
          <c:order val="1"/>
          <c:tx>
            <c:strRef>
              <c:f>Sheet1!$C$1</c:f>
              <c:strCache>
                <c:ptCount val="1"/>
                <c:pt idx="0">
                  <c:v>2026 fiili</c:v>
                </c:pt>
              </c:strCache>
            </c:strRef>
          </c:tx>
          <c:spPr>
            <a:solidFill>
              <a:srgbClr val="E30622"/>
            </a:solidFill>
          </c:spPr>
          <c:cat>
            <c:strRef>
              <c:f>Sheet1!$A$2:$A$2</c:f>
              <c:strCache>
                <c:ptCount val="1"/>
                <c:pt idx="0">
                  <c:v>Kişi başına yıllık fazla mesai (saat)</c:v>
                </c:pt>
              </c:strCache>
            </c:strRef>
          </c:cat>
          <c:val>
            <c:numRef>
              <c:f>Sheet1!$C$2:$C$2</c:f>
              <c:numCache>
                <c:formatCode>General</c:formatCode>
                <c:ptCount val="1"/>
                <c:pt idx="0">
                  <c:v>83.56952268010673</c:v>
                </c:pt>
              </c:numCache>
            </c:numRef>
          </c:val>
        </c:ser>
        <c:ser>
          <c:idx val="2"/>
          <c:order val="2"/>
          <c:tx>
            <c:strRef>
              <c:f>Sheet1!$D$1</c:f>
              <c:strCache>
                <c:ptCount val="1"/>
                <c:pt idx="0">
                  <c:v>Kadro artmasaydı</c:v>
                </c:pt>
              </c:strCache>
            </c:strRef>
          </c:tx>
          <c:spPr>
            <a:solidFill>
              <a:srgbClr val="A6001A"/>
            </a:solidFill>
          </c:spPr>
          <c:cat>
            <c:strRef>
              <c:f>Sheet1!$A$2:$A$2</c:f>
              <c:strCache>
                <c:ptCount val="1"/>
                <c:pt idx="0">
                  <c:v>Kişi başına yıllık fazla mesai (saat)</c:v>
                </c:pt>
              </c:strCache>
            </c:strRef>
          </c:cat>
          <c:val>
            <c:numRef>
              <c:f>Sheet1!$D$2:$D$2</c:f>
              <c:numCache>
                <c:formatCode>General</c:formatCode>
                <c:ptCount val="1"/>
                <c:pt idx="0">
                  <c:v>465.3191489361705</c:v>
                </c:pt>
              </c:numCache>
            </c:numRef>
          </c:val>
        </c:ser>
        <c:ser>
          <c:idx val="3"/>
          <c:order val="3"/>
          <c:tx>
            <c:strRef>
              <c:f>Sheet1!$E$1</c:f>
              <c:strCache>
                <c:ptCount val="1"/>
                <c:pt idx="0">
                  <c:v>Yasal sınır</c:v>
                </c:pt>
              </c:strCache>
            </c:strRef>
          </c:tx>
          <c:spPr>
            <a:solidFill>
              <a:srgbClr val="4A4A4A"/>
            </a:solidFill>
          </c:spPr>
          <c:cat>
            <c:strRef>
              <c:f>Sheet1!$A$2:$A$2</c:f>
              <c:strCache>
                <c:ptCount val="1"/>
                <c:pt idx="0">
                  <c:v>Kişi başına yıllık fazla mesai (saat)</c:v>
                </c:pt>
              </c:strCache>
            </c:strRef>
          </c:cat>
          <c:val>
            <c:numRef>
              <c:f>Sheet1!$E$2:$E$2</c:f>
              <c:numCache>
                <c:formatCode>General</c:formatCode>
                <c:ptCount val="1"/>
                <c:pt idx="0">
                  <c:v>270.0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FTE</c:v>
                </c:pt>
              </c:strCache>
            </c:strRef>
          </c:tx>
          <c:spPr>
            <a:solidFill>
              <a:srgbClr val="9A9A9A"/>
            </a:solidFill>
          </c:spPr>
          <c:cat>
            <c:strRef>
              <c:f>Sheet1!$A$2:$A$8</c:f>
              <c:strCache>
                <c:ptCount val="7"/>
                <c:pt idx="0">
                  <c:v>Oca</c:v>
                </c:pt>
                <c:pt idx="1">
                  <c:v>Şub</c:v>
                </c:pt>
                <c:pt idx="2">
                  <c:v>Mar</c:v>
                </c:pt>
                <c:pt idx="3">
                  <c:v>Nis</c:v>
                </c:pt>
                <c:pt idx="4">
                  <c:v>May</c:v>
                </c:pt>
                <c:pt idx="5">
                  <c:v>Haz</c:v>
                </c:pt>
                <c:pt idx="6">
                  <c:v>Tem*</c:v>
                </c:pt>
              </c:strCache>
            </c:strRef>
          </c:cat>
          <c:val>
            <c:numRef>
              <c:f>Sheet1!$B$2:$B$8</c:f>
              <c:numCache>
                <c:formatCode>General</c:formatCode>
                <c:ptCount val="7"/>
                <c:pt idx="0">
                  <c:v>107.5</c:v>
                </c:pt>
                <c:pt idx="1">
                  <c:v>100.7</c:v>
                </c:pt>
                <c:pt idx="2">
                  <c:v>102.8</c:v>
                </c:pt>
                <c:pt idx="3">
                  <c:v>97.6</c:v>
                </c:pt>
                <c:pt idx="4">
                  <c:v>93.9</c:v>
                </c:pt>
                <c:pt idx="5">
                  <c:v>97.5</c:v>
                </c:pt>
                <c:pt idx="6">
                  <c:v>97.1</c:v>
                </c:pt>
              </c:numCache>
            </c:numRef>
          </c:val>
        </c:ser>
        <c:ser>
          <c:idx val="1"/>
          <c:order val="1"/>
          <c:tx>
            <c:strRef>
              <c:f>Sheet1!$C$1</c:f>
              <c:strCache>
                <c:ptCount val="1"/>
                <c:pt idx="0">
                  <c:v>2026 FTE</c:v>
                </c:pt>
              </c:strCache>
            </c:strRef>
          </c:tx>
          <c:spPr>
            <a:solidFill>
              <a:srgbClr val="E30622"/>
            </a:solidFill>
          </c:spPr>
          <c:cat>
            <c:strRef>
              <c:f>Sheet1!$A$2:$A$8</c:f>
              <c:strCache>
                <c:ptCount val="7"/>
                <c:pt idx="0">
                  <c:v>Oca</c:v>
                </c:pt>
                <c:pt idx="1">
                  <c:v>Şub</c:v>
                </c:pt>
                <c:pt idx="2">
                  <c:v>Mar</c:v>
                </c:pt>
                <c:pt idx="3">
                  <c:v>Nis</c:v>
                </c:pt>
                <c:pt idx="4">
                  <c:v>May</c:v>
                </c:pt>
                <c:pt idx="5">
                  <c:v>Haz</c:v>
                </c:pt>
                <c:pt idx="6">
                  <c:v>Tem*</c:v>
                </c:pt>
              </c:strCache>
            </c:strRef>
          </c:cat>
          <c:val>
            <c:numRef>
              <c:f>Sheet1!$C$2:$C$8</c:f>
              <c:numCache>
                <c:formatCode>General</c:formatCode>
                <c:ptCount val="7"/>
                <c:pt idx="0">
                  <c:v>109.9</c:v>
                </c:pt>
                <c:pt idx="1">
                  <c:v>110.9</c:v>
                </c:pt>
                <c:pt idx="2">
                  <c:v>112.6</c:v>
                </c:pt>
                <c:pt idx="3">
                  <c:v>110.0</c:v>
                </c:pt>
                <c:pt idx="4">
                  <c:v>112.0</c:v>
                </c:pt>
                <c:pt idx="5">
                  <c:v>108.2</c:v>
                </c:pt>
                <c:pt idx="6">
                  <c:v>112.4</c:v>
                </c:pt>
              </c:numCache>
            </c:numRef>
          </c:val>
        </c:ser>
        <c:dLbls>
          <c:numFmt sourceLinked="0" formatCode="#,##0.0"/>
          <c:txPr>
            <a:bodyPr/>
            <a:lstStyle/>
            <a:p>
              <a:pPr>
                <a:defRPr sz="8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00">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Sheet1!$A$2:$A$8</c:f>
              <c:strCache>
                <c:ptCount val="7"/>
                <c:pt idx="0">
                  <c:v>Oca</c:v>
                </c:pt>
                <c:pt idx="1">
                  <c:v>Şub</c:v>
                </c:pt>
                <c:pt idx="2">
                  <c:v>Mar</c:v>
                </c:pt>
                <c:pt idx="3">
                  <c:v>Nis</c:v>
                </c:pt>
                <c:pt idx="4">
                  <c:v>May</c:v>
                </c:pt>
                <c:pt idx="5">
                  <c:v>Haz</c:v>
                </c:pt>
                <c:pt idx="6">
                  <c:v>Tem*</c:v>
                </c:pt>
              </c:strCache>
            </c:strRef>
          </c:cat>
          <c:val>
            <c:numRef>
              <c:f>Sheet1!$B$2:$B$8</c:f>
              <c:numCache>
                <c:formatCode>General</c:formatCode>
                <c:ptCount val="7"/>
                <c:pt idx="0">
                  <c:v>10.640435897564577</c:v>
                </c:pt>
                <c:pt idx="1">
                  <c:v>10.971390826419269</c:v>
                </c:pt>
                <c:pt idx="2">
                  <c:v>13.882458998021422</c:v>
                </c:pt>
                <c:pt idx="3">
                  <c:v>11.502227588672248</c:v>
                </c:pt>
                <c:pt idx="4">
                  <c:v>15.964872627552756</c:v>
                </c:pt>
                <c:pt idx="5">
                  <c:v>14.25960097198796</c:v>
                </c:pt>
                <c:pt idx="6">
                  <c:v>14.29703378344554</c:v>
                </c:pt>
              </c:numCache>
            </c:numRef>
          </c:val>
        </c:ser>
        <c:ser>
          <c:idx val="1"/>
          <c:order val="1"/>
          <c:tx>
            <c:strRef>
              <c:f>Sheet1!$C$1</c:f>
              <c:strCache>
                <c:ptCount val="1"/>
                <c:pt idx="0">
                  <c:v>2026</c:v>
                </c:pt>
              </c:strCache>
            </c:strRef>
          </c:tx>
          <c:spPr>
            <a:solidFill>
              <a:srgbClr val="E30622"/>
            </a:solidFill>
          </c:spPr>
          <c:cat>
            <c:strRef>
              <c:f>Sheet1!$A$2:$A$8</c:f>
              <c:strCache>
                <c:ptCount val="7"/>
                <c:pt idx="0">
                  <c:v>Oca</c:v>
                </c:pt>
                <c:pt idx="1">
                  <c:v>Şub</c:v>
                </c:pt>
                <c:pt idx="2">
                  <c:v>Mar</c:v>
                </c:pt>
                <c:pt idx="3">
                  <c:v>Nis</c:v>
                </c:pt>
                <c:pt idx="4">
                  <c:v>May</c:v>
                </c:pt>
                <c:pt idx="5">
                  <c:v>Haz</c:v>
                </c:pt>
                <c:pt idx="6">
                  <c:v>Tem*</c:v>
                </c:pt>
              </c:strCache>
            </c:strRef>
          </c:cat>
          <c:val>
            <c:numRef>
              <c:f>Sheet1!$C$2:$C$8</c:f>
              <c:numCache>
                <c:formatCode>General</c:formatCode>
                <c:ptCount val="7"/>
                <c:pt idx="0">
                  <c:v>9.342797291737972</c:v>
                </c:pt>
                <c:pt idx="1">
                  <c:v>11.288098438412124</c:v>
                </c:pt>
                <c:pt idx="2">
                  <c:v>11.702927412298237</c:v>
                </c:pt>
                <c:pt idx="3">
                  <c:v>13.23692598350995</c:v>
                </c:pt>
                <c:pt idx="4">
                  <c:v>13.848433011968734</c:v>
                </c:pt>
                <c:pt idx="5">
                  <c:v>13.921476943829806</c:v>
                </c:pt>
                <c:pt idx="6">
                  <c:v>12.711606463897567</c:v>
                </c:pt>
              </c:numCache>
            </c:numRef>
          </c:val>
        </c:ser>
        <c:dLbls>
          <c:numFmt sourceLinked="0" formatCode="0.0&quot;%&quot;"/>
          <c:txPr>
            <a:bodyPr/>
            <a:lstStyle/>
            <a:p>
              <a:pPr>
                <a:defRPr sz="8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300641-7B70-43EC-9136-1D81371FEE47}" type="datetimeFigureOut">
              <a:rPr lang="tr-TR" smtClean="0"/>
              <a:t>4.06.2026</a:t>
            </a:fld>
            <a:endParaRPr lang="tr-TR"/>
          </a:p>
        </p:txBody>
      </p:sp>
      <p:sp>
        <p:nvSpPr>
          <p:cNvPr id="4" name="Slayt Resmi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D3DCFB-12CD-4DAE-BBD4-16A1DFAADA0C}" type="slidenum">
              <a:rPr lang="tr-TR" smtClean="0"/>
              <a:t>‹#›</a:t>
            </a:fld>
            <a:endParaRPr lang="tr-TR"/>
          </a:p>
        </p:txBody>
      </p:sp>
    </p:spTree>
    <p:extLst>
      <p:ext uri="{BB962C8B-B14F-4D97-AF65-F5344CB8AC3E}">
        <p14:creationId xmlns:p14="http://schemas.microsoft.com/office/powerpoint/2010/main" val="574109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A12A0B8-7CD9-B74F-AD7D-AA5C00691952}"/>
              </a:ext>
            </a:extLst>
          </p:cNvPr>
          <p:cNvSpPr>
            <a:spLocks noGrp="1"/>
          </p:cNvSpPr>
          <p:nvPr>
            <p:ph type="ctrTitle"/>
          </p:nvPr>
        </p:nvSpPr>
        <p:spPr>
          <a:xfrm>
            <a:off x="1524000" y="1122363"/>
            <a:ext cx="9144000" cy="2387600"/>
          </a:xfrm>
        </p:spPr>
        <p:txBody>
          <a:bodyPr anchor="b"/>
          <a:lstStyle>
            <a:lvl1pPr algn="ctr">
              <a:defRPr sz="6000"/>
            </a:lvl1pPr>
          </a:lstStyle>
          <a:p>
            <a:r>
              <a:rPr lang="tr-TR"/>
              <a:t>Asıl başlık stilini düzenlemek için tıklayın</a:t>
            </a:r>
          </a:p>
        </p:txBody>
      </p:sp>
      <p:sp>
        <p:nvSpPr>
          <p:cNvPr id="3" name="Alt Başlık 2">
            <a:extLst>
              <a:ext uri="{FF2B5EF4-FFF2-40B4-BE49-F238E27FC236}">
                <a16:creationId xmlns:a16="http://schemas.microsoft.com/office/drawing/2014/main" id="{1E65EBCF-2F36-CF46-9DD1-6FFE1AA5A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p>
        </p:txBody>
      </p:sp>
      <p:sp>
        <p:nvSpPr>
          <p:cNvPr id="4" name="Veri Yer Tutucusu 3">
            <a:extLst>
              <a:ext uri="{FF2B5EF4-FFF2-40B4-BE49-F238E27FC236}">
                <a16:creationId xmlns:a16="http://schemas.microsoft.com/office/drawing/2014/main" id="{0488EE4F-7D91-234B-8366-AA898561528F}"/>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09D6E736-D18C-C440-B2A3-19ECC784936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7A482C50-33CE-4643-B22A-C50A02C7E634}"/>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3548739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6312382-F59E-E44D-94A0-09384B0F9AF9}"/>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976D9B72-D3A8-E240-AEF8-FE471ED664B6}"/>
              </a:ext>
            </a:extLst>
          </p:cNvPr>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85B1322A-D814-E643-B637-F0282443BBF9}"/>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C2582D07-6D20-5949-950C-B5A20A0F4D88}"/>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8D4B1F6-7694-B744-8AAA-4BECF121D4D3}"/>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4086541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EBB9133-18E9-7041-99FE-48C21A3B0ABD}"/>
              </a:ext>
            </a:extLst>
          </p:cNvPr>
          <p:cNvSpPr>
            <a:spLocks noGrp="1"/>
          </p:cNvSpPr>
          <p:nvPr>
            <p:ph type="title"/>
          </p:nvPr>
        </p:nvSpPr>
        <p:spPr>
          <a:xfrm>
            <a:off x="831850" y="1709738"/>
            <a:ext cx="10515600" cy="2852737"/>
          </a:xfrm>
        </p:spPr>
        <p:txBody>
          <a:bodyPr anchor="b"/>
          <a:lstStyle>
            <a:lvl1pPr>
              <a:defRPr sz="6000"/>
            </a:lvl1pPr>
          </a:lstStyle>
          <a:p>
            <a:r>
              <a:rPr lang="tr-TR"/>
              <a:t>Asıl başlık stilini düzenlemek için tıklayın</a:t>
            </a:r>
          </a:p>
        </p:txBody>
      </p:sp>
      <p:sp>
        <p:nvSpPr>
          <p:cNvPr id="3" name="Metin Yer Tutucusu 2">
            <a:extLst>
              <a:ext uri="{FF2B5EF4-FFF2-40B4-BE49-F238E27FC236}">
                <a16:creationId xmlns:a16="http://schemas.microsoft.com/office/drawing/2014/main" id="{D142A014-6DBE-244A-8639-0EE92109B3B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Veri Yer Tutucusu 3">
            <a:extLst>
              <a:ext uri="{FF2B5EF4-FFF2-40B4-BE49-F238E27FC236}">
                <a16:creationId xmlns:a16="http://schemas.microsoft.com/office/drawing/2014/main" id="{DA43E15A-394F-0044-AF14-DF4A8E99FA78}"/>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B36113B3-E6C6-874A-90AD-FD4D22C5E42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F4E3EE12-20EA-8E44-9CBB-3793CBA50C79}"/>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14588173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B9DE5D64-D6D9-1B4C-880B-F020BD5B74A9}"/>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DA614EDC-B75D-FD4A-913F-EB03DAD50350}"/>
              </a:ext>
            </a:extLst>
          </p:cNvPr>
          <p:cNvSpPr>
            <a:spLocks noGrp="1"/>
          </p:cNvSpPr>
          <p:nvPr>
            <p:ph sz="half" idx="1"/>
          </p:nvPr>
        </p:nvSpPr>
        <p:spPr>
          <a:xfrm>
            <a:off x="838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a:extLst>
              <a:ext uri="{FF2B5EF4-FFF2-40B4-BE49-F238E27FC236}">
                <a16:creationId xmlns:a16="http://schemas.microsoft.com/office/drawing/2014/main" id="{E9E8DC66-2F12-BF45-BDF1-EB4DE2DCF416}"/>
              </a:ext>
            </a:extLst>
          </p:cNvPr>
          <p:cNvSpPr>
            <a:spLocks noGrp="1"/>
          </p:cNvSpPr>
          <p:nvPr>
            <p:ph sz="half" idx="2"/>
          </p:nvPr>
        </p:nvSpPr>
        <p:spPr>
          <a:xfrm>
            <a:off x="6172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a:extLst>
              <a:ext uri="{FF2B5EF4-FFF2-40B4-BE49-F238E27FC236}">
                <a16:creationId xmlns:a16="http://schemas.microsoft.com/office/drawing/2014/main" id="{50EB4623-12A7-9540-B93C-840D6334EFFA}"/>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5EBF5A08-683B-A041-B5AF-469F3D01EED1}"/>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47AF5A4F-3422-8D4C-B532-C19D5521D63E}"/>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186722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085C4E5-E52A-DF43-85E4-57E96D05DB2A}"/>
              </a:ext>
            </a:extLst>
          </p:cNvPr>
          <p:cNvSpPr>
            <a:spLocks noGrp="1"/>
          </p:cNvSpPr>
          <p:nvPr>
            <p:ph type="title"/>
          </p:nvPr>
        </p:nvSpPr>
        <p:spPr>
          <a:xfrm>
            <a:off x="839788" y="365125"/>
            <a:ext cx="10515600" cy="1325563"/>
          </a:xfrm>
        </p:spPr>
        <p:txBody>
          <a:bodyPr/>
          <a:lstStyle/>
          <a:p>
            <a:r>
              <a:rPr lang="tr-TR"/>
              <a:t>Asıl başlık stilini düzenlemek için tıklayın</a:t>
            </a:r>
          </a:p>
        </p:txBody>
      </p:sp>
      <p:sp>
        <p:nvSpPr>
          <p:cNvPr id="3" name="Metin Yer Tutucusu 2">
            <a:extLst>
              <a:ext uri="{FF2B5EF4-FFF2-40B4-BE49-F238E27FC236}">
                <a16:creationId xmlns:a16="http://schemas.microsoft.com/office/drawing/2014/main" id="{F46582EA-A382-1A41-AA8F-C0DD08B5855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İçerik Yer Tutucusu 3">
            <a:extLst>
              <a:ext uri="{FF2B5EF4-FFF2-40B4-BE49-F238E27FC236}">
                <a16:creationId xmlns:a16="http://schemas.microsoft.com/office/drawing/2014/main" id="{B1AAA910-32F1-1540-8CA3-526201D04658}"/>
              </a:ext>
            </a:extLst>
          </p:cNvPr>
          <p:cNvSpPr>
            <a:spLocks noGrp="1"/>
          </p:cNvSpPr>
          <p:nvPr>
            <p:ph sz="half" idx="2"/>
          </p:nvPr>
        </p:nvSpPr>
        <p:spPr>
          <a:xfrm>
            <a:off x="839788" y="2505075"/>
            <a:ext cx="5157787"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a:extLst>
              <a:ext uri="{FF2B5EF4-FFF2-40B4-BE49-F238E27FC236}">
                <a16:creationId xmlns:a16="http://schemas.microsoft.com/office/drawing/2014/main" id="{BBDC8A26-902D-E743-9638-6203DB67245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İçerik Yer Tutucusu 5">
            <a:extLst>
              <a:ext uri="{FF2B5EF4-FFF2-40B4-BE49-F238E27FC236}">
                <a16:creationId xmlns:a16="http://schemas.microsoft.com/office/drawing/2014/main" id="{BF5DAED4-7A45-A34F-956E-DACEA7541685}"/>
              </a:ext>
            </a:extLst>
          </p:cNvPr>
          <p:cNvSpPr>
            <a:spLocks noGrp="1"/>
          </p:cNvSpPr>
          <p:nvPr>
            <p:ph sz="quarter" idx="4"/>
          </p:nvPr>
        </p:nvSpPr>
        <p:spPr>
          <a:xfrm>
            <a:off x="6172200" y="2505075"/>
            <a:ext cx="5183188"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a:extLst>
              <a:ext uri="{FF2B5EF4-FFF2-40B4-BE49-F238E27FC236}">
                <a16:creationId xmlns:a16="http://schemas.microsoft.com/office/drawing/2014/main" id="{C5ACEEAF-4684-F04E-80D2-76BE89884574}"/>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8" name="Alt Bilgi Yer Tutucusu 7">
            <a:extLst>
              <a:ext uri="{FF2B5EF4-FFF2-40B4-BE49-F238E27FC236}">
                <a16:creationId xmlns:a16="http://schemas.microsoft.com/office/drawing/2014/main" id="{5B223AD2-9BE0-0A4D-B738-5296F04B1D46}"/>
              </a:ext>
            </a:extLst>
          </p:cNvPr>
          <p:cNvSpPr>
            <a:spLocks noGrp="1"/>
          </p:cNvSpPr>
          <p:nvPr>
            <p:ph type="ftr" sz="quarter" idx="11"/>
          </p:nvPr>
        </p:nvSpPr>
        <p:spPr/>
        <p:txBody>
          <a:bodyPr/>
          <a:lstStyle/>
          <a:p>
            <a:endParaRPr lang="tr-TR"/>
          </a:p>
        </p:txBody>
      </p:sp>
      <p:sp>
        <p:nvSpPr>
          <p:cNvPr id="9" name="Slayt Numarası Yer Tutucusu 8">
            <a:extLst>
              <a:ext uri="{FF2B5EF4-FFF2-40B4-BE49-F238E27FC236}">
                <a16:creationId xmlns:a16="http://schemas.microsoft.com/office/drawing/2014/main" id="{BBEB5DF6-944F-E94C-A1BA-10A5A661D286}"/>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497544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ED3F0FF1-32E6-FD40-8A9C-E85D7C194BAA}"/>
              </a:ext>
            </a:extLst>
          </p:cNvPr>
          <p:cNvSpPr>
            <a:spLocks noGrp="1"/>
          </p:cNvSpPr>
          <p:nvPr>
            <p:ph type="title"/>
          </p:nvPr>
        </p:nvSpPr>
        <p:spPr/>
        <p:txBody>
          <a:bodyPr/>
          <a:lstStyle/>
          <a:p>
            <a:r>
              <a:rPr lang="tr-TR"/>
              <a:t>Asıl başlık stilini düzenlemek için tıklayın</a:t>
            </a:r>
          </a:p>
        </p:txBody>
      </p:sp>
      <p:sp>
        <p:nvSpPr>
          <p:cNvPr id="3" name="Veri Yer Tutucusu 2">
            <a:extLst>
              <a:ext uri="{FF2B5EF4-FFF2-40B4-BE49-F238E27FC236}">
                <a16:creationId xmlns:a16="http://schemas.microsoft.com/office/drawing/2014/main" id="{6D2C6123-FE18-C44A-A357-D8B6B0B53E18}"/>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4" name="Alt Bilgi Yer Tutucusu 3">
            <a:extLst>
              <a:ext uri="{FF2B5EF4-FFF2-40B4-BE49-F238E27FC236}">
                <a16:creationId xmlns:a16="http://schemas.microsoft.com/office/drawing/2014/main" id="{18C92C8A-24FE-B446-8032-DED13B381AE5}"/>
              </a:ext>
            </a:extLst>
          </p:cNvPr>
          <p:cNvSpPr>
            <a:spLocks noGrp="1"/>
          </p:cNvSpPr>
          <p:nvPr>
            <p:ph type="ftr" sz="quarter" idx="11"/>
          </p:nvPr>
        </p:nvSpPr>
        <p:spPr/>
        <p:txBody>
          <a:bodyPr/>
          <a:lstStyle/>
          <a:p>
            <a:endParaRPr lang="tr-TR"/>
          </a:p>
        </p:txBody>
      </p:sp>
      <p:sp>
        <p:nvSpPr>
          <p:cNvPr id="5" name="Slayt Numarası Yer Tutucusu 4">
            <a:extLst>
              <a:ext uri="{FF2B5EF4-FFF2-40B4-BE49-F238E27FC236}">
                <a16:creationId xmlns:a16="http://schemas.microsoft.com/office/drawing/2014/main" id="{DB36637B-5E7C-0847-BC64-C447140609F6}"/>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5596900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a:extLst>
              <a:ext uri="{FF2B5EF4-FFF2-40B4-BE49-F238E27FC236}">
                <a16:creationId xmlns:a16="http://schemas.microsoft.com/office/drawing/2014/main" id="{EA6A8CB8-EFDA-1841-AB52-284AC13EB04C}"/>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3" name="Alt Bilgi Yer Tutucusu 2">
            <a:extLst>
              <a:ext uri="{FF2B5EF4-FFF2-40B4-BE49-F238E27FC236}">
                <a16:creationId xmlns:a16="http://schemas.microsoft.com/office/drawing/2014/main" id="{518FACD0-1C0C-F844-A6D9-6990A191D4C8}"/>
              </a:ext>
            </a:extLst>
          </p:cNvPr>
          <p:cNvSpPr>
            <a:spLocks noGrp="1"/>
          </p:cNvSpPr>
          <p:nvPr>
            <p:ph type="ftr" sz="quarter" idx="11"/>
          </p:nvPr>
        </p:nvSpPr>
        <p:spPr/>
        <p:txBody>
          <a:bodyPr/>
          <a:lstStyle/>
          <a:p>
            <a:endParaRPr lang="tr-TR"/>
          </a:p>
        </p:txBody>
      </p:sp>
      <p:sp>
        <p:nvSpPr>
          <p:cNvPr id="4" name="Slayt Numarası Yer Tutucusu 3">
            <a:extLst>
              <a:ext uri="{FF2B5EF4-FFF2-40B4-BE49-F238E27FC236}">
                <a16:creationId xmlns:a16="http://schemas.microsoft.com/office/drawing/2014/main" id="{536F959D-05A5-F54F-866D-1FC89F6DD263}"/>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737328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53FE235-85E2-1A43-BF30-191677246E17}"/>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İçerik Yer Tutucusu 2">
            <a:extLst>
              <a:ext uri="{FF2B5EF4-FFF2-40B4-BE49-F238E27FC236}">
                <a16:creationId xmlns:a16="http://schemas.microsoft.com/office/drawing/2014/main" id="{E8CC76E4-8C64-B342-B4EC-44F7600841F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a:extLst>
              <a:ext uri="{FF2B5EF4-FFF2-40B4-BE49-F238E27FC236}">
                <a16:creationId xmlns:a16="http://schemas.microsoft.com/office/drawing/2014/main" id="{0C9758BE-896D-4443-9F29-4E18D53FB0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65AB6F4E-2BB2-9542-83B0-174B6AC191AD}"/>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98C1D8FA-7F1B-BE43-BC85-4673B367B427}"/>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F695DCC4-1DAA-064E-8320-65BC1EBE6479}"/>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4003492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F589E15-52F3-DB45-A42D-3F61DE42DCA9}"/>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Resim Yer Tutucusu 2">
            <a:extLst>
              <a:ext uri="{FF2B5EF4-FFF2-40B4-BE49-F238E27FC236}">
                <a16:creationId xmlns:a16="http://schemas.microsoft.com/office/drawing/2014/main" id="{087BD87E-B3E7-DF45-95D0-286AFA3AB38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a:p>
        </p:txBody>
      </p:sp>
      <p:sp>
        <p:nvSpPr>
          <p:cNvPr id="4" name="Metin Yer Tutucusu 3">
            <a:extLst>
              <a:ext uri="{FF2B5EF4-FFF2-40B4-BE49-F238E27FC236}">
                <a16:creationId xmlns:a16="http://schemas.microsoft.com/office/drawing/2014/main" id="{CB831928-3F51-F445-ADB5-05183485EB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ADB8D77B-5A0A-F64D-B935-6497FC341E0A}"/>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50606790-016F-E54D-85B0-4B1E659B4C02}"/>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2CED7389-4408-AA49-B7D2-C64C665284FD}"/>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41349623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823ABBF-61CE-2343-B786-F51900E187EB}"/>
              </a:ext>
            </a:extLst>
          </p:cNvPr>
          <p:cNvSpPr>
            <a:spLocks noGrp="1"/>
          </p:cNvSpPr>
          <p:nvPr>
            <p:ph type="title"/>
          </p:nvPr>
        </p:nvSpPr>
        <p:spPr/>
        <p:txBody>
          <a:bodyPr/>
          <a:lstStyle/>
          <a:p>
            <a:r>
              <a:rPr lang="tr-TR"/>
              <a:t>Asıl başlık stilini düzenlemek için tıklayın</a:t>
            </a:r>
          </a:p>
        </p:txBody>
      </p:sp>
      <p:sp>
        <p:nvSpPr>
          <p:cNvPr id="3" name="Dikey Metin Yer Tutucusu 2">
            <a:extLst>
              <a:ext uri="{FF2B5EF4-FFF2-40B4-BE49-F238E27FC236}">
                <a16:creationId xmlns:a16="http://schemas.microsoft.com/office/drawing/2014/main" id="{AE49DC93-9DC1-4049-A045-E6FBD9BEDA44}"/>
              </a:ext>
            </a:extLst>
          </p:cNvPr>
          <p:cNvSpPr>
            <a:spLocks noGrp="1"/>
          </p:cNvSpPr>
          <p:nvPr>
            <p:ph type="body" orient="vert" idx="1"/>
          </p:nvPr>
        </p:nvSpPr>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296BD782-94F5-5941-B929-871FD5683692}"/>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725E8FD7-FD2E-E44E-8873-B0F5664F608F}"/>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B0F22D4D-9D52-8947-9398-81B831C5AC17}"/>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1473469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a:extLst>
              <a:ext uri="{FF2B5EF4-FFF2-40B4-BE49-F238E27FC236}">
                <a16:creationId xmlns:a16="http://schemas.microsoft.com/office/drawing/2014/main" id="{9D8B94DF-9C10-F744-84AC-2D788A9B69A8}"/>
              </a:ext>
            </a:extLst>
          </p:cNvPr>
          <p:cNvSpPr>
            <a:spLocks noGrp="1"/>
          </p:cNvSpPr>
          <p:nvPr>
            <p:ph type="title" orient="vert"/>
          </p:nvPr>
        </p:nvSpPr>
        <p:spPr>
          <a:xfrm>
            <a:off x="8724900" y="365125"/>
            <a:ext cx="2628900" cy="5811838"/>
          </a:xfrm>
        </p:spPr>
        <p:txBody>
          <a:bodyPr vert="eaVert"/>
          <a:lstStyle/>
          <a:p>
            <a:r>
              <a:rPr lang="tr-TR"/>
              <a:t>Asıl başlık stilini düzenlemek için tıklayın</a:t>
            </a:r>
          </a:p>
        </p:txBody>
      </p:sp>
      <p:sp>
        <p:nvSpPr>
          <p:cNvPr id="3" name="Dikey Metin Yer Tutucusu 2">
            <a:extLst>
              <a:ext uri="{FF2B5EF4-FFF2-40B4-BE49-F238E27FC236}">
                <a16:creationId xmlns:a16="http://schemas.microsoft.com/office/drawing/2014/main" id="{EEE070A1-AF86-9443-AEFA-9B376AB8FEE0}"/>
              </a:ext>
            </a:extLst>
          </p:cNvPr>
          <p:cNvSpPr>
            <a:spLocks noGrp="1"/>
          </p:cNvSpPr>
          <p:nvPr>
            <p:ph type="body" orient="vert" idx="1"/>
          </p:nvPr>
        </p:nvSpPr>
        <p:spPr>
          <a:xfrm>
            <a:off x="838200" y="365125"/>
            <a:ext cx="7734300" cy="5811838"/>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C693308C-5B7C-B949-A2F9-F004509B35F4}"/>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10646E30-46C7-B14D-9F74-F28EF8347E46}"/>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943329E-064A-C547-89FC-FB32F8117705}"/>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17648210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Başlık Yer Tutucusu 1">
            <a:extLst>
              <a:ext uri="{FF2B5EF4-FFF2-40B4-BE49-F238E27FC236}">
                <a16:creationId xmlns:a16="http://schemas.microsoft.com/office/drawing/2014/main" id="{1F91565E-1330-4B41-9057-C6551F413C8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stilini düzenlemek için tıklayın</a:t>
            </a:r>
          </a:p>
        </p:txBody>
      </p:sp>
      <p:sp>
        <p:nvSpPr>
          <p:cNvPr id="3" name="Metin Yer Tutucusu 2">
            <a:extLst>
              <a:ext uri="{FF2B5EF4-FFF2-40B4-BE49-F238E27FC236}">
                <a16:creationId xmlns:a16="http://schemas.microsoft.com/office/drawing/2014/main" id="{704A2AE8-5086-4F49-AEF5-F297986E21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AA47F096-3E19-C541-9264-4ADD4AFAB6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13A27738-D8F5-9F47-8FC7-84CD34D5D7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tr-TR"/>
          </a:p>
        </p:txBody>
      </p:sp>
      <p:sp>
        <p:nvSpPr>
          <p:cNvPr id="6" name="Slayt Numarası Yer Tutucusu 5">
            <a:extLst>
              <a:ext uri="{FF2B5EF4-FFF2-40B4-BE49-F238E27FC236}">
                <a16:creationId xmlns:a16="http://schemas.microsoft.com/office/drawing/2014/main" id="{33EFD96A-A9C0-114E-84B0-21F7E892BF1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B0F883-CC7D-2543-97CB-E121364E9FB5}" type="slidenum">
              <a:rPr lang="tr-TR" smtClean="0"/>
              <a:t>‹#›</a:t>
            </a:fld>
            <a:endParaRPr lang="tr-TR"/>
          </a:p>
        </p:txBody>
      </p:sp>
    </p:spTree>
    <p:extLst>
      <p:ext uri="{BB962C8B-B14F-4D97-AF65-F5344CB8AC3E}">
        <p14:creationId xmlns:p14="http://schemas.microsoft.com/office/powerpoint/2010/main" val="11067886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6.xml"/><Relationship Id="rId4" Type="http://schemas.openxmlformats.org/officeDocument/2006/relationships/chart" Target="../charts/char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chart" Target="../charts/char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chart" Target="../charts/char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chart" Target="../charts/chart11.xml"/><Relationship Id="rId7" Type="http://schemas.openxmlformats.org/officeDocument/2006/relationships/chart" Target="../charts/char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ctrTitle"/>
          </p:nvPr>
        </p:nvSpPr>
        <p:spPr/>
        <p:txBody>
          <a:bodyPr/>
          <a:lstStyle/>
          <a:p>
            <a:r>
              <a:t>Kadro ve İş Hacmi Değerlendirmesi</a:t>
            </a:r>
          </a:p>
        </p:txBody>
      </p:sp>
      <p:sp>
        <p:nvSpPr>
          <p:cNvPr id="3" name="Subtitle 2"/>
          <p:cNvSpPr>
            <a:spLocks noGrp="1"/>
          </p:cNvSpPr>
          <p:nvPr>
            <p:ph type="subTitle" idx="1"/>
          </p:nvPr>
        </p:nvSpPr>
        <p:spPr/>
        <p:txBody>
          <a:bodyPr/>
          <a:lstStyle/>
          <a:p>
            <a:r>
              <a:t>Sezon 2026 · Mağazalar · kadro 30.06 ve 31.08 · iş hacmi 01.07.2025 – 25.08.2025 ile 07.07.2026 – 31.08.2026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Yönetici Özeti — Norma Göre Durum</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NORM · KADRO + SEZON</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400" b="1">
                <a:solidFill>
                  <a:srgbClr val="9A9A9A"/>
                </a:solidFill>
                <a:latin typeface="Calibri"/>
              </a:rPr>
              <a:t>217</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kadrolu 145 + sezonluk 72 · 11.08.2026 tarihli norm</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3"/>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GERÇEK · 31 AĞUSTOS (OPERASYONEL)</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400" b="1">
                <a:solidFill>
                  <a:srgbClr val="9A9A9A"/>
                </a:solidFill>
                <a:latin typeface="Calibri"/>
              </a:rPr>
              <a:t>189</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engelli ve etkinlik norm dışı tutuldu</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lert-triangle.png"/>
          <p:cNvPicPr>
            <a:picLocks noChangeAspect="1"/>
          </p:cNvPicPr>
          <p:nvPr/>
        </p:nvPicPr>
        <p:blipFill>
          <a:blip r:embed="rId4"/>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NORMA GÖRE</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800" b="1">
                <a:solidFill>
                  <a:srgbClr val="A6001A"/>
                </a:solidFill>
                <a:latin typeface="Calibri"/>
              </a:rPr>
              <a:t>-28 kişi</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kadrolu -14 · sezonluk -14 (engelli/etkinlik norm dışı)</a:t>
            </a:r>
          </a:p>
        </p:txBody>
      </p:sp>
      <p:sp>
        <p:nvSpPr>
          <p:cNvPr id="21" name="Rounded Rectangle 20"/>
          <p:cNvSpPr/>
          <p:nvPr/>
        </p:nvSpPr>
        <p:spPr>
          <a:xfrm>
            <a:off x="548640" y="3310128"/>
            <a:ext cx="11018520" cy="749808"/>
          </a:xfrm>
          <a:prstGeom prst="roundRect">
            <a:avLst/>
          </a:prstGeom>
          <a:solidFill>
            <a:srgbClr val="F2F2F2"/>
          </a:solidFill>
          <a:ln w="2540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310128"/>
            <a:ext cx="10515600" cy="749808"/>
          </a:xfrm>
          <a:prstGeom prst="rect">
            <a:avLst/>
          </a:prstGeom>
          <a:noFill/>
        </p:spPr>
        <p:txBody>
          <a:bodyPr wrap="square" anchor="ctr">
            <a:spAutoFit/>
          </a:bodyPr>
          <a:lstStyle/>
          <a:p>
            <a:pPr algn="ctr">
              <a:lnSpc>
                <a:spcPct val="100000"/>
              </a:lnSpc>
            </a:pPr>
            <a:r>
              <a:rPr sz="1500" b="1">
                <a:solidFill>
                  <a:srgbClr val="A6001A"/>
                </a:solidFill>
                <a:latin typeface="Calibri"/>
              </a:rPr>
              <a:t>Kadro fazlası yok: 31 Ağustos'ta toplam personel şirketin kendi norm tablosunun 28 KİŞİ ALTINDADIR.</a:t>
            </a:r>
          </a:p>
        </p:txBody>
      </p:sp>
      <p:sp>
        <p:nvSpPr>
          <p:cNvPr id="23" name="Rectangle 22"/>
          <p:cNvSpPr/>
          <p:nvPr/>
        </p:nvSpPr>
        <p:spPr>
          <a:xfrm>
            <a:off x="548640" y="4133087"/>
            <a:ext cx="11018520" cy="1115568"/>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133087"/>
            <a:ext cx="68580" cy="1115568"/>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ackage.png"/>
          <p:cNvPicPr>
            <a:picLocks noChangeAspect="1"/>
          </p:cNvPicPr>
          <p:nvPr/>
        </p:nvPicPr>
        <p:blipFill>
          <a:blip r:embed="rId5"/>
          <a:stretch>
            <a:fillRect/>
          </a:stretch>
        </p:blipFill>
        <p:spPr>
          <a:xfrm>
            <a:off x="11091672" y="4297679"/>
            <a:ext cx="274320" cy="274320"/>
          </a:xfrm>
          <a:prstGeom prst="rect">
            <a:avLst/>
          </a:prstGeom>
        </p:spPr>
      </p:pic>
      <p:sp>
        <p:nvSpPr>
          <p:cNvPr id="26" name="TextBox 25"/>
          <p:cNvSpPr txBox="1"/>
          <p:nvPr/>
        </p:nvSpPr>
        <p:spPr>
          <a:xfrm>
            <a:off x="868680" y="4242816"/>
            <a:ext cx="5486400" cy="274320"/>
          </a:xfrm>
          <a:prstGeom prst="rect">
            <a:avLst/>
          </a:prstGeom>
          <a:noFill/>
        </p:spPr>
        <p:txBody>
          <a:bodyPr wrap="square" anchor="t">
            <a:spAutoFit/>
          </a:bodyPr>
          <a:lstStyle/>
          <a:p>
            <a:pPr algn="l">
              <a:lnSpc>
                <a:spcPct val="100000"/>
              </a:lnSpc>
            </a:pPr>
            <a:r>
              <a:rPr sz="950" b="1">
                <a:solidFill>
                  <a:srgbClr val="6E6E6E"/>
                </a:solidFill>
                <a:latin typeface="Calibri"/>
              </a:rPr>
              <a:t>AYNI DÖNEMDE İŞ HACMİ · ÜÇ POS MAĞAZASI</a:t>
            </a:r>
          </a:p>
        </p:txBody>
      </p:sp>
      <p:sp>
        <p:nvSpPr>
          <p:cNvPr id="27" name="TextBox 26"/>
          <p:cNvSpPr txBox="1"/>
          <p:nvPr/>
        </p:nvSpPr>
        <p:spPr>
          <a:xfrm>
            <a:off x="868680" y="4553712"/>
            <a:ext cx="10241280" cy="621792"/>
          </a:xfrm>
          <a:prstGeom prst="rect">
            <a:avLst/>
          </a:prstGeom>
          <a:noFill/>
        </p:spPr>
        <p:txBody>
          <a:bodyPr wrap="square" anchor="t">
            <a:spAutoFit/>
          </a:bodyPr>
          <a:lstStyle/>
          <a:p>
            <a:pPr algn="l">
              <a:lnSpc>
                <a:spcPct val="100000"/>
              </a:lnSpc>
            </a:pPr>
            <a:r>
              <a:rPr sz="1400" b="1">
                <a:solidFill>
                  <a:srgbClr val="A6001A"/>
                </a:solidFill>
                <a:latin typeface="Calibri"/>
              </a:rPr>
              <a:t>ürün adedi +%34,9 (574.656 → 775.032) · ciro +%70,6 — eksik kadroyla üretildi</a:t>
            </a:r>
          </a:p>
        </p:txBody>
      </p:sp>
      <p:sp>
        <p:nvSpPr>
          <p:cNvPr id="28" name="TextBox 27"/>
          <p:cNvSpPr txBox="1"/>
          <p:nvPr/>
        </p:nvSpPr>
        <p:spPr>
          <a:xfrm>
            <a:off x="548640" y="5321808"/>
            <a:ext cx="11018520" cy="237744"/>
          </a:xfrm>
          <a:prstGeom prst="rect">
            <a:avLst/>
          </a:prstGeom>
          <a:noFill/>
        </p:spPr>
        <p:txBody>
          <a:bodyPr wrap="square" anchor="t">
            <a:spAutoFit/>
          </a:bodyPr>
          <a:lstStyle/>
          <a:p>
            <a:pPr algn="l">
              <a:lnSpc>
                <a:spcPct val="100000"/>
              </a:lnSpc>
            </a:pPr>
            <a:r>
              <a:rPr sz="950" b="0">
                <a:solidFill>
                  <a:srgbClr val="6E6E6E"/>
                </a:solidFill>
                <a:latin typeface="Calibri"/>
              </a:rPr>
              <a:t>Kadro farkı sezon ÖNCESİNDE oluştu (taban 30.06: 139 → 153, +14) · sezon içinde kadrolu -4 · personel başına iş +%20,5 · mağaza ve grup kırılımı detay slaytlarında.</a:t>
            </a:r>
          </a:p>
        </p:txBody>
      </p:sp>
      <p:sp>
        <p:nvSpPr>
          <p:cNvPr id="29" name="TextBox 28"/>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sayısı (yönetim kararı); etkinlik kadrosu da norm dışı — gerçek rakamdan düşüldü (engelli 3 · etkinlik 3 kişi). İK'nın kayıt toplamı kadrolu 137 + sezonluk 58 = 195 · Norm kaynağı: BKMKİTAP Mağaza Kadro ve Sezon Takip Tablosu, 11.08.2026 · Kapsam: dört mağaza (Şura norm tablosunda yok) · İş hacmi üç POS mağazası.</a:t>
            </a:r>
          </a:p>
        </p:txBody>
      </p:sp>
      <p:sp>
        <p:nvSpPr>
          <p:cNvPr id="30" name="TextBox 29"/>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Kadro Farkının Oluşum Dönemi</a:t>
            </a:r>
          </a:p>
        </p:txBody>
      </p:sp>
      <p:sp>
        <p:nvSpPr>
          <p:cNvPr id="3" name="Rectangle 2"/>
          <p:cNvSpPr/>
          <p:nvPr/>
        </p:nvSpPr>
        <p:spPr>
          <a:xfrm>
            <a:off x="548640"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4944"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2025 tabanı</a:t>
            </a:r>
          </a:p>
        </p:txBody>
      </p:sp>
      <p:sp>
        <p:nvSpPr>
          <p:cNvPr id="6" name="TextBox 5"/>
          <p:cNvSpPr txBox="1"/>
          <p:nvPr/>
        </p:nvSpPr>
        <p:spPr>
          <a:xfrm>
            <a:off x="694944"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139</a:t>
            </a:r>
          </a:p>
        </p:txBody>
      </p:sp>
      <p:sp>
        <p:nvSpPr>
          <p:cNvPr id="7" name="TextBox 6"/>
          <p:cNvSpPr txBox="1"/>
          <p:nvPr/>
        </p:nvSpPr>
        <p:spPr>
          <a:xfrm>
            <a:off x="694944"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30 Haziran 2025</a:t>
            </a:r>
          </a:p>
        </p:txBody>
      </p:sp>
      <p:sp>
        <p:nvSpPr>
          <p:cNvPr id="8" name="TextBox 7"/>
          <p:cNvSpPr txBox="1"/>
          <p:nvPr/>
        </p:nvSpPr>
        <p:spPr>
          <a:xfrm>
            <a:off x="2633472"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9" name="Rectangle 8"/>
          <p:cNvSpPr/>
          <p:nvPr/>
        </p:nvSpPr>
        <p:spPr>
          <a:xfrm>
            <a:off x="2779776"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79776" y="1417320"/>
            <a:ext cx="68580" cy="17373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Sezon öncesi eklenen</a:t>
            </a:r>
          </a:p>
        </p:txBody>
      </p:sp>
      <p:sp>
        <p:nvSpPr>
          <p:cNvPr id="12" name="TextBox 11"/>
          <p:cNvSpPr txBox="1"/>
          <p:nvPr/>
        </p:nvSpPr>
        <p:spPr>
          <a:xfrm>
            <a:off x="2926080" y="1965960"/>
            <a:ext cx="1828800" cy="640080"/>
          </a:xfrm>
          <a:prstGeom prst="rect">
            <a:avLst/>
          </a:prstGeom>
          <a:noFill/>
        </p:spPr>
        <p:txBody>
          <a:bodyPr wrap="square" anchor="t">
            <a:spAutoFit/>
          </a:bodyPr>
          <a:lstStyle/>
          <a:p>
            <a:pPr algn="l">
              <a:lnSpc>
                <a:spcPct val="100000"/>
              </a:lnSpc>
            </a:pPr>
            <a:r>
              <a:rPr sz="3000" b="1">
                <a:solidFill>
                  <a:srgbClr val="E30622"/>
                </a:solidFill>
                <a:latin typeface="Calibri"/>
              </a:rPr>
              <a:t>+14</a:t>
            </a:r>
          </a:p>
        </p:txBody>
      </p:sp>
      <p:sp>
        <p:nvSpPr>
          <p:cNvPr id="13" name="TextBox 12"/>
          <p:cNvSpPr txBox="1"/>
          <p:nvPr/>
        </p:nvSpPr>
        <p:spPr>
          <a:xfrm>
            <a:off x="2926080"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1 Temmuz'dan önce</a:t>
            </a:r>
          </a:p>
        </p:txBody>
      </p:sp>
      <p:sp>
        <p:nvSpPr>
          <p:cNvPr id="14" name="TextBox 13"/>
          <p:cNvSpPr txBox="1"/>
          <p:nvPr/>
        </p:nvSpPr>
        <p:spPr>
          <a:xfrm>
            <a:off x="4864608"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15" name="Rectangle 14"/>
          <p:cNvSpPr/>
          <p:nvPr/>
        </p:nvSpPr>
        <p:spPr>
          <a:xfrm>
            <a:off x="5010912"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0912"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57216"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2026 tabanı</a:t>
            </a:r>
          </a:p>
        </p:txBody>
      </p:sp>
      <p:sp>
        <p:nvSpPr>
          <p:cNvPr id="18" name="TextBox 17"/>
          <p:cNvSpPr txBox="1"/>
          <p:nvPr/>
        </p:nvSpPr>
        <p:spPr>
          <a:xfrm>
            <a:off x="5157216"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153</a:t>
            </a:r>
          </a:p>
        </p:txBody>
      </p:sp>
      <p:sp>
        <p:nvSpPr>
          <p:cNvPr id="19" name="TextBox 18"/>
          <p:cNvSpPr txBox="1"/>
          <p:nvPr/>
        </p:nvSpPr>
        <p:spPr>
          <a:xfrm>
            <a:off x="5157216"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30 Haziran 2026</a:t>
            </a:r>
          </a:p>
        </p:txBody>
      </p:sp>
      <p:sp>
        <p:nvSpPr>
          <p:cNvPr id="20" name="TextBox 19"/>
          <p:cNvSpPr txBox="1"/>
          <p:nvPr/>
        </p:nvSpPr>
        <p:spPr>
          <a:xfrm>
            <a:off x="7095744"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21" name="Rectangle 20"/>
          <p:cNvSpPr/>
          <p:nvPr/>
        </p:nvSpPr>
        <p:spPr>
          <a:xfrm>
            <a:off x="7242048"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42048" y="1417320"/>
            <a:ext cx="68580" cy="173736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88352"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Sezon içi değişim</a:t>
            </a:r>
          </a:p>
        </p:txBody>
      </p:sp>
      <p:sp>
        <p:nvSpPr>
          <p:cNvPr id="24" name="TextBox 23"/>
          <p:cNvSpPr txBox="1"/>
          <p:nvPr/>
        </p:nvSpPr>
        <p:spPr>
          <a:xfrm>
            <a:off x="7388352" y="1965960"/>
            <a:ext cx="1828800" cy="640080"/>
          </a:xfrm>
          <a:prstGeom prst="rect">
            <a:avLst/>
          </a:prstGeom>
          <a:noFill/>
        </p:spPr>
        <p:txBody>
          <a:bodyPr wrap="square" anchor="t">
            <a:spAutoFit/>
          </a:bodyPr>
          <a:lstStyle/>
          <a:p>
            <a:pPr algn="l">
              <a:lnSpc>
                <a:spcPct val="100000"/>
              </a:lnSpc>
            </a:pPr>
            <a:r>
              <a:rPr sz="3000" b="1">
                <a:solidFill>
                  <a:srgbClr val="A6001A"/>
                </a:solidFill>
                <a:latin typeface="Calibri"/>
              </a:rPr>
              <a:t>-4</a:t>
            </a:r>
          </a:p>
        </p:txBody>
      </p:sp>
      <p:sp>
        <p:nvSpPr>
          <p:cNvPr id="25" name="TextBox 24"/>
          <p:cNvSpPr txBox="1"/>
          <p:nvPr/>
        </p:nvSpPr>
        <p:spPr>
          <a:xfrm>
            <a:off x="7388352"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1 Tem – 31 Ağu</a:t>
            </a:r>
          </a:p>
        </p:txBody>
      </p:sp>
      <p:sp>
        <p:nvSpPr>
          <p:cNvPr id="26" name="TextBox 25"/>
          <p:cNvSpPr txBox="1"/>
          <p:nvPr/>
        </p:nvSpPr>
        <p:spPr>
          <a:xfrm>
            <a:off x="9326880"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27" name="Rectangle 26"/>
          <p:cNvSpPr/>
          <p:nvPr/>
        </p:nvSpPr>
        <p:spPr>
          <a:xfrm>
            <a:off x="9473184"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473184"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19488"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31 Ağustos 2026</a:t>
            </a:r>
          </a:p>
        </p:txBody>
      </p:sp>
      <p:sp>
        <p:nvSpPr>
          <p:cNvPr id="30" name="TextBox 29"/>
          <p:cNvSpPr txBox="1"/>
          <p:nvPr/>
        </p:nvSpPr>
        <p:spPr>
          <a:xfrm>
            <a:off x="9619488"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149</a:t>
            </a:r>
          </a:p>
        </p:txBody>
      </p:sp>
      <p:sp>
        <p:nvSpPr>
          <p:cNvPr id="31" name="TextBox 30"/>
          <p:cNvSpPr txBox="1"/>
          <p:nvPr/>
        </p:nvSpPr>
        <p:spPr>
          <a:xfrm>
            <a:off x="9619488"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sezon zirvesi</a:t>
            </a:r>
          </a:p>
        </p:txBody>
      </p:sp>
      <p:graphicFrame>
        <p:nvGraphicFramePr>
          <p:cNvPr id="32" name="Chart 31"/>
          <p:cNvGraphicFramePr>
            <a:graphicFrameLocks noGrp="1"/>
          </p:cNvGraphicFramePr>
          <p:nvPr/>
        </p:nvGraphicFramePr>
        <p:xfrm>
          <a:off x="548640" y="3383280"/>
          <a:ext cx="5577840" cy="1874519"/>
        </p:xfrm>
        <a:graphic>
          <a:graphicData uri="http://schemas.openxmlformats.org/drawingml/2006/chart">
            <c:chart xmlns:c="http://schemas.openxmlformats.org/drawingml/2006/chart" r:id="rId3"/>
          </a:graphicData>
        </a:graphic>
      </p:graphicFrame>
      <p:sp>
        <p:nvSpPr>
          <p:cNvPr id="33" name="Rounded Rectangle 32"/>
          <p:cNvSpPr/>
          <p:nvPr/>
        </p:nvSpPr>
        <p:spPr>
          <a:xfrm>
            <a:off x="6400800" y="3474720"/>
            <a:ext cx="5166360" cy="16002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584448"/>
            <a:ext cx="4754880" cy="1417320"/>
          </a:xfrm>
          <a:prstGeom prst="rect">
            <a:avLst/>
          </a:prstGeom>
          <a:noFill/>
        </p:spPr>
        <p:txBody>
          <a:bodyPr wrap="square" anchor="t">
            <a:spAutoFit/>
          </a:bodyPr>
          <a:lstStyle/>
          <a:p>
            <a:pPr algn="l">
              <a:lnSpc>
                <a:spcPct val="115000"/>
              </a:lnSpc>
            </a:pPr>
            <a:r>
              <a:rPr sz="1500" b="1">
                <a:solidFill>
                  <a:srgbClr val="A6001A"/>
                </a:solidFill>
                <a:latin typeface="Calibri"/>
              </a:rPr>
              <a:t>Sezon döneminde kadro artışı yoktur.</a:t>
            </a:r>
          </a:p>
          <a:p>
            <a:pPr algn="l">
              <a:lnSpc>
                <a:spcPct val="115000"/>
              </a:lnSpc>
            </a:pPr>
            <a:r>
              <a:rPr sz="1200" b="0">
                <a:solidFill>
                  <a:srgbClr val="333333"/>
                </a:solidFill>
                <a:latin typeface="Calibri"/>
              </a:rPr>
              <a:t>Kadrolu personel 153 → 149 (-4). Önceki yıl da aynı yönde (-4): sezon döneminde alınan kadrolu personel ayrılanların yerine gelmiş, kadroyu büyütmemiştir.</a:t>
            </a:r>
          </a:p>
        </p:txBody>
      </p:sp>
      <p:sp>
        <p:nvSpPr>
          <p:cNvPr id="35" name="TextBox 3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a:t>
            </a:r>
          </a:p>
        </p:txBody>
      </p:sp>
      <p:sp>
        <p:nvSpPr>
          <p:cNvPr id="36" name="TextBox 3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Mağaza Bazında Kadro</a:t>
            </a:r>
          </a:p>
        </p:txBody>
      </p:sp>
      <p:graphicFrame>
        <p:nvGraphicFramePr>
          <p:cNvPr id="3" name="Table 2"/>
          <p:cNvGraphicFramePr>
            <a:graphicFrameLocks noGrp="1"/>
          </p:cNvGraphicFramePr>
          <p:nvPr/>
        </p:nvGraphicFramePr>
        <p:xfrm>
          <a:off x="548640" y="1417320"/>
          <a:ext cx="11018520" cy="3089366"/>
        </p:xfrm>
        <a:graphic>
          <a:graphicData uri="http://schemas.openxmlformats.org/drawingml/2006/table">
            <a:tbl>
              <a:tblPr firstRow="1" bandRow="1">
                <a:tableStyleId>{5C22544A-7EE6-4342-B048-85BDC9FD1C3A}</a:tableStyleId>
              </a:tblPr>
              <a:tblGrid>
                <a:gridCol w="1417320"/>
                <a:gridCol w="1005840"/>
                <a:gridCol w="1005840"/>
                <a:gridCol w="1005840"/>
                <a:gridCol w="1005840"/>
                <a:gridCol w="841248"/>
                <a:gridCol w="841248"/>
                <a:gridCol w="1005840"/>
                <a:gridCol w="1005840"/>
                <a:gridCol w="941832"/>
                <a:gridCol w="941832"/>
              </a:tblGrid>
              <a:tr h="502920">
                <a:tc>
                  <a:txBody>
                    <a:bodyPr/>
                    <a:lstStyle/>
                    <a:p>
                      <a:pPr algn="l"/>
                      <a:r>
                        <a:rPr sz="850" b="1">
                          <a:solidFill>
                            <a:srgbClr val="FFFFFF"/>
                          </a:solidFill>
                          <a:latin typeface="Calibri"/>
                        </a:rPr>
                        <a:t>Mağaza</a:t>
                      </a:r>
                    </a:p>
                  </a:txBody>
                  <a:tcPr>
                    <a:solidFill>
                      <a:srgbClr val="E30622"/>
                    </a:solidFill>
                  </a:tcPr>
                </a:tc>
                <a:tc>
                  <a:txBody>
                    <a:bodyPr/>
                    <a:lstStyle/>
                    <a:p>
                      <a:pPr algn="ctr"/>
                      <a:r>
                        <a:rPr sz="850" b="1">
                          <a:solidFill>
                            <a:srgbClr val="FFFFFF"/>
                          </a:solidFill>
                          <a:latin typeface="Calibri"/>
                        </a:rPr>
                        <a:t>Kadrolu 30.06</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Kadrolu 30.06</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Kadrolu 31.08</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Kadrolu 31.08</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Sezon içi</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Sezon içi</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Sezonluk 31.08</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Sezonluk 31.08</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GENEL TOPLAM</a:t>
                      </a:r>
                    </a:p>
                    <a:p>
                      <a:pPr algn="ctr"/>
                      <a:r>
                        <a:rPr sz="850" b="1">
                          <a:solidFill>
                            <a:srgbClr val="FFFFFF"/>
                          </a:solidFill>
                          <a:latin typeface="Calibri"/>
                        </a:rPr>
                        <a:t>31.08 · 2025</a:t>
                      </a:r>
                    </a:p>
                  </a:txBody>
                  <a:tcPr>
                    <a:solidFill>
                      <a:srgbClr val="E30622"/>
                    </a:solidFill>
                  </a:tcPr>
                </a:tc>
                <a:tc>
                  <a:txBody>
                    <a:bodyPr/>
                    <a:lstStyle/>
                    <a:p>
                      <a:pPr algn="ctr"/>
                      <a:r>
                        <a:rPr sz="850" b="1">
                          <a:solidFill>
                            <a:srgbClr val="FFFFFF"/>
                          </a:solidFill>
                          <a:latin typeface="Calibri"/>
                        </a:rPr>
                        <a:t>GENEL TOPLAM</a:t>
                      </a:r>
                    </a:p>
                    <a:p>
                      <a:pPr algn="ctr"/>
                      <a:r>
                        <a:rPr sz="850" b="1">
                          <a:solidFill>
                            <a:srgbClr val="FFFFFF"/>
                          </a:solidFill>
                          <a:latin typeface="Calibri"/>
                        </a:rPr>
                        <a:t>31.08 · 2026</a:t>
                      </a:r>
                    </a:p>
                  </a:txBody>
                  <a:tcPr>
                    <a:solidFill>
                      <a:srgbClr val="E30622"/>
                    </a:solidFill>
                  </a:tcPr>
                </a:tc>
              </a:tr>
              <a:tr h="431074">
                <a:tc>
                  <a:txBody>
                    <a:bodyPr/>
                    <a:lstStyle/>
                    <a:p>
                      <a:pPr algn="l"/>
                      <a:r>
                        <a:rPr sz="1050" b="0">
                          <a:solidFill>
                            <a:srgbClr val="333333"/>
                          </a:solidFill>
                          <a:latin typeface="Calibri"/>
                        </a:rPr>
                        <a:t>İst. Yolu</a:t>
                      </a:r>
                    </a:p>
                  </a:txBody>
                  <a:tcPr>
                    <a:solidFill>
                      <a:srgbClr val="FFFFFF"/>
                    </a:solidFill>
                  </a:tcPr>
                </a:tc>
                <a:tc>
                  <a:txBody>
                    <a:bodyPr/>
                    <a:lstStyle/>
                    <a:p>
                      <a:pPr algn="ctr"/>
                      <a:r>
                        <a:rPr sz="1050" b="0">
                          <a:solidFill>
                            <a:srgbClr val="333333"/>
                          </a:solidFill>
                          <a:latin typeface="Calibri"/>
                        </a:rPr>
                        <a:t>29</a:t>
                      </a:r>
                    </a:p>
                  </a:txBody>
                  <a:tcPr>
                    <a:solidFill>
                      <a:srgbClr val="FFFFFF"/>
                    </a:solidFill>
                  </a:tcPr>
                </a:tc>
                <a:tc>
                  <a:txBody>
                    <a:bodyPr/>
                    <a:lstStyle/>
                    <a:p>
                      <a:pPr algn="ctr"/>
                      <a:r>
                        <a:rPr sz="1050" b="0">
                          <a:solidFill>
                            <a:srgbClr val="333333"/>
                          </a:solidFill>
                          <a:latin typeface="Calibri"/>
                        </a:rPr>
                        <a:t>35</a:t>
                      </a:r>
                    </a:p>
                  </a:txBody>
                  <a:tcPr>
                    <a:solidFill>
                      <a:srgbClr val="FFFFFF"/>
                    </a:solidFill>
                  </a:tcPr>
                </a:tc>
                <a:tc>
                  <a:txBody>
                    <a:bodyPr/>
                    <a:lstStyle/>
                    <a:p>
                      <a:pPr algn="ctr"/>
                      <a:r>
                        <a:rPr sz="1050" b="0">
                          <a:solidFill>
                            <a:srgbClr val="333333"/>
                          </a:solidFill>
                          <a:latin typeface="Calibri"/>
                        </a:rPr>
                        <a:t>27</a:t>
                      </a:r>
                    </a:p>
                  </a:txBody>
                  <a:tcPr>
                    <a:solidFill>
                      <a:srgbClr val="FFFFFF"/>
                    </a:solidFill>
                  </a:tcPr>
                </a:tc>
                <a:tc>
                  <a:txBody>
                    <a:bodyPr/>
                    <a:lstStyle/>
                    <a:p>
                      <a:pPr algn="ctr"/>
                      <a:r>
                        <a:rPr sz="1050" b="0">
                          <a:solidFill>
                            <a:srgbClr val="333333"/>
                          </a:solidFill>
                          <a:latin typeface="Calibri"/>
                        </a:rPr>
                        <a:t>36</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0">
                          <a:solidFill>
                            <a:srgbClr val="333333"/>
                          </a:solidFill>
                          <a:latin typeface="Calibri"/>
                        </a:rPr>
                        <a:t>23</a:t>
                      </a:r>
                    </a:p>
                  </a:txBody>
                  <a:tcPr>
                    <a:solidFill>
                      <a:srgbClr val="FFFFFF"/>
                    </a:solidFill>
                  </a:tcPr>
                </a:tc>
                <a:tc>
                  <a:txBody>
                    <a:bodyPr/>
                    <a:lstStyle/>
                    <a:p>
                      <a:pPr algn="ctr"/>
                      <a:r>
                        <a:rPr sz="1050" b="0">
                          <a:solidFill>
                            <a:srgbClr val="333333"/>
                          </a:solidFill>
                          <a:latin typeface="Calibri"/>
                        </a:rPr>
                        <a:t>25</a:t>
                      </a:r>
                    </a:p>
                  </a:txBody>
                  <a:tcPr>
                    <a:solidFill>
                      <a:srgbClr val="FFFFFF"/>
                    </a:solidFill>
                  </a:tcPr>
                </a:tc>
                <a:tc>
                  <a:txBody>
                    <a:bodyPr/>
                    <a:lstStyle/>
                    <a:p>
                      <a:pPr algn="ctr"/>
                      <a:r>
                        <a:rPr sz="1050" b="1">
                          <a:solidFill>
                            <a:srgbClr val="A6001A"/>
                          </a:solidFill>
                          <a:latin typeface="Calibri"/>
                        </a:rPr>
                        <a:t>50</a:t>
                      </a:r>
                    </a:p>
                  </a:txBody>
                  <a:tcPr>
                    <a:solidFill>
                      <a:srgbClr val="FDF2F3"/>
                    </a:solidFill>
                  </a:tcPr>
                </a:tc>
                <a:tc>
                  <a:txBody>
                    <a:bodyPr/>
                    <a:lstStyle/>
                    <a:p>
                      <a:pPr algn="ctr"/>
                      <a:r>
                        <a:rPr sz="1050" b="1">
                          <a:solidFill>
                            <a:srgbClr val="A6001A"/>
                          </a:solidFill>
                          <a:latin typeface="Calibri"/>
                        </a:rPr>
                        <a:t>61</a:t>
                      </a:r>
                    </a:p>
                  </a:txBody>
                  <a:tcPr>
                    <a:solidFill>
                      <a:srgbClr val="FDF2F3"/>
                    </a:solidFill>
                  </a:tcPr>
                </a:tc>
              </a:tr>
              <a:tr h="431074">
                <a:tc>
                  <a:txBody>
                    <a:bodyPr/>
                    <a:lstStyle/>
                    <a:p>
                      <a:pPr algn="l"/>
                      <a:r>
                        <a:rPr sz="1050" b="0">
                          <a:solidFill>
                            <a:srgbClr val="333333"/>
                          </a:solidFill>
                          <a:latin typeface="Calibri"/>
                        </a:rPr>
                        <a:t>Özlüce</a:t>
                      </a:r>
                    </a:p>
                  </a:txBody>
                  <a:tcPr>
                    <a:solidFill>
                      <a:srgbClr val="FAFAFA"/>
                    </a:solidFill>
                  </a:tcPr>
                </a:tc>
                <a:tc>
                  <a:txBody>
                    <a:bodyPr/>
                    <a:lstStyle/>
                    <a:p>
                      <a:pPr algn="ctr"/>
                      <a:r>
                        <a:rPr sz="1050" b="0">
                          <a:solidFill>
                            <a:srgbClr val="333333"/>
                          </a:solidFill>
                          <a:latin typeface="Calibri"/>
                        </a:rPr>
                        <a:t>39</a:t>
                      </a:r>
                    </a:p>
                  </a:txBody>
                  <a:tcPr>
                    <a:solidFill>
                      <a:srgbClr val="FAFAFA"/>
                    </a:solidFill>
                  </a:tcPr>
                </a:tc>
                <a:tc>
                  <a:txBody>
                    <a:bodyPr/>
                    <a:lstStyle/>
                    <a:p>
                      <a:pPr algn="ctr"/>
                      <a:r>
                        <a:rPr sz="1050" b="0">
                          <a:solidFill>
                            <a:srgbClr val="333333"/>
                          </a:solidFill>
                          <a:latin typeface="Calibri"/>
                        </a:rPr>
                        <a:t>44</a:t>
                      </a:r>
                    </a:p>
                  </a:txBody>
                  <a:tcPr>
                    <a:solidFill>
                      <a:srgbClr val="FAFAFA"/>
                    </a:solidFill>
                  </a:tcPr>
                </a:tc>
                <a:tc>
                  <a:txBody>
                    <a:bodyPr/>
                    <a:lstStyle/>
                    <a:p>
                      <a:pPr algn="ctr"/>
                      <a:r>
                        <a:rPr sz="1050" b="0">
                          <a:solidFill>
                            <a:srgbClr val="333333"/>
                          </a:solidFill>
                          <a:latin typeface="Calibri"/>
                        </a:rPr>
                        <a:t>36</a:t>
                      </a:r>
                    </a:p>
                  </a:txBody>
                  <a:tcPr>
                    <a:solidFill>
                      <a:srgbClr val="FAFAFA"/>
                    </a:solidFill>
                  </a:tcPr>
                </a:tc>
                <a:tc>
                  <a:txBody>
                    <a:bodyPr/>
                    <a:lstStyle/>
                    <a:p>
                      <a:pPr algn="ctr"/>
                      <a:r>
                        <a:rPr sz="1050" b="0">
                          <a:solidFill>
                            <a:srgbClr val="333333"/>
                          </a:solidFill>
                          <a:latin typeface="Calibri"/>
                        </a:rPr>
                        <a:t>41</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0">
                          <a:solidFill>
                            <a:srgbClr val="333333"/>
                          </a:solidFill>
                          <a:latin typeface="Calibri"/>
                        </a:rPr>
                        <a:t>15</a:t>
                      </a:r>
                    </a:p>
                  </a:txBody>
                  <a:tcPr>
                    <a:solidFill>
                      <a:srgbClr val="FAFAFA"/>
                    </a:solidFill>
                  </a:tcPr>
                </a:tc>
                <a:tc>
                  <a:txBody>
                    <a:bodyPr/>
                    <a:lstStyle/>
                    <a:p>
                      <a:pPr algn="ctr"/>
                      <a:r>
                        <a:rPr sz="1050" b="0">
                          <a:solidFill>
                            <a:srgbClr val="333333"/>
                          </a:solidFill>
                          <a:latin typeface="Calibri"/>
                        </a:rPr>
                        <a:t>13</a:t>
                      </a:r>
                    </a:p>
                  </a:txBody>
                  <a:tcPr>
                    <a:solidFill>
                      <a:srgbClr val="FAFAFA"/>
                    </a:solidFill>
                  </a:tcPr>
                </a:tc>
                <a:tc>
                  <a:txBody>
                    <a:bodyPr/>
                    <a:lstStyle/>
                    <a:p>
                      <a:pPr algn="ctr"/>
                      <a:r>
                        <a:rPr sz="1050" b="1">
                          <a:solidFill>
                            <a:srgbClr val="A6001A"/>
                          </a:solidFill>
                          <a:latin typeface="Calibri"/>
                        </a:rPr>
                        <a:t>51</a:t>
                      </a:r>
                    </a:p>
                  </a:txBody>
                  <a:tcPr>
                    <a:solidFill>
                      <a:srgbClr val="FDF2F3"/>
                    </a:solidFill>
                  </a:tcPr>
                </a:tc>
                <a:tc>
                  <a:txBody>
                    <a:bodyPr/>
                    <a:lstStyle/>
                    <a:p>
                      <a:pPr algn="ctr"/>
                      <a:r>
                        <a:rPr sz="1050" b="1">
                          <a:solidFill>
                            <a:srgbClr val="A6001A"/>
                          </a:solidFill>
                          <a:latin typeface="Calibri"/>
                        </a:rPr>
                        <a:t>54</a:t>
                      </a:r>
                    </a:p>
                  </a:txBody>
                  <a:tcPr>
                    <a:solidFill>
                      <a:srgbClr val="FDF2F3"/>
                    </a:solidFill>
                  </a:tcPr>
                </a:tc>
              </a:tr>
              <a:tr h="431074">
                <a:tc>
                  <a:txBody>
                    <a:bodyPr/>
                    <a:lstStyle/>
                    <a:p>
                      <a:pPr algn="l"/>
                      <a:r>
                        <a:rPr sz="1050" b="0">
                          <a:solidFill>
                            <a:srgbClr val="333333"/>
                          </a:solidFill>
                          <a:latin typeface="Calibri"/>
                        </a:rPr>
                        <a:t>FSM</a:t>
                      </a:r>
                    </a:p>
                  </a:txBody>
                  <a:tcPr>
                    <a:solidFill>
                      <a:srgbClr val="FFFFFF"/>
                    </a:solidFill>
                  </a:tcPr>
                </a:tc>
                <a:tc>
                  <a:txBody>
                    <a:bodyPr/>
                    <a:lstStyle/>
                    <a:p>
                      <a:pPr algn="ctr"/>
                      <a:r>
                        <a:rPr sz="1050" b="0">
                          <a:solidFill>
                            <a:srgbClr val="333333"/>
                          </a:solidFill>
                          <a:latin typeface="Calibri"/>
                        </a:rPr>
                        <a:t>34</a:t>
                      </a:r>
                    </a:p>
                  </a:txBody>
                  <a:tcPr>
                    <a:solidFill>
                      <a:srgbClr val="FFFFFF"/>
                    </a:solidFill>
                  </a:tcPr>
                </a:tc>
                <a:tc>
                  <a:txBody>
                    <a:bodyPr/>
                    <a:lstStyle/>
                    <a:p>
                      <a:pPr algn="ctr"/>
                      <a:r>
                        <a:rPr sz="1050" b="0">
                          <a:solidFill>
                            <a:srgbClr val="333333"/>
                          </a:solidFill>
                          <a:latin typeface="Calibri"/>
                        </a:rPr>
                        <a:t>35</a:t>
                      </a:r>
                    </a:p>
                  </a:txBody>
                  <a:tcPr>
                    <a:solidFill>
                      <a:srgbClr val="FFFFFF"/>
                    </a:solidFill>
                  </a:tcPr>
                </a:tc>
                <a:tc>
                  <a:txBody>
                    <a:bodyPr/>
                    <a:lstStyle/>
                    <a:p>
                      <a:pPr algn="ctr"/>
                      <a:r>
                        <a:rPr sz="1050" b="0">
                          <a:solidFill>
                            <a:srgbClr val="333333"/>
                          </a:solidFill>
                          <a:latin typeface="Calibri"/>
                        </a:rPr>
                        <a:t>33</a:t>
                      </a:r>
                    </a:p>
                  </a:txBody>
                  <a:tcPr>
                    <a:solidFill>
                      <a:srgbClr val="FFFFFF"/>
                    </a:solidFill>
                  </a:tcPr>
                </a:tc>
                <a:tc>
                  <a:txBody>
                    <a:bodyPr/>
                    <a:lstStyle/>
                    <a:p>
                      <a:pPr algn="ctr"/>
                      <a:r>
                        <a:rPr sz="1050" b="0">
                          <a:solidFill>
                            <a:srgbClr val="333333"/>
                          </a:solidFill>
                          <a:latin typeface="Calibri"/>
                        </a:rPr>
                        <a:t>34</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0">
                          <a:solidFill>
                            <a:srgbClr val="333333"/>
                          </a:solidFill>
                          <a:latin typeface="Calibri"/>
                        </a:rPr>
                        <a:t>9</a:t>
                      </a:r>
                    </a:p>
                  </a:txBody>
                  <a:tcPr>
                    <a:solidFill>
                      <a:srgbClr val="FFFFFF"/>
                    </a:solidFill>
                  </a:tcPr>
                </a:tc>
                <a:tc>
                  <a:txBody>
                    <a:bodyPr/>
                    <a:lstStyle/>
                    <a:p>
                      <a:pPr algn="ctr"/>
                      <a:r>
                        <a:rPr sz="1050" b="0">
                          <a:solidFill>
                            <a:srgbClr val="333333"/>
                          </a:solidFill>
                          <a:latin typeface="Calibri"/>
                        </a:rPr>
                        <a:t>11</a:t>
                      </a:r>
                    </a:p>
                  </a:txBody>
                  <a:tcPr>
                    <a:solidFill>
                      <a:srgbClr val="FFFFFF"/>
                    </a:solidFill>
                  </a:tcPr>
                </a:tc>
                <a:tc>
                  <a:txBody>
                    <a:bodyPr/>
                    <a:lstStyle/>
                    <a:p>
                      <a:pPr algn="ctr"/>
                      <a:r>
                        <a:rPr sz="1050" b="1">
                          <a:solidFill>
                            <a:srgbClr val="A6001A"/>
                          </a:solidFill>
                          <a:latin typeface="Calibri"/>
                        </a:rPr>
                        <a:t>42</a:t>
                      </a:r>
                    </a:p>
                  </a:txBody>
                  <a:tcPr>
                    <a:solidFill>
                      <a:srgbClr val="FDF2F3"/>
                    </a:solidFill>
                  </a:tcPr>
                </a:tc>
                <a:tc>
                  <a:txBody>
                    <a:bodyPr/>
                    <a:lstStyle/>
                    <a:p>
                      <a:pPr algn="ctr"/>
                      <a:r>
                        <a:rPr sz="1050" b="1">
                          <a:solidFill>
                            <a:srgbClr val="A6001A"/>
                          </a:solidFill>
                          <a:latin typeface="Calibri"/>
                        </a:rPr>
                        <a:t>45</a:t>
                      </a:r>
                    </a:p>
                  </a:txBody>
                  <a:tcPr>
                    <a:solidFill>
                      <a:srgbClr val="FDF2F3"/>
                    </a:solidFill>
                  </a:tcPr>
                </a:tc>
              </a:tr>
              <a:tr h="431074">
                <a:tc>
                  <a:txBody>
                    <a:bodyPr/>
                    <a:lstStyle/>
                    <a:p>
                      <a:pPr algn="l"/>
                      <a:r>
                        <a:rPr sz="1050" b="0">
                          <a:solidFill>
                            <a:srgbClr val="333333"/>
                          </a:solidFill>
                          <a:latin typeface="Calibri"/>
                        </a:rPr>
                        <a:t>Heykel</a:t>
                      </a:r>
                    </a:p>
                  </a:txBody>
                  <a:tcPr>
                    <a:solidFill>
                      <a:srgbClr val="FAFAFA"/>
                    </a:solidFill>
                  </a:tcPr>
                </a:tc>
                <a:tc>
                  <a:txBody>
                    <a:bodyPr/>
                    <a:lstStyle/>
                    <a:p>
                      <a:pPr algn="ctr"/>
                      <a:r>
                        <a:rPr sz="1050" b="0">
                          <a:solidFill>
                            <a:srgbClr val="333333"/>
                          </a:solidFill>
                          <a:latin typeface="Calibri"/>
                        </a:rPr>
                        <a:t>28</a:t>
                      </a:r>
                    </a:p>
                  </a:txBody>
                  <a:tcPr>
                    <a:solidFill>
                      <a:srgbClr val="FAFAFA"/>
                    </a:solidFill>
                  </a:tcPr>
                </a:tc>
                <a:tc>
                  <a:txBody>
                    <a:bodyPr/>
                    <a:lstStyle/>
                    <a:p>
                      <a:pPr algn="ctr"/>
                      <a:r>
                        <a:rPr sz="1050" b="0">
                          <a:solidFill>
                            <a:srgbClr val="333333"/>
                          </a:solidFill>
                          <a:latin typeface="Calibri"/>
                        </a:rPr>
                        <a:t>29</a:t>
                      </a:r>
                    </a:p>
                  </a:txBody>
                  <a:tcPr>
                    <a:solidFill>
                      <a:srgbClr val="FAFAFA"/>
                    </a:solidFill>
                  </a:tcPr>
                </a:tc>
                <a:tc>
                  <a:txBody>
                    <a:bodyPr/>
                    <a:lstStyle/>
                    <a:p>
                      <a:pPr algn="ctr"/>
                      <a:r>
                        <a:rPr sz="1050" b="0">
                          <a:solidFill>
                            <a:srgbClr val="333333"/>
                          </a:solidFill>
                          <a:latin typeface="Calibri"/>
                        </a:rPr>
                        <a:t>28</a:t>
                      </a:r>
                    </a:p>
                  </a:txBody>
                  <a:tcPr>
                    <a:solidFill>
                      <a:srgbClr val="FAFAFA"/>
                    </a:solidFill>
                  </a:tcPr>
                </a:tc>
                <a:tc>
                  <a:txBody>
                    <a:bodyPr/>
                    <a:lstStyle/>
                    <a:p>
                      <a:pPr algn="ctr"/>
                      <a:r>
                        <a:rPr sz="1050" b="0">
                          <a:solidFill>
                            <a:srgbClr val="333333"/>
                          </a:solidFill>
                          <a:latin typeface="Calibri"/>
                        </a:rPr>
                        <a:t>26</a:t>
                      </a:r>
                    </a:p>
                  </a:txBody>
                  <a:tcPr>
                    <a:solidFill>
                      <a:srgbClr val="FAFAFA"/>
                    </a:solidFill>
                  </a:tcPr>
                </a:tc>
                <a:tc>
                  <a:txBody>
                    <a:bodyPr/>
                    <a:lstStyle/>
                    <a:p>
                      <a:pPr algn="ctr"/>
                      <a:r>
                        <a:rPr sz="1050" b="1">
                          <a:solidFill>
                            <a:srgbClr val="A6001A"/>
                          </a:solidFill>
                          <a:latin typeface="Calibri"/>
                        </a:rPr>
                        <a:t>+0</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0">
                          <a:solidFill>
                            <a:srgbClr val="333333"/>
                          </a:solidFill>
                          <a:latin typeface="Calibri"/>
                        </a:rPr>
                        <a:t>12</a:t>
                      </a:r>
                    </a:p>
                  </a:txBody>
                  <a:tcPr>
                    <a:solidFill>
                      <a:srgbClr val="FAFAFA"/>
                    </a:solidFill>
                  </a:tcPr>
                </a:tc>
                <a:tc>
                  <a:txBody>
                    <a:bodyPr/>
                    <a:lstStyle/>
                    <a:p>
                      <a:pPr algn="ctr"/>
                      <a:r>
                        <a:rPr sz="1050" b="0">
                          <a:solidFill>
                            <a:srgbClr val="333333"/>
                          </a:solidFill>
                          <a:latin typeface="Calibri"/>
                        </a:rPr>
                        <a:t>9</a:t>
                      </a:r>
                    </a:p>
                  </a:txBody>
                  <a:tcPr>
                    <a:solidFill>
                      <a:srgbClr val="FAFAFA"/>
                    </a:solidFill>
                  </a:tcPr>
                </a:tc>
                <a:tc>
                  <a:txBody>
                    <a:bodyPr/>
                    <a:lstStyle/>
                    <a:p>
                      <a:pPr algn="ctr"/>
                      <a:r>
                        <a:rPr sz="1050" b="1">
                          <a:solidFill>
                            <a:srgbClr val="A6001A"/>
                          </a:solidFill>
                          <a:latin typeface="Calibri"/>
                        </a:rPr>
                        <a:t>40</a:t>
                      </a:r>
                    </a:p>
                  </a:txBody>
                  <a:tcPr>
                    <a:solidFill>
                      <a:srgbClr val="FDF2F3"/>
                    </a:solidFill>
                  </a:tcPr>
                </a:tc>
                <a:tc>
                  <a:txBody>
                    <a:bodyPr/>
                    <a:lstStyle/>
                    <a:p>
                      <a:pPr algn="ctr"/>
                      <a:r>
                        <a:rPr sz="1050" b="1">
                          <a:solidFill>
                            <a:srgbClr val="A6001A"/>
                          </a:solidFill>
                          <a:latin typeface="Calibri"/>
                        </a:rPr>
                        <a:t>35</a:t>
                      </a:r>
                    </a:p>
                  </a:txBody>
                  <a:tcPr>
                    <a:solidFill>
                      <a:srgbClr val="FDF2F3"/>
                    </a:solidFill>
                  </a:tcPr>
                </a:tc>
              </a:tr>
              <a:tr h="431074">
                <a:tc>
                  <a:txBody>
                    <a:bodyPr/>
                    <a:lstStyle/>
                    <a:p>
                      <a:pPr algn="l"/>
                      <a:r>
                        <a:rPr sz="1050" b="0">
                          <a:solidFill>
                            <a:srgbClr val="333333"/>
                          </a:solidFill>
                          <a:latin typeface="Calibri"/>
                        </a:rPr>
                        <a:t>Şura</a:t>
                      </a:r>
                    </a:p>
                  </a:txBody>
                  <a:tcPr>
                    <a:solidFill>
                      <a:srgbClr val="FFFFFF"/>
                    </a:solidFill>
                  </a:tcPr>
                </a:tc>
                <a:tc>
                  <a:txBody>
                    <a:bodyPr/>
                    <a:lstStyle/>
                    <a:p>
                      <a:pPr algn="ctr"/>
                      <a:r>
                        <a:rPr sz="1050" b="0">
                          <a:solidFill>
                            <a:srgbClr val="333333"/>
                          </a:solidFill>
                          <a:latin typeface="Calibri"/>
                        </a:rPr>
                        <a:t>9</a:t>
                      </a:r>
                    </a:p>
                  </a:txBody>
                  <a:tcPr>
                    <a:solidFill>
                      <a:srgbClr val="FFFFFF"/>
                    </a:solidFill>
                  </a:tcPr>
                </a:tc>
                <a:tc>
                  <a:txBody>
                    <a:bodyPr/>
                    <a:lstStyle/>
                    <a:p>
                      <a:pPr algn="ctr"/>
                      <a:r>
                        <a:rPr sz="1050" b="0">
                          <a:solidFill>
                            <a:srgbClr val="333333"/>
                          </a:solidFill>
                          <a:latin typeface="Calibri"/>
                        </a:rPr>
                        <a:t>10</a:t>
                      </a:r>
                    </a:p>
                  </a:txBody>
                  <a:tcPr>
                    <a:solidFill>
                      <a:srgbClr val="FFFFFF"/>
                    </a:solidFill>
                  </a:tcPr>
                </a:tc>
                <a:tc>
                  <a:txBody>
                    <a:bodyPr/>
                    <a:lstStyle/>
                    <a:p>
                      <a:pPr algn="ctr"/>
                      <a:r>
                        <a:rPr sz="1050" b="0">
                          <a:solidFill>
                            <a:srgbClr val="333333"/>
                          </a:solidFill>
                          <a:latin typeface="Calibri"/>
                        </a:rPr>
                        <a:t>11</a:t>
                      </a:r>
                    </a:p>
                  </a:txBody>
                  <a:tcPr>
                    <a:solidFill>
                      <a:srgbClr val="FFFFFF"/>
                    </a:solidFill>
                  </a:tcPr>
                </a:tc>
                <a:tc>
                  <a:txBody>
                    <a:bodyPr/>
                    <a:lstStyle/>
                    <a:p>
                      <a:pPr algn="ctr"/>
                      <a:r>
                        <a:rPr sz="1050" b="0">
                          <a:solidFill>
                            <a:srgbClr val="333333"/>
                          </a:solidFill>
                          <a:latin typeface="Calibri"/>
                        </a:rPr>
                        <a:t>12</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0">
                          <a:solidFill>
                            <a:srgbClr val="333333"/>
                          </a:solidFill>
                          <a:latin typeface="Calibri"/>
                        </a:rPr>
                        <a:t>6</a:t>
                      </a:r>
                    </a:p>
                  </a:txBody>
                  <a:tcPr>
                    <a:solidFill>
                      <a:srgbClr val="FFFFFF"/>
                    </a:solidFill>
                  </a:tcPr>
                </a:tc>
                <a:tc>
                  <a:txBody>
                    <a:bodyPr/>
                    <a:lstStyle/>
                    <a:p>
                      <a:pPr algn="ctr"/>
                      <a:r>
                        <a:rPr sz="1050" b="0">
                          <a:solidFill>
                            <a:srgbClr val="333333"/>
                          </a:solidFill>
                          <a:latin typeface="Calibri"/>
                        </a:rPr>
                        <a:t>4</a:t>
                      </a:r>
                    </a:p>
                  </a:txBody>
                  <a:tcPr>
                    <a:solidFill>
                      <a:srgbClr val="FFFFFF"/>
                    </a:solidFill>
                  </a:tcPr>
                </a:tc>
                <a:tc>
                  <a:txBody>
                    <a:bodyPr/>
                    <a:lstStyle/>
                    <a:p>
                      <a:pPr algn="ctr"/>
                      <a:r>
                        <a:rPr sz="1050" b="1">
                          <a:solidFill>
                            <a:srgbClr val="A6001A"/>
                          </a:solidFill>
                          <a:latin typeface="Calibri"/>
                        </a:rPr>
                        <a:t>17</a:t>
                      </a:r>
                    </a:p>
                  </a:txBody>
                  <a:tcPr>
                    <a:solidFill>
                      <a:srgbClr val="FDF2F3"/>
                    </a:solidFill>
                  </a:tcPr>
                </a:tc>
                <a:tc>
                  <a:txBody>
                    <a:bodyPr/>
                    <a:lstStyle/>
                    <a:p>
                      <a:pPr algn="ctr"/>
                      <a:r>
                        <a:rPr sz="1050" b="1">
                          <a:solidFill>
                            <a:srgbClr val="A6001A"/>
                          </a:solidFill>
                          <a:latin typeface="Calibri"/>
                        </a:rPr>
                        <a:t>16</a:t>
                      </a:r>
                    </a:p>
                  </a:txBody>
                  <a:tcPr>
                    <a:solidFill>
                      <a:srgbClr val="FDF2F3"/>
                    </a:solidFill>
                  </a:tcPr>
                </a:tc>
              </a:tr>
              <a:tr h="431076">
                <a:tc>
                  <a:txBody>
                    <a:bodyPr/>
                    <a:lstStyle/>
                    <a:p>
                      <a:pPr algn="l"/>
                      <a:r>
                        <a:rPr sz="1050" b="1">
                          <a:solidFill>
                            <a:srgbClr val="333333"/>
                          </a:solidFill>
                          <a:latin typeface="Calibri"/>
                        </a:rPr>
                        <a:t>TOPLAM</a:t>
                      </a:r>
                    </a:p>
                  </a:txBody>
                  <a:tcPr>
                    <a:solidFill>
                      <a:srgbClr val="F2F2F2"/>
                    </a:solidFill>
                  </a:tcPr>
                </a:tc>
                <a:tc>
                  <a:txBody>
                    <a:bodyPr/>
                    <a:lstStyle/>
                    <a:p>
                      <a:pPr algn="ctr"/>
                      <a:r>
                        <a:rPr sz="1050" b="1">
                          <a:solidFill>
                            <a:srgbClr val="333333"/>
                          </a:solidFill>
                          <a:latin typeface="Calibri"/>
                        </a:rPr>
                        <a:t>139</a:t>
                      </a:r>
                    </a:p>
                  </a:txBody>
                  <a:tcPr>
                    <a:solidFill>
                      <a:srgbClr val="F2F2F2"/>
                    </a:solidFill>
                  </a:tcPr>
                </a:tc>
                <a:tc>
                  <a:txBody>
                    <a:bodyPr/>
                    <a:lstStyle/>
                    <a:p>
                      <a:pPr algn="ctr"/>
                      <a:r>
                        <a:rPr sz="1050" b="1">
                          <a:solidFill>
                            <a:srgbClr val="333333"/>
                          </a:solidFill>
                          <a:latin typeface="Calibri"/>
                        </a:rPr>
                        <a:t>153</a:t>
                      </a:r>
                    </a:p>
                  </a:txBody>
                  <a:tcPr>
                    <a:solidFill>
                      <a:srgbClr val="F2F2F2"/>
                    </a:solidFill>
                  </a:tcPr>
                </a:tc>
                <a:tc>
                  <a:txBody>
                    <a:bodyPr/>
                    <a:lstStyle/>
                    <a:p>
                      <a:pPr algn="ctr"/>
                      <a:r>
                        <a:rPr sz="1050" b="1">
                          <a:solidFill>
                            <a:srgbClr val="333333"/>
                          </a:solidFill>
                          <a:latin typeface="Calibri"/>
                        </a:rPr>
                        <a:t>135</a:t>
                      </a:r>
                    </a:p>
                  </a:txBody>
                  <a:tcPr>
                    <a:solidFill>
                      <a:srgbClr val="F2F2F2"/>
                    </a:solidFill>
                  </a:tcPr>
                </a:tc>
                <a:tc>
                  <a:txBody>
                    <a:bodyPr/>
                    <a:lstStyle/>
                    <a:p>
                      <a:pPr algn="ctr"/>
                      <a:r>
                        <a:rPr sz="1050" b="1">
                          <a:solidFill>
                            <a:srgbClr val="333333"/>
                          </a:solidFill>
                          <a:latin typeface="Calibri"/>
                        </a:rPr>
                        <a:t>149</a:t>
                      </a:r>
                    </a:p>
                  </a:txBody>
                  <a:tcPr>
                    <a:solidFill>
                      <a:srgbClr val="F2F2F2"/>
                    </a:solidFill>
                  </a:tcPr>
                </a:tc>
                <a:tc>
                  <a:txBody>
                    <a:bodyPr/>
                    <a:lstStyle/>
                    <a:p>
                      <a:pPr algn="ctr"/>
                      <a:r>
                        <a:rPr sz="1050" b="1">
                          <a:solidFill>
                            <a:srgbClr val="A6001A"/>
                          </a:solidFill>
                          <a:latin typeface="Calibri"/>
                        </a:rPr>
                        <a:t>-4</a:t>
                      </a:r>
                    </a:p>
                  </a:txBody>
                  <a:tcPr>
                    <a:solidFill>
                      <a:srgbClr val="F2F2F2"/>
                    </a:solidFill>
                  </a:tcPr>
                </a:tc>
                <a:tc>
                  <a:txBody>
                    <a:bodyPr/>
                    <a:lstStyle/>
                    <a:p>
                      <a:pPr algn="ctr"/>
                      <a:r>
                        <a:rPr sz="1050" b="1">
                          <a:solidFill>
                            <a:srgbClr val="A6001A"/>
                          </a:solidFill>
                          <a:latin typeface="Calibri"/>
                        </a:rPr>
                        <a:t>-4</a:t>
                      </a:r>
                    </a:p>
                  </a:txBody>
                  <a:tcPr>
                    <a:solidFill>
                      <a:srgbClr val="F2F2F2"/>
                    </a:solidFill>
                  </a:tcPr>
                </a:tc>
                <a:tc>
                  <a:txBody>
                    <a:bodyPr/>
                    <a:lstStyle/>
                    <a:p>
                      <a:pPr algn="ctr"/>
                      <a:r>
                        <a:rPr sz="1050" b="1">
                          <a:solidFill>
                            <a:srgbClr val="333333"/>
                          </a:solidFill>
                          <a:latin typeface="Calibri"/>
                        </a:rPr>
                        <a:t>65</a:t>
                      </a:r>
                    </a:p>
                  </a:txBody>
                  <a:tcPr>
                    <a:solidFill>
                      <a:srgbClr val="F2F2F2"/>
                    </a:solidFill>
                  </a:tcPr>
                </a:tc>
                <a:tc>
                  <a:txBody>
                    <a:bodyPr/>
                    <a:lstStyle/>
                    <a:p>
                      <a:pPr algn="ctr"/>
                      <a:r>
                        <a:rPr sz="1050" b="1">
                          <a:solidFill>
                            <a:srgbClr val="333333"/>
                          </a:solidFill>
                          <a:latin typeface="Calibri"/>
                        </a:rPr>
                        <a:t>62</a:t>
                      </a:r>
                    </a:p>
                  </a:txBody>
                  <a:tcPr>
                    <a:solidFill>
                      <a:srgbClr val="F2F2F2"/>
                    </a:solidFill>
                  </a:tcPr>
                </a:tc>
                <a:tc>
                  <a:txBody>
                    <a:bodyPr/>
                    <a:lstStyle/>
                    <a:p>
                      <a:pPr algn="ctr"/>
                      <a:r>
                        <a:rPr sz="1050" b="1">
                          <a:solidFill>
                            <a:srgbClr val="A6001A"/>
                          </a:solidFill>
                          <a:latin typeface="Calibri"/>
                        </a:rPr>
                        <a:t>200</a:t>
                      </a:r>
                    </a:p>
                  </a:txBody>
                  <a:tcPr>
                    <a:solidFill>
                      <a:srgbClr val="F2F2F2"/>
                    </a:solidFill>
                  </a:tcPr>
                </a:tc>
                <a:tc>
                  <a:txBody>
                    <a:bodyPr/>
                    <a:lstStyle/>
                    <a:p>
                      <a:pPr algn="ctr"/>
                      <a:r>
                        <a:rPr sz="1050" b="1">
                          <a:solidFill>
                            <a:srgbClr val="A6001A"/>
                          </a:solidFill>
                          <a:latin typeface="Calibri"/>
                        </a:rPr>
                        <a:t>211</a:t>
                      </a:r>
                    </a:p>
                  </a:txBody>
                  <a:tcPr>
                    <a:solidFill>
                      <a:srgbClr val="F2F2F2"/>
                    </a:solidFill>
                  </a:tcPr>
                </a:tc>
              </a:tr>
            </a:tbl>
          </a:graphicData>
        </a:graphic>
      </p:graphicFrame>
      <p:sp>
        <p:nvSpPr>
          <p:cNvPr id="4" name="Rounded Rectangle 3"/>
          <p:cNvSpPr/>
          <p:nvPr/>
        </p:nvSpPr>
        <p:spPr>
          <a:xfrm>
            <a:off x="548640" y="4526280"/>
            <a:ext cx="11018520" cy="6858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4526280"/>
            <a:ext cx="10607040" cy="685800"/>
          </a:xfrm>
          <a:prstGeom prst="rect">
            <a:avLst/>
          </a:prstGeom>
          <a:noFill/>
        </p:spPr>
        <p:txBody>
          <a:bodyPr wrap="square" anchor="ctr">
            <a:spAutoFit/>
          </a:bodyPr>
          <a:lstStyle/>
          <a:p>
            <a:pPr algn="l">
              <a:lnSpc>
                <a:spcPct val="100000"/>
              </a:lnSpc>
            </a:pPr>
            <a:r>
              <a:rPr sz="1150" b="1">
                <a:solidFill>
                  <a:srgbClr val="A6001A"/>
                </a:solidFill>
                <a:latin typeface="Calibri"/>
              </a:rPr>
              <a:t>İŞ HACMİ KAPSAMI — üç POS mağazası (FSM · Özlüce · İst. Yolu): kadrolu 96 → 111 · sezonluk 47 → 49 · TOPLAM KADRO 143 → 160.  Diğer slaytlardaki 143 → 160 kadro rakamı bu satırdır.</a:t>
            </a:r>
          </a:p>
        </p:txBody>
      </p:sp>
      <p:sp>
        <p:nvSpPr>
          <p:cNvPr id="6" name="TextBox 5"/>
          <p:cNvSpPr txBox="1"/>
          <p:nvPr/>
        </p:nvSpPr>
        <p:spPr>
          <a:xfrm>
            <a:off x="548640" y="5285232"/>
            <a:ext cx="11018520" cy="274320"/>
          </a:xfrm>
          <a:prstGeom prst="rect">
            <a:avLst/>
          </a:prstGeom>
          <a:noFill/>
        </p:spPr>
        <p:txBody>
          <a:bodyPr wrap="square" anchor="t">
            <a:spAutoFit/>
          </a:bodyPr>
          <a:lstStyle/>
          <a:p>
            <a:pPr algn="l">
              <a:lnSpc>
                <a:spcPct val="115000"/>
              </a:lnSpc>
            </a:pPr>
            <a:r>
              <a:rPr sz="1000" b="0">
                <a:solidFill>
                  <a:srgbClr val="6E6E6E"/>
                </a:solidFill>
                <a:latin typeface="Calibri"/>
              </a:rPr>
              <a:t>Kadrolu = sezonluk dışı personel · Sezon içi = 31.08 kesimi ile 30.06 tabanı arasındaki değişim (her iki yılda da negatif: -4 ve -4).</a:t>
            </a:r>
          </a:p>
        </p:txBody>
      </p:sp>
      <p:sp>
        <p:nvSpPr>
          <p:cNvPr id="7" name="TextBox 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 İş hacmi kapsamı üç POS mağazasıdır (FSM · Özlüce · İst. Yolu).</a:t>
            </a:r>
          </a:p>
        </p:txBody>
      </p:sp>
      <p:sp>
        <p:nvSpPr>
          <p:cNvPr id="8" name="TextBox 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Dönem İş Hacmi</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ELLEÇLENEN ÜRÜN</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200" b="1">
                <a:solidFill>
                  <a:srgbClr val="A6001A"/>
                </a:solidFill>
                <a:latin typeface="Calibri"/>
              </a:rPr>
              <a:t>+%34,9</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574.656 → 775.032 adet</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y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CİRO · KDV DAHİL</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200" b="1">
                <a:solidFill>
                  <a:srgbClr val="A6001A"/>
                </a:solidFill>
                <a:latin typeface="Calibri"/>
              </a:rPr>
              <a:t>+%70,6</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71,8 → 122,5 milyon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s.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KADRO · 3 MAĞAZA</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200" b="1">
                <a:solidFill>
                  <a:srgbClr val="9A9A9A"/>
                </a:solidFill>
                <a:latin typeface="Calibri"/>
              </a:rPr>
              <a:t>+%11,9</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143 → 160 kişi (sezonluk dahil)</a:t>
            </a:r>
          </a:p>
        </p:txBody>
      </p:sp>
      <p:graphicFrame>
        <p:nvGraphicFramePr>
          <p:cNvPr id="21" name="Chart 20"/>
          <p:cNvGraphicFramePr>
            <a:graphicFrameLocks noGrp="1"/>
          </p:cNvGraphicFramePr>
          <p:nvPr/>
        </p:nvGraphicFramePr>
        <p:xfrm>
          <a:off x="548640" y="3200400"/>
          <a:ext cx="5577840" cy="1965960"/>
        </p:xfrm>
        <a:graphic>
          <a:graphicData uri="http://schemas.openxmlformats.org/drawingml/2006/chart">
            <c:chart xmlns:c="http://schemas.openxmlformats.org/drawingml/2006/chart" r:id="rId6"/>
          </a:graphicData>
        </a:graphic>
      </p:graphicFrame>
      <p:sp>
        <p:nvSpPr>
          <p:cNvPr id="22" name="Rounded Rectangle 21"/>
          <p:cNvSpPr/>
          <p:nvPr/>
        </p:nvSpPr>
        <p:spPr>
          <a:xfrm>
            <a:off x="6400800" y="3383280"/>
            <a:ext cx="5166360" cy="18288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3520440"/>
            <a:ext cx="4754880" cy="1600200"/>
          </a:xfrm>
          <a:prstGeom prst="rect">
            <a:avLst/>
          </a:prstGeom>
          <a:noFill/>
        </p:spPr>
        <p:txBody>
          <a:bodyPr wrap="square" anchor="t">
            <a:spAutoFit/>
          </a:bodyPr>
          <a:lstStyle/>
          <a:p>
            <a:pPr algn="l">
              <a:lnSpc>
                <a:spcPct val="115000"/>
              </a:lnSpc>
            </a:pPr>
            <a:r>
              <a:rPr sz="1400" b="1">
                <a:solidFill>
                  <a:srgbClr val="A6001A"/>
                </a:solidFill>
                <a:latin typeface="Calibri"/>
              </a:rPr>
              <a:t>Ürün adedi birincil ölçüdür</a:t>
            </a:r>
          </a:p>
          <a:p>
            <a:pPr algn="l">
              <a:lnSpc>
                <a:spcPct val="115000"/>
              </a:lnSpc>
            </a:pPr>
            <a:r>
              <a:rPr sz="1200" b="0">
                <a:solidFill>
                  <a:srgbClr val="333333"/>
                </a:solidFill>
                <a:latin typeface="Calibri"/>
              </a:rPr>
              <a:t>Adet enflasyondan etkilenmez; kasadan geçen, rafa dizilen ve depodan çıkan fiili mal miktarını gösterir. Ciro fiyat artışını içerir, adet içermez.</a:t>
            </a:r>
          </a:p>
        </p:txBody>
      </p:sp>
      <p:sp>
        <p:nvSpPr>
          <p:cNvPr id="24" name="TextBox 23"/>
          <p:cNvSpPr txBox="1"/>
          <p:nvPr/>
        </p:nvSpPr>
        <p:spPr>
          <a:xfrm>
            <a:off x="548640" y="5230368"/>
            <a:ext cx="11018520" cy="292608"/>
          </a:xfrm>
          <a:prstGeom prst="rect">
            <a:avLst/>
          </a:prstGeom>
          <a:noFill/>
        </p:spPr>
        <p:txBody>
          <a:bodyPr wrap="square" anchor="t">
            <a:spAutoFit/>
          </a:bodyPr>
          <a:lstStyle/>
          <a:p>
            <a:pPr algn="l">
              <a:lnSpc>
                <a:spcPct val="100000"/>
              </a:lnSpc>
            </a:pPr>
            <a:r>
              <a:rPr sz="1000" b="0">
                <a:solidFill>
                  <a:srgbClr val="9A9A9A"/>
                </a:solidFill>
                <a:latin typeface="Calibri"/>
              </a:rPr>
              <a:t>Kaynak: DerinSIS mağaza satışı · Sınav hariç · iadeler düşülmüş · KDV dahil.</a:t>
            </a:r>
          </a:p>
        </p:txBody>
      </p:sp>
      <p:sp>
        <p:nvSpPr>
          <p:cNvPr id="25" name="TextBox 2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26" name="TextBox 2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Personel Başına İş Hacmi — Okul-Hizalı Pencere</a:t>
            </a:r>
          </a:p>
        </p:txBody>
      </p:sp>
      <p:graphicFrame>
        <p:nvGraphicFramePr>
          <p:cNvPr id="3" name="Chart 2"/>
          <p:cNvGraphicFramePr>
            <a:graphicFrameLocks noGrp="1"/>
          </p:cNvGraphicFramePr>
          <p:nvPr/>
        </p:nvGraphicFramePr>
        <p:xfrm>
          <a:off x="548640" y="1463040"/>
          <a:ext cx="5760720" cy="3566160"/>
        </p:xfrm>
        <a:graphic>
          <a:graphicData uri="http://schemas.openxmlformats.org/drawingml/2006/chart">
            <c:chart xmlns:c="http://schemas.openxmlformats.org/drawingml/2006/chart" r:id="rId3"/>
          </a:graphicData>
        </a:graphic>
      </p:graphicFrame>
      <p:sp>
        <p:nvSpPr>
          <p:cNvPr id="4" name="Rectangle 3"/>
          <p:cNvSpPr/>
          <p:nvPr/>
        </p:nvSpPr>
        <p:spPr>
          <a:xfrm>
            <a:off x="6583680" y="1600200"/>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0" y="1600200"/>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0" y="170992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Özlüce</a:t>
            </a:r>
          </a:p>
        </p:txBody>
      </p:sp>
      <p:sp>
        <p:nvSpPr>
          <p:cNvPr id="7" name="TextBox 6"/>
          <p:cNvSpPr txBox="1"/>
          <p:nvPr/>
        </p:nvSpPr>
        <p:spPr>
          <a:xfrm>
            <a:off x="6812280" y="205740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4.525 → 5.579 adet/kişi</a:t>
            </a:r>
          </a:p>
        </p:txBody>
      </p:sp>
      <p:sp>
        <p:nvSpPr>
          <p:cNvPr id="8" name="TextBox 7"/>
          <p:cNvSpPr txBox="1"/>
          <p:nvPr/>
        </p:nvSpPr>
        <p:spPr>
          <a:xfrm>
            <a:off x="9784080" y="170992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+%23,3</a:t>
            </a:r>
          </a:p>
        </p:txBody>
      </p:sp>
      <p:sp>
        <p:nvSpPr>
          <p:cNvPr id="9" name="Rectangle 8"/>
          <p:cNvSpPr/>
          <p:nvPr/>
        </p:nvSpPr>
        <p:spPr>
          <a:xfrm>
            <a:off x="6583680" y="2788920"/>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0" y="2788920"/>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80" y="289864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İst. Yolu</a:t>
            </a:r>
          </a:p>
        </p:txBody>
      </p:sp>
      <p:sp>
        <p:nvSpPr>
          <p:cNvPr id="12" name="TextBox 11"/>
          <p:cNvSpPr txBox="1"/>
          <p:nvPr/>
        </p:nvSpPr>
        <p:spPr>
          <a:xfrm>
            <a:off x="6812280" y="324612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3.467 → 4.230 adet/kişi</a:t>
            </a:r>
          </a:p>
        </p:txBody>
      </p:sp>
      <p:sp>
        <p:nvSpPr>
          <p:cNvPr id="13" name="TextBox 12"/>
          <p:cNvSpPr txBox="1"/>
          <p:nvPr/>
        </p:nvSpPr>
        <p:spPr>
          <a:xfrm>
            <a:off x="9784080" y="289864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+%22,0</a:t>
            </a:r>
          </a:p>
        </p:txBody>
      </p:sp>
      <p:sp>
        <p:nvSpPr>
          <p:cNvPr id="14" name="Rectangle 13"/>
          <p:cNvSpPr/>
          <p:nvPr/>
        </p:nvSpPr>
        <p:spPr>
          <a:xfrm>
            <a:off x="6583680" y="3977639"/>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0" y="3977639"/>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408736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FSM</a:t>
            </a:r>
          </a:p>
        </p:txBody>
      </p:sp>
      <p:sp>
        <p:nvSpPr>
          <p:cNvPr id="17" name="TextBox 16"/>
          <p:cNvSpPr txBox="1"/>
          <p:nvPr/>
        </p:nvSpPr>
        <p:spPr>
          <a:xfrm>
            <a:off x="6812280" y="443484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4.061 → 4.795 adet/kişi</a:t>
            </a:r>
          </a:p>
        </p:txBody>
      </p:sp>
      <p:sp>
        <p:nvSpPr>
          <p:cNvPr id="18" name="TextBox 17"/>
          <p:cNvSpPr txBox="1"/>
          <p:nvPr/>
        </p:nvSpPr>
        <p:spPr>
          <a:xfrm>
            <a:off x="9784080" y="408736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+%18,1</a:t>
            </a:r>
          </a:p>
        </p:txBody>
      </p:sp>
      <p:sp>
        <p:nvSpPr>
          <p:cNvPr id="19" name="TextBox 18"/>
          <p:cNvSpPr txBox="1"/>
          <p:nvPr/>
        </p:nvSpPr>
        <p:spPr>
          <a:xfrm>
            <a:off x="548640" y="5193792"/>
            <a:ext cx="11018520" cy="310896"/>
          </a:xfrm>
          <a:prstGeom prst="rect">
            <a:avLst/>
          </a:prstGeom>
          <a:noFill/>
        </p:spPr>
        <p:txBody>
          <a:bodyPr wrap="square" anchor="t">
            <a:spAutoFit/>
          </a:bodyPr>
          <a:lstStyle/>
          <a:p>
            <a:pPr algn="l">
              <a:lnSpc>
                <a:spcPct val="100000"/>
              </a:lnSpc>
            </a:pPr>
            <a:r>
              <a:rPr sz="950" b="0">
                <a:solidFill>
                  <a:srgbClr val="6E6E6E"/>
                </a:solidFill>
                <a:latin typeface="Calibri"/>
              </a:rPr>
              <a:t>Kişi başı = 31 Ağustos'ta o mağazada fiilen çalışan TÜM personel (sezonluk dahil). Kadrosu en çok büyüyen mağazada dahi kişi başı iş artmıştır (İst. Yolu 50 → 61).</a:t>
            </a:r>
          </a:p>
        </p:txBody>
      </p:sp>
      <p:sp>
        <p:nvSpPr>
          <p:cNvPr id="20" name="TextBox 19"/>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21" name="TextBox 20"/>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Dört Yıllık Seyir — Ocak-Ağustos Adedi / Kadrolu</a:t>
            </a:r>
          </a:p>
        </p:txBody>
      </p:sp>
      <p:graphicFrame>
        <p:nvGraphicFramePr>
          <p:cNvPr id="3" name="Chart 2"/>
          <p:cNvGraphicFramePr>
            <a:graphicFrameLocks noGrp="1"/>
          </p:cNvGraphicFramePr>
          <p:nvPr/>
        </p:nvGraphicFramePr>
        <p:xfrm>
          <a:off x="548640" y="1463040"/>
          <a:ext cx="6583680" cy="3566160"/>
        </p:xfrm>
        <a:graphic>
          <a:graphicData uri="http://schemas.openxmlformats.org/drawingml/2006/chart">
            <c:chart xmlns:c="http://schemas.openxmlformats.org/drawingml/2006/chart" r:id="rId3"/>
          </a:graphicData>
        </a:graphic>
      </p:graphicFrame>
      <p:sp>
        <p:nvSpPr>
          <p:cNvPr id="4" name="Rectangle 3"/>
          <p:cNvSpPr/>
          <p:nvPr/>
        </p:nvSpPr>
        <p:spPr>
          <a:xfrm>
            <a:off x="7406640" y="160020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6640" y="1600200"/>
            <a:ext cx="68580" cy="109728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0" y="170992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2024'te kadro atladı</a:t>
            </a:r>
          </a:p>
        </p:txBody>
      </p:sp>
      <p:sp>
        <p:nvSpPr>
          <p:cNvPr id="7" name="TextBox 6"/>
          <p:cNvSpPr txBox="1"/>
          <p:nvPr/>
        </p:nvSpPr>
        <p:spPr>
          <a:xfrm>
            <a:off x="7635240" y="203911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Kadrolu 60 → 91. Adet yalnız +%11,3 arttı → kişi başı iş düştü.</a:t>
            </a:r>
          </a:p>
        </p:txBody>
      </p:sp>
      <p:sp>
        <p:nvSpPr>
          <p:cNvPr id="8" name="Rectangle 7"/>
          <p:cNvSpPr/>
          <p:nvPr/>
        </p:nvSpPr>
        <p:spPr>
          <a:xfrm>
            <a:off x="7406640" y="283464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2834640"/>
            <a:ext cx="68580" cy="1097280"/>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294436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Ama 2023 'norm' değil</a:t>
            </a:r>
          </a:p>
        </p:txBody>
      </p:sp>
      <p:sp>
        <p:nvSpPr>
          <p:cNvPr id="11" name="TextBox 10"/>
          <p:cNvSpPr txBox="1"/>
          <p:nvPr/>
        </p:nvSpPr>
        <p:spPr>
          <a:xfrm>
            <a:off x="7635240" y="327355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O yıl FSM kasada 0, Özlüce kasada 1 kişi vardı — eksik kadroyla çalışma.</a:t>
            </a:r>
          </a:p>
        </p:txBody>
      </p:sp>
      <p:sp>
        <p:nvSpPr>
          <p:cNvPr id="12" name="Rectangle 11"/>
          <p:cNvSpPr/>
          <p:nvPr/>
        </p:nvSpPr>
        <p:spPr>
          <a:xfrm>
            <a:off x="7406640" y="406908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4069080"/>
            <a:ext cx="68580" cy="10972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35240" y="417880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2024 → 2026 toparlanma</a:t>
            </a:r>
          </a:p>
        </p:txBody>
      </p:sp>
      <p:sp>
        <p:nvSpPr>
          <p:cNvPr id="15" name="TextBox 14"/>
          <p:cNvSpPr txBox="1"/>
          <p:nvPr/>
        </p:nvSpPr>
        <p:spPr>
          <a:xfrm>
            <a:off x="7635240" y="450799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Kişi başı iş +%28,8 arttı; bu yıl kadro büyürken verim de arttı.</a:t>
            </a:r>
          </a:p>
        </p:txBody>
      </p:sp>
      <p:sp>
        <p:nvSpPr>
          <p:cNvPr id="16" name="TextBox 15"/>
          <p:cNvSpPr txBox="1"/>
          <p:nvPr/>
        </p:nvSpPr>
        <p:spPr>
          <a:xfrm>
            <a:off x="548640" y="5166360"/>
            <a:ext cx="11018520" cy="457200"/>
          </a:xfrm>
          <a:prstGeom prst="rect">
            <a:avLst/>
          </a:prstGeom>
          <a:noFill/>
        </p:spPr>
        <p:txBody>
          <a:bodyPr wrap="square" anchor="t">
            <a:spAutoFit/>
          </a:bodyPr>
          <a:lstStyle/>
          <a:p>
            <a:pPr algn="l">
              <a:lnSpc>
                <a:spcPct val="100000"/>
              </a:lnSpc>
            </a:pPr>
            <a:r>
              <a:rPr sz="1000" b="0">
                <a:solidFill>
                  <a:srgbClr val="9A9A9A"/>
                </a:solidFill>
                <a:latin typeface="Calibri"/>
              </a:rPr>
              <a:t>Ölçü: Ocak–Ağustos ürün adedi ÷ 31.08 kadrolu (sezonluk HARİÇ; yıllar arası sezonluk zamanlaması kıyası bozar). «Okul-hizalı pencere ÷ TÜM kadro» ölçüsü ayrı slayttadır — iki ölçünün seviyeleri karşılaştırılmaz, yönleri karşılaştırılır.</a:t>
            </a:r>
          </a:p>
        </p:txBody>
      </p:sp>
      <p:sp>
        <p:nvSpPr>
          <p:cNvPr id="17" name="TextBox 1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Dönem: 01.01 – 31.08 (her iki yıl, kümülatif) · kadro: 31.08 kesimi, her yıl · Sınav Okulları satışı ürün adedinden HARİÇ tutulur; o operasyona bakan personel İK kaydında kanal bazında ayrıştırılamadığı için kadroda kalır — oran her yıl aynı yönde etkilenir, yıllar arası kıyas geçerlidir</a:t>
            </a:r>
          </a:p>
        </p:txBody>
      </p:sp>
      <p:sp>
        <p:nvSpPr>
          <p:cNvPr id="18" name="TextBox 1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Bölüm Bazında Kadro Değişimi</a:t>
            </a:r>
          </a:p>
        </p:txBody>
      </p:sp>
      <p:graphicFrame>
        <p:nvGraphicFramePr>
          <p:cNvPr id="3" name="Chart 2"/>
          <p:cNvGraphicFramePr>
            <a:graphicFrameLocks noGrp="1"/>
          </p:cNvGraphicFramePr>
          <p:nvPr/>
        </p:nvGraphicFramePr>
        <p:xfrm>
          <a:off x="548640" y="1463040"/>
          <a:ext cx="6583680" cy="3291840"/>
        </p:xfrm>
        <a:graphic>
          <a:graphicData uri="http://schemas.openxmlformats.org/drawingml/2006/chart">
            <c:chart xmlns:c="http://schemas.openxmlformats.org/drawingml/2006/chart" r:id="rId3"/>
          </a:graphicData>
        </a:graphic>
      </p:graphicFrame>
      <p:sp>
        <p:nvSpPr>
          <p:cNvPr id="4" name="Rectangle 3"/>
          <p:cNvSpPr/>
          <p:nvPr/>
        </p:nvSpPr>
        <p:spPr>
          <a:xfrm>
            <a:off x="7406640" y="1463040"/>
            <a:ext cx="4160520" cy="16002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6640" y="1463040"/>
            <a:ext cx="68580" cy="16002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0" y="1572768"/>
            <a:ext cx="3703320" cy="320040"/>
          </a:xfrm>
          <a:prstGeom prst="rect">
            <a:avLst/>
          </a:prstGeom>
          <a:noFill/>
        </p:spPr>
        <p:txBody>
          <a:bodyPr wrap="square" anchor="t">
            <a:spAutoFit/>
          </a:bodyPr>
          <a:lstStyle/>
          <a:p>
            <a:pPr algn="l">
              <a:lnSpc>
                <a:spcPct val="100000"/>
              </a:lnSpc>
            </a:pPr>
            <a:r>
              <a:rPr sz="1050" b="1">
                <a:solidFill>
                  <a:srgbClr val="6E6E6E"/>
                </a:solidFill>
                <a:latin typeface="Calibri"/>
              </a:rPr>
              <a:t>KADROSU DEĞİŞMEYEN BÖLÜMLER</a:t>
            </a:r>
          </a:p>
        </p:txBody>
      </p:sp>
      <p:sp>
        <p:nvSpPr>
          <p:cNvPr id="7" name="TextBox 6"/>
          <p:cNvSpPr txBox="1"/>
          <p:nvPr/>
        </p:nvSpPr>
        <p:spPr>
          <a:xfrm>
            <a:off x="7635240" y="1901952"/>
            <a:ext cx="3703320" cy="1097280"/>
          </a:xfrm>
          <a:prstGeom prst="rect">
            <a:avLst/>
          </a:prstGeom>
          <a:noFill/>
        </p:spPr>
        <p:txBody>
          <a:bodyPr wrap="square" anchor="t">
            <a:spAutoFit/>
          </a:bodyPr>
          <a:lstStyle/>
          <a:p>
            <a:pPr algn="l">
              <a:lnSpc>
                <a:spcPct val="115000"/>
              </a:lnSpc>
            </a:pPr>
            <a:r>
              <a:rPr sz="1300" b="1">
                <a:solidFill>
                  <a:srgbClr val="2B2B2B"/>
                </a:solidFill>
                <a:latin typeface="Calibri"/>
              </a:rPr>
              <a:t>Mağaza +0  ·  Mal Kabul +0  ·  İdari İşler +0</a:t>
            </a:r>
          </a:p>
          <a:p>
            <a:pPr algn="l">
              <a:lnSpc>
                <a:spcPct val="115000"/>
              </a:lnSpc>
            </a:pPr>
            <a:r>
              <a:rPr sz="1050" b="0">
                <a:solidFill>
                  <a:srgbClr val="6E6E6E"/>
                </a:solidFill>
                <a:latin typeface="Calibri"/>
              </a:rPr>
              <a:t>Bu 3 bölümde kadro değişimi sıfırdır.</a:t>
            </a:r>
          </a:p>
        </p:txBody>
      </p:sp>
      <p:sp>
        <p:nvSpPr>
          <p:cNvPr id="8" name="Rectangle 7"/>
          <p:cNvSpPr/>
          <p:nvPr/>
        </p:nvSpPr>
        <p:spPr>
          <a:xfrm>
            <a:off x="7406640" y="3200400"/>
            <a:ext cx="4160520" cy="15544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3200400"/>
            <a:ext cx="68580" cy="15544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3310128"/>
            <a:ext cx="3703320" cy="320040"/>
          </a:xfrm>
          <a:prstGeom prst="rect">
            <a:avLst/>
          </a:prstGeom>
          <a:noFill/>
        </p:spPr>
        <p:txBody>
          <a:bodyPr wrap="square" anchor="t">
            <a:spAutoFit/>
          </a:bodyPr>
          <a:lstStyle/>
          <a:p>
            <a:pPr algn="l">
              <a:lnSpc>
                <a:spcPct val="100000"/>
              </a:lnSpc>
            </a:pPr>
            <a:r>
              <a:rPr sz="1050" b="1">
                <a:solidFill>
                  <a:srgbClr val="6E6E6E"/>
                </a:solidFill>
                <a:latin typeface="Calibri"/>
              </a:rPr>
              <a:t>KADROSU ARTAN BÖLÜMLER</a:t>
            </a:r>
          </a:p>
        </p:txBody>
      </p:sp>
      <p:sp>
        <p:nvSpPr>
          <p:cNvPr id="11" name="TextBox 10"/>
          <p:cNvSpPr txBox="1"/>
          <p:nvPr/>
        </p:nvSpPr>
        <p:spPr>
          <a:xfrm>
            <a:off x="7635240" y="3639312"/>
            <a:ext cx="3703320" cy="1051560"/>
          </a:xfrm>
          <a:prstGeom prst="rect">
            <a:avLst/>
          </a:prstGeom>
          <a:noFill/>
        </p:spPr>
        <p:txBody>
          <a:bodyPr wrap="square" anchor="t">
            <a:spAutoFit/>
          </a:bodyPr>
          <a:lstStyle/>
          <a:p>
            <a:pPr algn="l">
              <a:lnSpc>
                <a:spcPct val="115000"/>
              </a:lnSpc>
            </a:pPr>
            <a:r>
              <a:rPr sz="1200" b="1">
                <a:solidFill>
                  <a:srgbClr val="A6001A"/>
                </a:solidFill>
                <a:latin typeface="Calibri"/>
              </a:rPr>
              <a:t>Yardımcı Kitap +6  ·  Kırtasiye +3  ·  Kasa +2  ·  Akademi +2  ·  Şura +2</a:t>
            </a:r>
          </a:p>
        </p:txBody>
      </p:sp>
      <p:sp>
        <p:nvSpPr>
          <p:cNvPr id="12" name="Rounded Rectangle 11"/>
          <p:cNvSpPr/>
          <p:nvPr/>
        </p:nvSpPr>
        <p:spPr>
          <a:xfrm>
            <a:off x="548640" y="4828032"/>
            <a:ext cx="11018520" cy="65836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828032"/>
            <a:ext cx="10515600" cy="658368"/>
          </a:xfrm>
          <a:prstGeom prst="rect">
            <a:avLst/>
          </a:prstGeom>
          <a:noFill/>
        </p:spPr>
        <p:txBody>
          <a:bodyPr wrap="square" anchor="ctr">
            <a:spAutoFit/>
          </a:bodyPr>
          <a:lstStyle/>
          <a:p>
            <a:pPr algn="l">
              <a:lnSpc>
                <a:spcPct val="100000"/>
              </a:lnSpc>
            </a:pPr>
            <a:r>
              <a:rPr sz="1350" b="1">
                <a:solidFill>
                  <a:srgbClr val="A6001A"/>
                </a:solidFill>
                <a:latin typeface="Calibri"/>
              </a:rPr>
              <a:t>31 Ağustos kesiminde kadrolu +14 kişilik artışın tamamı satış ve kasa bölümlerindedir; yönetim kadrosunda değişim yoktur.</a:t>
            </a:r>
          </a:p>
        </p:txBody>
      </p:sp>
      <p:sp>
        <p:nvSpPr>
          <p:cNvPr id="14" name="TextBox 1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a:t>
            </a:r>
          </a:p>
        </p:txBody>
      </p:sp>
      <p:sp>
        <p:nvSpPr>
          <p:cNvPr id="15" name="TextBox 1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Mağaza Performans Karşılaştırması</a:t>
            </a:r>
          </a:p>
        </p:txBody>
      </p:sp>
      <p:graphicFrame>
        <p:nvGraphicFramePr>
          <p:cNvPr id="3" name="Table 2"/>
          <p:cNvGraphicFramePr>
            <a:graphicFrameLocks noGrp="1"/>
          </p:cNvGraphicFramePr>
          <p:nvPr/>
        </p:nvGraphicFramePr>
        <p:xfrm>
          <a:off x="548640" y="1371600"/>
          <a:ext cx="11018520" cy="1737360"/>
        </p:xfrm>
        <a:graphic>
          <a:graphicData uri="http://schemas.openxmlformats.org/drawingml/2006/table">
            <a:tbl>
              <a:tblPr firstRow="1" bandRow="1">
                <a:tableStyleId>{5C22544A-7EE6-4342-B048-85BDC9FD1C3A}</a:tableStyleId>
              </a:tblPr>
              <a:tblGrid>
                <a:gridCol w="2011680"/>
                <a:gridCol w="1737360"/>
                <a:gridCol w="1371600"/>
                <a:gridCol w="1691640"/>
                <a:gridCol w="1371600"/>
                <a:gridCol w="1554480"/>
                <a:gridCol w="1280160"/>
              </a:tblGrid>
              <a:tr h="347472">
                <a:tc>
                  <a:txBody>
                    <a:bodyPr/>
                    <a:lstStyle/>
                    <a:p>
                      <a:pPr algn="l"/>
                      <a:r>
                        <a:rPr sz="1150" b="1">
                          <a:solidFill>
                            <a:srgbClr val="FFFFFF"/>
                          </a:solidFill>
                          <a:latin typeface="Calibri"/>
                        </a:rPr>
                        <a:t>Mağaza</a:t>
                      </a:r>
                    </a:p>
                  </a:txBody>
                  <a:tcPr>
                    <a:solidFill>
                      <a:srgbClr val="E30622"/>
                    </a:solidFill>
                  </a:tcPr>
                </a:tc>
                <a:tc>
                  <a:txBody>
                    <a:bodyPr/>
                    <a:lstStyle/>
                    <a:p>
                      <a:pPr algn="ctr"/>
                      <a:r>
                        <a:rPr sz="1150" b="1">
                          <a:solidFill>
                            <a:srgbClr val="FFFFFF"/>
                          </a:solidFill>
                          <a:latin typeface="Calibri"/>
                        </a:rPr>
                        <a:t>Kadro 31.08</a:t>
                      </a:r>
                    </a:p>
                  </a:txBody>
                  <a:tcPr>
                    <a:solidFill>
                      <a:srgbClr val="E30622"/>
                    </a:solidFill>
                  </a:tcPr>
                </a:tc>
                <a:tc>
                  <a:txBody>
                    <a:bodyPr/>
                    <a:lstStyle/>
                    <a:p>
                      <a:pPr algn="ctr"/>
                      <a:r>
                        <a:rPr sz="1150" b="1">
                          <a:solidFill>
                            <a:srgbClr val="FFFFFF"/>
                          </a:solidFill>
                          <a:latin typeface="Calibri"/>
                        </a:rPr>
                        <a:t>Kadro Δ</a:t>
                      </a:r>
                    </a:p>
                  </a:txBody>
                  <a:tcPr>
                    <a:solidFill>
                      <a:srgbClr val="E30622"/>
                    </a:solidFill>
                  </a:tcPr>
                </a:tc>
                <a:tc>
                  <a:txBody>
                    <a:bodyPr/>
                    <a:lstStyle/>
                    <a:p>
                      <a:pPr algn="ctr"/>
                      <a:r>
                        <a:rPr sz="1150" b="1">
                          <a:solidFill>
                            <a:srgbClr val="FFFFFF"/>
                          </a:solidFill>
                          <a:latin typeface="Calibri"/>
                        </a:rPr>
                        <a:t>Ürün adedi Δ</a:t>
                      </a:r>
                    </a:p>
                  </a:txBody>
                  <a:tcPr>
                    <a:solidFill>
                      <a:srgbClr val="E30622"/>
                    </a:solidFill>
                  </a:tcPr>
                </a:tc>
                <a:tc>
                  <a:txBody>
                    <a:bodyPr/>
                    <a:lstStyle/>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Adet/kişi Δ</a:t>
                      </a:r>
                    </a:p>
                  </a:txBody>
                  <a:tcPr>
                    <a:solidFill>
                      <a:srgbClr val="E30622"/>
                    </a:solidFill>
                  </a:tcPr>
                </a:tc>
                <a:tc>
                  <a:txBody>
                    <a:bodyPr/>
                    <a:lstStyle/>
                    <a:p>
                      <a:pPr algn="ctr"/>
                      <a:r>
                        <a:rPr sz="1150" b="1">
                          <a:solidFill>
                            <a:srgbClr val="FFFFFF"/>
                          </a:solidFill>
                          <a:latin typeface="Calibri"/>
                        </a:rPr>
                        <a:t>İş ÷ kadro</a:t>
                      </a:r>
                    </a:p>
                  </a:txBody>
                  <a:tcPr>
                    <a:solidFill>
                      <a:srgbClr val="E30622"/>
                    </a:solidFill>
                  </a:tcPr>
                </a:tc>
              </a:tr>
              <a:tr h="347472">
                <a:tc>
                  <a:txBody>
                    <a:bodyPr/>
                    <a:lstStyle/>
                    <a:p>
                      <a:pPr algn="l"/>
                      <a:r>
                        <a:rPr sz="1150" b="0">
                          <a:solidFill>
                            <a:srgbClr val="333333"/>
                          </a:solidFill>
                          <a:latin typeface="Calibri"/>
                        </a:rPr>
                        <a:t>Özlüce</a:t>
                      </a:r>
                    </a:p>
                  </a:txBody>
                  <a:tcPr>
                    <a:solidFill>
                      <a:srgbClr val="FFFFFF"/>
                    </a:solidFill>
                  </a:tcPr>
                </a:tc>
                <a:tc>
                  <a:txBody>
                    <a:bodyPr/>
                    <a:lstStyle/>
                    <a:p>
                      <a:pPr algn="ctr"/>
                      <a:r>
                        <a:rPr sz="1150" b="0">
                          <a:solidFill>
                            <a:srgbClr val="333333"/>
                          </a:solidFill>
                          <a:latin typeface="Calibri"/>
                        </a:rPr>
                        <a:t>51 → 54</a:t>
                      </a:r>
                    </a:p>
                  </a:txBody>
                  <a:tcPr>
                    <a:solidFill>
                      <a:srgbClr val="FFFFFF"/>
                    </a:solidFill>
                  </a:tcPr>
                </a:tc>
                <a:tc>
                  <a:txBody>
                    <a:bodyPr/>
                    <a:lstStyle/>
                    <a:p>
                      <a:pPr algn="ctr"/>
                      <a:r>
                        <a:rPr sz="1150" b="0">
                          <a:solidFill>
                            <a:srgbClr val="333333"/>
                          </a:solidFill>
                          <a:latin typeface="Calibri"/>
                        </a:rPr>
                        <a:t>+%5,9</a:t>
                      </a:r>
                    </a:p>
                  </a:txBody>
                  <a:tcPr>
                    <a:solidFill>
                      <a:srgbClr val="FFFFFF"/>
                    </a:solidFill>
                  </a:tcPr>
                </a:tc>
                <a:tc>
                  <a:txBody>
                    <a:bodyPr/>
                    <a:lstStyle/>
                    <a:p>
                      <a:pPr algn="ctr"/>
                      <a:r>
                        <a:rPr sz="1150" b="0">
                          <a:solidFill>
                            <a:srgbClr val="A6001A"/>
                          </a:solidFill>
                          <a:latin typeface="Calibri"/>
                        </a:rPr>
                        <a:t>+%30,5</a:t>
                      </a:r>
                    </a:p>
                  </a:txBody>
                  <a:tcPr>
                    <a:solidFill>
                      <a:srgbClr val="FFFFFF"/>
                    </a:solidFill>
                  </a:tcPr>
                </a:tc>
                <a:tc>
                  <a:txBody>
                    <a:bodyPr/>
                    <a:lstStyle/>
                    <a:p>
                      <a:pPr algn="ctr"/>
                      <a:r>
                        <a:rPr sz="1150" b="0">
                          <a:solidFill>
                            <a:srgbClr val="A6001A"/>
                          </a:solidFill>
                          <a:latin typeface="Calibri"/>
                        </a:rPr>
                        <a:t>+%57,6</a:t>
                      </a:r>
                    </a:p>
                  </a:txBody>
                  <a:tcPr>
                    <a:solidFill>
                      <a:srgbClr val="FFFFFF"/>
                    </a:solidFill>
                  </a:tcPr>
                </a:tc>
                <a:tc>
                  <a:txBody>
                    <a:bodyPr/>
                    <a:lstStyle/>
                    <a:p>
                      <a:pPr algn="ctr"/>
                      <a:r>
                        <a:rPr sz="1150" b="0">
                          <a:solidFill>
                            <a:srgbClr val="A6001A"/>
                          </a:solidFill>
                          <a:latin typeface="Calibri"/>
                        </a:rPr>
                        <a:t>+%23,3</a:t>
                      </a:r>
                    </a:p>
                  </a:txBody>
                  <a:tcPr>
                    <a:solidFill>
                      <a:srgbClr val="FFFFFF"/>
                    </a:solidFill>
                  </a:tcPr>
                </a:tc>
                <a:tc>
                  <a:txBody>
                    <a:bodyPr/>
                    <a:lstStyle/>
                    <a:p>
                      <a:pPr algn="ctr"/>
                      <a:r>
                        <a:rPr sz="1150" b="1">
                          <a:solidFill>
                            <a:srgbClr val="333333"/>
                          </a:solidFill>
                          <a:latin typeface="Calibri"/>
                        </a:rPr>
                        <a:t>5,2x</a:t>
                      </a:r>
                    </a:p>
                  </a:txBody>
                  <a:tcPr>
                    <a:solidFill>
                      <a:srgbClr val="FFFFFF"/>
                    </a:solidFill>
                  </a:tcPr>
                </a:tc>
              </a:tr>
              <a:tr h="347472">
                <a:tc>
                  <a:txBody>
                    <a:bodyPr/>
                    <a:lstStyle/>
                    <a:p>
                      <a:pPr algn="l"/>
                      <a:r>
                        <a:rPr sz="1150" b="0">
                          <a:solidFill>
                            <a:srgbClr val="333333"/>
                          </a:solidFill>
                          <a:latin typeface="Calibri"/>
                        </a:rPr>
                        <a:t>İst. Yolu</a:t>
                      </a:r>
                    </a:p>
                  </a:txBody>
                  <a:tcPr>
                    <a:solidFill>
                      <a:srgbClr val="FFFFFF"/>
                    </a:solidFill>
                  </a:tcPr>
                </a:tc>
                <a:tc>
                  <a:txBody>
                    <a:bodyPr/>
                    <a:lstStyle/>
                    <a:p>
                      <a:pPr algn="ctr"/>
                      <a:r>
                        <a:rPr sz="1150" b="0">
                          <a:solidFill>
                            <a:srgbClr val="333333"/>
                          </a:solidFill>
                          <a:latin typeface="Calibri"/>
                        </a:rPr>
                        <a:t>50 → 61</a:t>
                      </a:r>
                    </a:p>
                  </a:txBody>
                  <a:tcPr>
                    <a:solidFill>
                      <a:srgbClr val="FFFFFF"/>
                    </a:solidFill>
                  </a:tcPr>
                </a:tc>
                <a:tc>
                  <a:txBody>
                    <a:bodyPr/>
                    <a:lstStyle/>
                    <a:p>
                      <a:pPr algn="ctr"/>
                      <a:r>
                        <a:rPr sz="1150" b="0">
                          <a:solidFill>
                            <a:srgbClr val="333333"/>
                          </a:solidFill>
                          <a:latin typeface="Calibri"/>
                        </a:rPr>
                        <a:t>+%22,0</a:t>
                      </a:r>
                    </a:p>
                  </a:txBody>
                  <a:tcPr>
                    <a:solidFill>
                      <a:srgbClr val="FFFFFF"/>
                    </a:solidFill>
                  </a:tcPr>
                </a:tc>
                <a:tc>
                  <a:txBody>
                    <a:bodyPr/>
                    <a:lstStyle/>
                    <a:p>
                      <a:pPr algn="ctr"/>
                      <a:r>
                        <a:rPr sz="1150" b="0">
                          <a:solidFill>
                            <a:srgbClr val="A6001A"/>
                          </a:solidFill>
                          <a:latin typeface="Calibri"/>
                        </a:rPr>
                        <a:t>+%48,8</a:t>
                      </a:r>
                    </a:p>
                  </a:txBody>
                  <a:tcPr>
                    <a:solidFill>
                      <a:srgbClr val="FFFFFF"/>
                    </a:solidFill>
                  </a:tcPr>
                </a:tc>
                <a:tc>
                  <a:txBody>
                    <a:bodyPr/>
                    <a:lstStyle/>
                    <a:p>
                      <a:pPr algn="ctr"/>
                      <a:r>
                        <a:rPr sz="1150" b="0">
                          <a:solidFill>
                            <a:srgbClr val="A6001A"/>
                          </a:solidFill>
                          <a:latin typeface="Calibri"/>
                        </a:rPr>
                        <a:t>+%96,0</a:t>
                      </a:r>
                    </a:p>
                  </a:txBody>
                  <a:tcPr>
                    <a:solidFill>
                      <a:srgbClr val="FFFFFF"/>
                    </a:solidFill>
                  </a:tcPr>
                </a:tc>
                <a:tc>
                  <a:txBody>
                    <a:bodyPr/>
                    <a:lstStyle/>
                    <a:p>
                      <a:pPr algn="ctr"/>
                      <a:r>
                        <a:rPr sz="1150" b="0">
                          <a:solidFill>
                            <a:srgbClr val="A6001A"/>
                          </a:solidFill>
                          <a:latin typeface="Calibri"/>
                        </a:rPr>
                        <a:t>+%22,0</a:t>
                      </a:r>
                    </a:p>
                  </a:txBody>
                  <a:tcPr>
                    <a:solidFill>
                      <a:srgbClr val="FFFFFF"/>
                    </a:solidFill>
                  </a:tcPr>
                </a:tc>
                <a:tc>
                  <a:txBody>
                    <a:bodyPr/>
                    <a:lstStyle/>
                    <a:p>
                      <a:pPr algn="ctr"/>
                      <a:r>
                        <a:rPr sz="1150" b="1">
                          <a:solidFill>
                            <a:srgbClr val="333333"/>
                          </a:solidFill>
                          <a:latin typeface="Calibri"/>
                        </a:rPr>
                        <a:t>2,2x</a:t>
                      </a:r>
                    </a:p>
                  </a:txBody>
                  <a:tcPr>
                    <a:solidFill>
                      <a:srgbClr val="FFFFFF"/>
                    </a:solidFill>
                  </a:tcPr>
                </a:tc>
              </a:tr>
              <a:tr h="347472">
                <a:tc>
                  <a:txBody>
                    <a:bodyPr/>
                    <a:lstStyle/>
                    <a:p>
                      <a:pPr algn="l"/>
                      <a:r>
                        <a:rPr sz="1150" b="0">
                          <a:solidFill>
                            <a:srgbClr val="333333"/>
                          </a:solidFill>
                          <a:latin typeface="Calibri"/>
                        </a:rPr>
                        <a:t>FSM</a:t>
                      </a:r>
                    </a:p>
                  </a:txBody>
                  <a:tcPr>
                    <a:solidFill>
                      <a:srgbClr val="FFFFFF"/>
                    </a:solidFill>
                  </a:tcPr>
                </a:tc>
                <a:tc>
                  <a:txBody>
                    <a:bodyPr/>
                    <a:lstStyle/>
                    <a:p>
                      <a:pPr algn="ctr"/>
                      <a:r>
                        <a:rPr sz="1150" b="0">
                          <a:solidFill>
                            <a:srgbClr val="333333"/>
                          </a:solidFill>
                          <a:latin typeface="Calibri"/>
                        </a:rPr>
                        <a:t>42 → 45</a:t>
                      </a:r>
                    </a:p>
                  </a:txBody>
                  <a:tcPr>
                    <a:solidFill>
                      <a:srgbClr val="FFFFFF"/>
                    </a:solidFill>
                  </a:tcPr>
                </a:tc>
                <a:tc>
                  <a:txBody>
                    <a:bodyPr/>
                    <a:lstStyle/>
                    <a:p>
                      <a:pPr algn="ctr"/>
                      <a:r>
                        <a:rPr sz="1150" b="0">
                          <a:solidFill>
                            <a:srgbClr val="333333"/>
                          </a:solidFill>
                          <a:latin typeface="Calibri"/>
                        </a:rPr>
                        <a:t>+%7,1</a:t>
                      </a:r>
                    </a:p>
                  </a:txBody>
                  <a:tcPr>
                    <a:solidFill>
                      <a:srgbClr val="FFFFFF"/>
                    </a:solidFill>
                  </a:tcPr>
                </a:tc>
                <a:tc>
                  <a:txBody>
                    <a:bodyPr/>
                    <a:lstStyle/>
                    <a:p>
                      <a:pPr algn="ctr"/>
                      <a:r>
                        <a:rPr sz="1150" b="0">
                          <a:solidFill>
                            <a:srgbClr val="A6001A"/>
                          </a:solidFill>
                          <a:latin typeface="Calibri"/>
                        </a:rPr>
                        <a:t>+%26,5</a:t>
                      </a:r>
                    </a:p>
                  </a:txBody>
                  <a:tcPr>
                    <a:solidFill>
                      <a:srgbClr val="FFFFFF"/>
                    </a:solidFill>
                  </a:tcPr>
                </a:tc>
                <a:tc>
                  <a:txBody>
                    <a:bodyPr/>
                    <a:lstStyle/>
                    <a:p>
                      <a:pPr algn="ctr"/>
                      <a:r>
                        <a:rPr sz="1150" b="0">
                          <a:solidFill>
                            <a:srgbClr val="A6001A"/>
                          </a:solidFill>
                          <a:latin typeface="Calibri"/>
                        </a:rPr>
                        <a:t>+%62,3</a:t>
                      </a:r>
                    </a:p>
                  </a:txBody>
                  <a:tcPr>
                    <a:solidFill>
                      <a:srgbClr val="FFFFFF"/>
                    </a:solidFill>
                  </a:tcPr>
                </a:tc>
                <a:tc>
                  <a:txBody>
                    <a:bodyPr/>
                    <a:lstStyle/>
                    <a:p>
                      <a:pPr algn="ctr"/>
                      <a:r>
                        <a:rPr sz="1150" b="0">
                          <a:solidFill>
                            <a:srgbClr val="A6001A"/>
                          </a:solidFill>
                          <a:latin typeface="Calibri"/>
                        </a:rPr>
                        <a:t>+%18,1</a:t>
                      </a:r>
                    </a:p>
                  </a:txBody>
                  <a:tcPr>
                    <a:solidFill>
                      <a:srgbClr val="FFFFFF"/>
                    </a:solidFill>
                  </a:tcPr>
                </a:tc>
                <a:tc>
                  <a:txBody>
                    <a:bodyPr/>
                    <a:lstStyle/>
                    <a:p>
                      <a:pPr algn="ctr"/>
                      <a:r>
                        <a:rPr sz="1150" b="1">
                          <a:solidFill>
                            <a:srgbClr val="333333"/>
                          </a:solidFill>
                          <a:latin typeface="Calibri"/>
                        </a:rPr>
                        <a:t>3,7x</a:t>
                      </a:r>
                    </a:p>
                  </a:txBody>
                  <a:tcPr>
                    <a:solidFill>
                      <a:srgbClr val="FFFFFF"/>
                    </a:solidFill>
                  </a:tcPr>
                </a:tc>
              </a:tr>
              <a:tr h="347472">
                <a:tc>
                  <a:txBody>
                    <a:bodyPr/>
                    <a:lstStyle/>
                    <a:p>
                      <a:pPr algn="l"/>
                      <a:r>
                        <a:rPr sz="1150" b="1">
                          <a:solidFill>
                            <a:srgbClr val="333333"/>
                          </a:solidFill>
                          <a:latin typeface="Calibri"/>
                        </a:rPr>
                        <a:t>TOPLAM</a:t>
                      </a:r>
                    </a:p>
                  </a:txBody>
                  <a:tcPr>
                    <a:solidFill>
                      <a:srgbClr val="F2F2F2"/>
                    </a:solidFill>
                  </a:tcPr>
                </a:tc>
                <a:tc>
                  <a:txBody>
                    <a:bodyPr/>
                    <a:lstStyle/>
                    <a:p>
                      <a:pPr algn="ctr"/>
                      <a:r>
                        <a:rPr sz="1150" b="1">
                          <a:solidFill>
                            <a:srgbClr val="333333"/>
                          </a:solidFill>
                          <a:latin typeface="Calibri"/>
                        </a:rPr>
                        <a:t>143 → 160</a:t>
                      </a:r>
                    </a:p>
                  </a:txBody>
                  <a:tcPr>
                    <a:solidFill>
                      <a:srgbClr val="F2F2F2"/>
                    </a:solidFill>
                  </a:tcPr>
                </a:tc>
                <a:tc>
                  <a:txBody>
                    <a:bodyPr/>
                    <a:lstStyle/>
                    <a:p>
                      <a:pPr algn="ctr"/>
                      <a:r>
                        <a:rPr sz="1150" b="1">
                          <a:solidFill>
                            <a:srgbClr val="333333"/>
                          </a:solidFill>
                          <a:latin typeface="Calibri"/>
                        </a:rPr>
                        <a:t>+%11,9</a:t>
                      </a:r>
                    </a:p>
                  </a:txBody>
                  <a:tcPr>
                    <a:solidFill>
                      <a:srgbClr val="F2F2F2"/>
                    </a:solidFill>
                  </a:tcPr>
                </a:tc>
                <a:tc>
                  <a:txBody>
                    <a:bodyPr/>
                    <a:lstStyle/>
                    <a:p>
                      <a:pPr algn="ctr"/>
                      <a:r>
                        <a:rPr sz="1150" b="1">
                          <a:solidFill>
                            <a:srgbClr val="A6001A"/>
                          </a:solidFill>
                          <a:latin typeface="Calibri"/>
                        </a:rPr>
                        <a:t>+%34,9</a:t>
                      </a:r>
                    </a:p>
                  </a:txBody>
                  <a:tcPr>
                    <a:solidFill>
                      <a:srgbClr val="F2F2F2"/>
                    </a:solidFill>
                  </a:tcPr>
                </a:tc>
                <a:tc>
                  <a:txBody>
                    <a:bodyPr/>
                    <a:lstStyle/>
                    <a:p>
                      <a:pPr algn="ctr"/>
                      <a:r>
                        <a:rPr sz="1150" b="1">
                          <a:solidFill>
                            <a:srgbClr val="A6001A"/>
                          </a:solidFill>
                          <a:latin typeface="Calibri"/>
                        </a:rPr>
                        <a:t>+%70,6</a:t>
                      </a:r>
                    </a:p>
                  </a:txBody>
                  <a:tcPr>
                    <a:solidFill>
                      <a:srgbClr val="F2F2F2"/>
                    </a:solidFill>
                  </a:tcPr>
                </a:tc>
                <a:tc>
                  <a:txBody>
                    <a:bodyPr/>
                    <a:lstStyle/>
                    <a:p>
                      <a:pPr algn="ctr"/>
                      <a:r>
                        <a:rPr sz="1150" b="1">
                          <a:solidFill>
                            <a:srgbClr val="A6001A"/>
                          </a:solidFill>
                          <a:latin typeface="Calibri"/>
                        </a:rPr>
                        <a:t>+%20,5</a:t>
                      </a:r>
                    </a:p>
                  </a:txBody>
                  <a:tcPr>
                    <a:solidFill>
                      <a:srgbClr val="F2F2F2"/>
                    </a:solidFill>
                  </a:tcPr>
                </a:tc>
                <a:tc>
                  <a:txBody>
                    <a:bodyPr/>
                    <a:lstStyle/>
                    <a:p>
                      <a:pPr algn="ctr"/>
                      <a:r>
                        <a:rPr sz="1150" b="1">
                          <a:solidFill>
                            <a:srgbClr val="333333"/>
                          </a:solidFill>
                          <a:latin typeface="Calibri"/>
                        </a:rPr>
                        <a:t>2,9x</a:t>
                      </a:r>
                    </a:p>
                  </a:txBody>
                  <a:tcPr>
                    <a:solidFill>
                      <a:srgbClr val="F2F2F2"/>
                    </a:solidFill>
                  </a:tcPr>
                </a:tc>
              </a:tr>
            </a:tbl>
          </a:graphicData>
        </a:graphic>
      </p:graphicFrame>
      <p:graphicFrame>
        <p:nvGraphicFramePr>
          <p:cNvPr id="4" name="Chart 3"/>
          <p:cNvGraphicFramePr>
            <a:graphicFrameLocks noGrp="1"/>
          </p:cNvGraphicFramePr>
          <p:nvPr/>
        </p:nvGraphicFramePr>
        <p:xfrm>
          <a:off x="548640" y="3291840"/>
          <a:ext cx="6766560" cy="2148840"/>
        </p:xfrm>
        <a:graphic>
          <a:graphicData uri="http://schemas.openxmlformats.org/drawingml/2006/chart">
            <c:chart xmlns:c="http://schemas.openxmlformats.org/drawingml/2006/chart" r:id="rId4"/>
          </a:graphicData>
        </a:graphic>
      </p:graphicFrame>
      <p:sp>
        <p:nvSpPr>
          <p:cNvPr id="5" name="Rounded Rectangle 4"/>
          <p:cNvSpPr/>
          <p:nvPr/>
        </p:nvSpPr>
        <p:spPr>
          <a:xfrm>
            <a:off x="7498079" y="3474720"/>
            <a:ext cx="4069080" cy="178308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79" y="3611880"/>
            <a:ext cx="3657600" cy="1554480"/>
          </a:xfrm>
          <a:prstGeom prst="rect">
            <a:avLst/>
          </a:prstGeom>
          <a:noFill/>
        </p:spPr>
        <p:txBody>
          <a:bodyPr wrap="square" anchor="t">
            <a:spAutoFit/>
          </a:bodyPr>
          <a:lstStyle/>
          <a:p>
            <a:pPr algn="l">
              <a:lnSpc>
                <a:spcPct val="115000"/>
              </a:lnSpc>
            </a:pPr>
            <a:r>
              <a:rPr sz="1350" b="1">
                <a:solidFill>
                  <a:srgbClr val="A6001A"/>
                </a:solidFill>
                <a:latin typeface="Calibri"/>
              </a:rPr>
              <a:t>Değerlendirme</a:t>
            </a:r>
          </a:p>
          <a:p>
            <a:pPr algn="l">
              <a:lnSpc>
                <a:spcPct val="115000"/>
              </a:lnSpc>
            </a:pPr>
            <a:r>
              <a:rPr sz="1150" b="0">
                <a:solidFill>
                  <a:srgbClr val="333333"/>
                </a:solidFill>
                <a:latin typeface="Calibri"/>
              </a:rPr>
              <a:t>Üç mağazanın tamamında iş hacmi artışı kadro artışının üzerindedir. Kadro artışı en yüksek olan İst. Yolu mağazasında dahi oran 2,2 katıdır.</a:t>
            </a:r>
          </a:p>
        </p:txBody>
      </p:sp>
      <p:sp>
        <p:nvSpPr>
          <p:cNvPr id="7" name="TextBox 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8" name="TextBox 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Kategori Büyümesi ve İlgili Bölüm Kadrosu</a:t>
            </a:r>
          </a:p>
        </p:txBody>
      </p:sp>
      <p:graphicFrame>
        <p:nvGraphicFramePr>
          <p:cNvPr id="3" name="Table 2"/>
          <p:cNvGraphicFramePr>
            <a:graphicFrameLocks noGrp="1"/>
          </p:cNvGraphicFramePr>
          <p:nvPr/>
        </p:nvGraphicFramePr>
        <p:xfrm>
          <a:off x="548640" y="1371600"/>
          <a:ext cx="11018520" cy="2617470"/>
        </p:xfrm>
        <a:graphic>
          <a:graphicData uri="http://schemas.openxmlformats.org/drawingml/2006/table">
            <a:tbl>
              <a:tblPr firstRow="1" bandRow="1">
                <a:tableStyleId>{5C22544A-7EE6-4342-B048-85BDC9FD1C3A}</a:tableStyleId>
              </a:tblPr>
              <a:tblGrid>
                <a:gridCol w="1965960"/>
                <a:gridCol w="1600200"/>
                <a:gridCol w="2148840"/>
                <a:gridCol w="1097280"/>
                <a:gridCol w="1051560"/>
                <a:gridCol w="1143000"/>
                <a:gridCol w="1051560"/>
                <a:gridCol w="960120"/>
              </a:tblGrid>
              <a:tr h="457200">
                <a:tc>
                  <a:txBody>
                    <a:bodyPr/>
                    <a:lstStyle/>
                    <a:p>
                      <a:pPr algn="l"/>
                      <a:r>
                        <a:rPr sz="1150" b="1">
                          <a:solidFill>
                            <a:srgbClr val="FFFFFF"/>
                          </a:solidFill>
                          <a:latin typeface="Calibri"/>
                        </a:rPr>
                        <a:t>Kategori</a:t>
                      </a:r>
                    </a:p>
                  </a:txBody>
                  <a:tcPr>
                    <a:solidFill>
                      <a:srgbClr val="E30622"/>
                    </a:solidFill>
                  </a:tcPr>
                </a:tc>
                <a:tc>
                  <a:txBody>
                    <a:bodyPr/>
                    <a:lstStyle/>
                    <a:p>
                      <a:pPr algn="l"/>
                      <a:r>
                        <a:rPr sz="1150" b="1">
                          <a:solidFill>
                            <a:srgbClr val="FFFFFF"/>
                          </a:solidFill>
                          <a:latin typeface="Calibri"/>
                        </a:rPr>
                        <a:t>Bakan bölüm</a:t>
                      </a:r>
                    </a:p>
                  </a:txBody>
                  <a:tcPr>
                    <a:solidFill>
                      <a:srgbClr val="E30622"/>
                    </a:solidFill>
                  </a:tcPr>
                </a:tc>
                <a:tc>
                  <a:txBody>
                    <a:bodyPr/>
                    <a:lstStyle/>
                    <a:p>
                      <a:pPr algn="ctr"/>
                      <a:r>
                        <a:rPr sz="1150" b="1">
                          <a:solidFill>
                            <a:srgbClr val="FFFFFF"/>
                          </a:solidFill>
                          <a:latin typeface="Calibri"/>
                        </a:rPr>
                        <a:t>Ürün adedi 2025 → 2026</a:t>
                      </a:r>
                    </a:p>
                  </a:txBody>
                  <a:tcPr>
                    <a:solidFill>
                      <a:srgbClr val="E30622"/>
                    </a:solidFill>
                  </a:tcPr>
                </a:tc>
                <a:tc>
                  <a:txBody>
                    <a:bodyPr/>
                    <a:lstStyle/>
                    <a:p>
                      <a:pPr algn="ctr"/>
                      <a:r>
                        <a:rPr sz="1150" b="1">
                          <a:solidFill>
                            <a:srgbClr val="FFFFFF"/>
                          </a:solidFill>
                          <a:latin typeface="Calibri"/>
                        </a:rPr>
                        <a:t>SEZON</a:t>
                      </a:r>
                    </a:p>
                    <a:p>
                      <a:pPr algn="ctr"/>
                      <a:r>
                        <a:rPr sz="1150" b="1">
                          <a:solidFill>
                            <a:srgbClr val="FFFFFF"/>
                          </a:solidFill>
                          <a:latin typeface="Calibri"/>
                        </a:rPr>
                        <a:t>adet Δ</a:t>
                      </a:r>
                    </a:p>
                  </a:txBody>
                  <a:tcPr>
                    <a:solidFill>
                      <a:srgbClr val="E30622"/>
                    </a:solidFill>
                  </a:tcPr>
                </a:tc>
                <a:tc>
                  <a:txBody>
                    <a:bodyPr/>
                    <a:lstStyle/>
                    <a:p>
                      <a:pPr algn="ctr"/>
                      <a:r>
                        <a:rPr sz="1150" b="1">
                          <a:solidFill>
                            <a:srgbClr val="FFFFFF"/>
                          </a:solidFill>
                          <a:latin typeface="Calibri"/>
                        </a:rPr>
                        <a:t>SEZON</a:t>
                      </a:r>
                    </a:p>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OCA-AĞU</a:t>
                      </a:r>
                    </a:p>
                    <a:p>
                      <a:pPr algn="ctr"/>
                      <a:r>
                        <a:rPr sz="1150" b="1">
                          <a:solidFill>
                            <a:srgbClr val="FFFFFF"/>
                          </a:solidFill>
                          <a:latin typeface="Calibri"/>
                        </a:rPr>
                        <a:t>adet Δ</a:t>
                      </a:r>
                    </a:p>
                  </a:txBody>
                  <a:tcPr>
                    <a:solidFill>
                      <a:srgbClr val="E30622"/>
                    </a:solidFill>
                  </a:tcPr>
                </a:tc>
                <a:tc>
                  <a:txBody>
                    <a:bodyPr/>
                    <a:lstStyle/>
                    <a:p>
                      <a:pPr algn="ctr"/>
                      <a:r>
                        <a:rPr sz="1150" b="1">
                          <a:solidFill>
                            <a:srgbClr val="FFFFFF"/>
                          </a:solidFill>
                          <a:latin typeface="Calibri"/>
                        </a:rPr>
                        <a:t>OCA-AĞU</a:t>
                      </a:r>
                    </a:p>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Bölüm</a:t>
                      </a:r>
                    </a:p>
                    <a:p>
                      <a:pPr algn="ctr"/>
                      <a:r>
                        <a:rPr sz="1150" b="1">
                          <a:solidFill>
                            <a:srgbClr val="FFFFFF"/>
                          </a:solidFill>
                          <a:latin typeface="Calibri"/>
                        </a:rPr>
                        <a:t>kadro Δ</a:t>
                      </a:r>
                    </a:p>
                  </a:txBody>
                  <a:tcPr>
                    <a:solidFill>
                      <a:srgbClr val="E30622"/>
                    </a:solidFill>
                  </a:tcPr>
                </a:tc>
              </a:tr>
              <a:tr h="308610">
                <a:tc>
                  <a:txBody>
                    <a:bodyPr/>
                    <a:lstStyle/>
                    <a:p>
                      <a:pPr algn="l"/>
                      <a:r>
                        <a:rPr sz="1150" b="0">
                          <a:solidFill>
                            <a:srgbClr val="333333"/>
                          </a:solidFill>
                          <a:latin typeface="Calibri"/>
                        </a:rPr>
                        <a:t>Hazırlık Kitapları</a:t>
                      </a:r>
                    </a:p>
                  </a:txBody>
                  <a:tcPr>
                    <a:solidFill>
                      <a:srgbClr val="FFFFFF"/>
                    </a:solidFill>
                  </a:tcPr>
                </a:tc>
                <a:tc>
                  <a:txBody>
                    <a:bodyPr/>
                    <a:lstStyle/>
                    <a:p>
                      <a:pPr algn="l"/>
                      <a:r>
                        <a:rPr sz="1150" b="0">
                          <a:solidFill>
                            <a:srgbClr val="333333"/>
                          </a:solidFill>
                          <a:latin typeface="Calibri"/>
                        </a:rPr>
                        <a:t>Yardımcı Kitap</a:t>
                      </a:r>
                    </a:p>
                  </a:txBody>
                  <a:tcPr>
                    <a:solidFill>
                      <a:srgbClr val="FFFFFF"/>
                    </a:solidFill>
                  </a:tcPr>
                </a:tc>
                <a:tc>
                  <a:txBody>
                    <a:bodyPr/>
                    <a:lstStyle/>
                    <a:p>
                      <a:pPr algn="ctr"/>
                      <a:r>
                        <a:rPr sz="1150" b="0">
                          <a:solidFill>
                            <a:srgbClr val="333333"/>
                          </a:solidFill>
                          <a:latin typeface="Calibri"/>
                        </a:rPr>
                        <a:t>38.785 → 53.872</a:t>
                      </a:r>
                    </a:p>
                  </a:txBody>
                  <a:tcPr>
                    <a:solidFill>
                      <a:srgbClr val="FFFFFF"/>
                    </a:solidFill>
                  </a:tcPr>
                </a:tc>
                <a:tc>
                  <a:txBody>
                    <a:bodyPr/>
                    <a:lstStyle/>
                    <a:p>
                      <a:pPr algn="ctr"/>
                      <a:r>
                        <a:rPr sz="1150" b="1">
                          <a:solidFill>
                            <a:srgbClr val="A6001A"/>
                          </a:solidFill>
                          <a:latin typeface="Calibri"/>
                        </a:rPr>
                        <a:t>+%38,9</a:t>
                      </a:r>
                    </a:p>
                  </a:txBody>
                  <a:tcPr>
                    <a:solidFill>
                      <a:srgbClr val="FFFFFF"/>
                    </a:solidFill>
                  </a:tcPr>
                </a:tc>
                <a:tc>
                  <a:txBody>
                    <a:bodyPr/>
                    <a:lstStyle/>
                    <a:p>
                      <a:pPr algn="ctr"/>
                      <a:r>
                        <a:rPr sz="1150" b="1">
                          <a:solidFill>
                            <a:srgbClr val="A6001A"/>
                          </a:solidFill>
                          <a:latin typeface="Calibri"/>
                        </a:rPr>
                        <a:t>+%91,4</a:t>
                      </a:r>
                    </a:p>
                  </a:txBody>
                  <a:tcPr>
                    <a:solidFill>
                      <a:srgbClr val="FFFFFF"/>
                    </a:solidFill>
                  </a:tcPr>
                </a:tc>
                <a:tc>
                  <a:txBody>
                    <a:bodyPr/>
                    <a:lstStyle/>
                    <a:p>
                      <a:pPr algn="ctr"/>
                      <a:r>
                        <a:rPr sz="1150" b="1">
                          <a:solidFill>
                            <a:srgbClr val="333333"/>
                          </a:solidFill>
                          <a:latin typeface="Calibri"/>
                        </a:rPr>
                        <a:t>+%21,8</a:t>
                      </a:r>
                    </a:p>
                  </a:txBody>
                  <a:tcPr>
                    <a:solidFill>
                      <a:srgbClr val="FFFFFF"/>
                    </a:solidFill>
                  </a:tcPr>
                </a:tc>
                <a:tc>
                  <a:txBody>
                    <a:bodyPr/>
                    <a:lstStyle/>
                    <a:p>
                      <a:pPr algn="ctr"/>
                      <a:r>
                        <a:rPr sz="1150" b="0">
                          <a:solidFill>
                            <a:srgbClr val="333333"/>
                          </a:solidFill>
                          <a:latin typeface="Calibri"/>
                        </a:rPr>
                        <a:t>+%46,3</a:t>
                      </a:r>
                    </a:p>
                  </a:txBody>
                  <a:tcPr>
                    <a:solidFill>
                      <a:srgbClr val="FFFFFF"/>
                    </a:solidFill>
                  </a:tcPr>
                </a:tc>
                <a:tc>
                  <a:txBody>
                    <a:bodyPr/>
                    <a:lstStyle/>
                    <a:p>
                      <a:pPr algn="ctr"/>
                      <a:r>
                        <a:rPr sz="1150" b="0">
                          <a:solidFill>
                            <a:srgbClr val="333333"/>
                          </a:solidFill>
                          <a:latin typeface="Calibri"/>
                        </a:rPr>
                        <a:t>+6 kişi</a:t>
                      </a:r>
                    </a:p>
                  </a:txBody>
                  <a:tcPr>
                    <a:solidFill>
                      <a:srgbClr val="FFFFFF"/>
                    </a:solidFill>
                  </a:tcPr>
                </a:tc>
              </a:tr>
              <a:tr h="308610">
                <a:tc>
                  <a:txBody>
                    <a:bodyPr/>
                    <a:lstStyle/>
                    <a:p>
                      <a:pPr algn="l"/>
                      <a:r>
                        <a:rPr sz="1150" b="0">
                          <a:solidFill>
                            <a:srgbClr val="333333"/>
                          </a:solidFill>
                          <a:latin typeface="Calibri"/>
                        </a:rPr>
                        <a:t>Kırtasiye</a:t>
                      </a:r>
                    </a:p>
                  </a:txBody>
                  <a:tcPr>
                    <a:solidFill>
                      <a:srgbClr val="F2F2F2"/>
                    </a:solidFill>
                  </a:tcPr>
                </a:tc>
                <a:tc>
                  <a:txBody>
                    <a:bodyPr/>
                    <a:lstStyle/>
                    <a:p>
                      <a:pPr algn="l"/>
                      <a:r>
                        <a:rPr sz="1150" b="0">
                          <a:solidFill>
                            <a:srgbClr val="333333"/>
                          </a:solidFill>
                          <a:latin typeface="Calibri"/>
                        </a:rPr>
                        <a:t>Kırtasiye</a:t>
                      </a:r>
                    </a:p>
                  </a:txBody>
                  <a:tcPr>
                    <a:solidFill>
                      <a:srgbClr val="F2F2F2"/>
                    </a:solidFill>
                  </a:tcPr>
                </a:tc>
                <a:tc>
                  <a:txBody>
                    <a:bodyPr/>
                    <a:lstStyle/>
                    <a:p>
                      <a:pPr algn="ctr"/>
                      <a:r>
                        <a:rPr sz="1150" b="0">
                          <a:solidFill>
                            <a:srgbClr val="333333"/>
                          </a:solidFill>
                          <a:latin typeface="Calibri"/>
                        </a:rPr>
                        <a:t>222.233 → 296.797</a:t>
                      </a:r>
                    </a:p>
                  </a:txBody>
                  <a:tcPr>
                    <a:solidFill>
                      <a:srgbClr val="F2F2F2"/>
                    </a:solidFill>
                  </a:tcPr>
                </a:tc>
                <a:tc>
                  <a:txBody>
                    <a:bodyPr/>
                    <a:lstStyle/>
                    <a:p>
                      <a:pPr algn="ctr"/>
                      <a:r>
                        <a:rPr sz="1150" b="1">
                          <a:solidFill>
                            <a:srgbClr val="A6001A"/>
                          </a:solidFill>
                          <a:latin typeface="Calibri"/>
                        </a:rPr>
                        <a:t>+%33,6</a:t>
                      </a:r>
                    </a:p>
                  </a:txBody>
                  <a:tcPr>
                    <a:solidFill>
                      <a:srgbClr val="F2F2F2"/>
                    </a:solidFill>
                  </a:tcPr>
                </a:tc>
                <a:tc>
                  <a:txBody>
                    <a:bodyPr/>
                    <a:lstStyle/>
                    <a:p>
                      <a:pPr algn="ctr"/>
                      <a:r>
                        <a:rPr sz="1150" b="1">
                          <a:solidFill>
                            <a:srgbClr val="A6001A"/>
                          </a:solidFill>
                          <a:latin typeface="Calibri"/>
                        </a:rPr>
                        <a:t>+%75,0</a:t>
                      </a:r>
                    </a:p>
                  </a:txBody>
                  <a:tcPr>
                    <a:solidFill>
                      <a:srgbClr val="F2F2F2"/>
                    </a:solidFill>
                  </a:tcPr>
                </a:tc>
                <a:tc>
                  <a:txBody>
                    <a:bodyPr/>
                    <a:lstStyle/>
                    <a:p>
                      <a:pPr algn="ctr"/>
                      <a:r>
                        <a:rPr sz="1150" b="1">
                          <a:solidFill>
                            <a:srgbClr val="333333"/>
                          </a:solidFill>
                          <a:latin typeface="Calibri"/>
                        </a:rPr>
                        <a:t>+%22,8</a:t>
                      </a:r>
                    </a:p>
                  </a:txBody>
                  <a:tcPr>
                    <a:solidFill>
                      <a:srgbClr val="F2F2F2"/>
                    </a:solidFill>
                  </a:tcPr>
                </a:tc>
                <a:tc>
                  <a:txBody>
                    <a:bodyPr/>
                    <a:lstStyle/>
                    <a:p>
                      <a:pPr algn="ctr"/>
                      <a:r>
                        <a:rPr sz="1150" b="0">
                          <a:solidFill>
                            <a:srgbClr val="333333"/>
                          </a:solidFill>
                          <a:latin typeface="Calibri"/>
                        </a:rPr>
                        <a:t>+%37,5</a:t>
                      </a:r>
                    </a:p>
                  </a:txBody>
                  <a:tcPr>
                    <a:solidFill>
                      <a:srgbClr val="F2F2F2"/>
                    </a:solidFill>
                  </a:tcPr>
                </a:tc>
                <a:tc>
                  <a:txBody>
                    <a:bodyPr/>
                    <a:lstStyle/>
                    <a:p>
                      <a:pPr algn="ctr"/>
                      <a:r>
                        <a:rPr sz="1150" b="0">
                          <a:solidFill>
                            <a:srgbClr val="333333"/>
                          </a:solidFill>
                          <a:latin typeface="Calibri"/>
                        </a:rPr>
                        <a:t>+3 kişi</a:t>
                      </a:r>
                    </a:p>
                  </a:txBody>
                  <a:tcPr>
                    <a:solidFill>
                      <a:srgbClr val="F2F2F2"/>
                    </a:solidFill>
                  </a:tcPr>
                </a:tc>
              </a:tr>
              <a:tr h="308610">
                <a:tc>
                  <a:txBody>
                    <a:bodyPr/>
                    <a:lstStyle/>
                    <a:p>
                      <a:pPr algn="l"/>
                      <a:r>
                        <a:rPr sz="1150" b="0">
                          <a:solidFill>
                            <a:srgbClr val="333333"/>
                          </a:solidFill>
                          <a:latin typeface="Calibri"/>
                        </a:rPr>
                        <a:t>Akademi</a:t>
                      </a:r>
                    </a:p>
                  </a:txBody>
                  <a:tcPr>
                    <a:solidFill>
                      <a:srgbClr val="FFFFFF"/>
                    </a:solidFill>
                  </a:tcPr>
                </a:tc>
                <a:tc>
                  <a:txBody>
                    <a:bodyPr/>
                    <a:lstStyle/>
                    <a:p>
                      <a:pPr algn="l"/>
                      <a:r>
                        <a:rPr sz="1150" b="0">
                          <a:solidFill>
                            <a:srgbClr val="333333"/>
                          </a:solidFill>
                          <a:latin typeface="Calibri"/>
                        </a:rPr>
                        <a:t>Akademi</a:t>
                      </a:r>
                    </a:p>
                  </a:txBody>
                  <a:tcPr>
                    <a:solidFill>
                      <a:srgbClr val="FFFFFF"/>
                    </a:solidFill>
                  </a:tcPr>
                </a:tc>
                <a:tc>
                  <a:txBody>
                    <a:bodyPr/>
                    <a:lstStyle/>
                    <a:p>
                      <a:pPr algn="ctr"/>
                      <a:r>
                        <a:rPr sz="1150" b="0">
                          <a:solidFill>
                            <a:srgbClr val="333333"/>
                          </a:solidFill>
                          <a:latin typeface="Calibri"/>
                        </a:rPr>
                        <a:t>7.328 → 24.841</a:t>
                      </a:r>
                    </a:p>
                  </a:txBody>
                  <a:tcPr>
                    <a:solidFill>
                      <a:srgbClr val="FFFFFF"/>
                    </a:solidFill>
                  </a:tcPr>
                </a:tc>
                <a:tc>
                  <a:txBody>
                    <a:bodyPr/>
                    <a:lstStyle/>
                    <a:p>
                      <a:pPr algn="ctr"/>
                      <a:r>
                        <a:rPr sz="1150" b="1">
                          <a:solidFill>
                            <a:srgbClr val="A6001A"/>
                          </a:solidFill>
                          <a:latin typeface="Calibri"/>
                        </a:rPr>
                        <a:t>+%239,0</a:t>
                      </a:r>
                    </a:p>
                  </a:txBody>
                  <a:tcPr>
                    <a:solidFill>
                      <a:srgbClr val="FFFFFF"/>
                    </a:solidFill>
                  </a:tcPr>
                </a:tc>
                <a:tc>
                  <a:txBody>
                    <a:bodyPr/>
                    <a:lstStyle/>
                    <a:p>
                      <a:pPr algn="ctr"/>
                      <a:r>
                        <a:rPr sz="1150" b="1">
                          <a:solidFill>
                            <a:srgbClr val="A6001A"/>
                          </a:solidFill>
                          <a:latin typeface="Calibri"/>
                        </a:rPr>
                        <a:t>+%242,1</a:t>
                      </a:r>
                    </a:p>
                  </a:txBody>
                  <a:tcPr>
                    <a:solidFill>
                      <a:srgbClr val="FFFFFF"/>
                    </a:solidFill>
                  </a:tcPr>
                </a:tc>
                <a:tc>
                  <a:txBody>
                    <a:bodyPr/>
                    <a:lstStyle/>
                    <a:p>
                      <a:pPr algn="ctr"/>
                      <a:r>
                        <a:rPr sz="1150" b="1">
                          <a:solidFill>
                            <a:srgbClr val="333333"/>
                          </a:solidFill>
                          <a:latin typeface="Calibri"/>
                        </a:rPr>
                        <a:t>+%152,9</a:t>
                      </a:r>
                    </a:p>
                  </a:txBody>
                  <a:tcPr>
                    <a:solidFill>
                      <a:srgbClr val="FFFFFF"/>
                    </a:solidFill>
                  </a:tcPr>
                </a:tc>
                <a:tc>
                  <a:txBody>
                    <a:bodyPr/>
                    <a:lstStyle/>
                    <a:p>
                      <a:pPr algn="ctr"/>
                      <a:r>
                        <a:rPr sz="1150" b="0">
                          <a:solidFill>
                            <a:srgbClr val="333333"/>
                          </a:solidFill>
                          <a:latin typeface="Calibri"/>
                        </a:rPr>
                        <a:t>+%176,9</a:t>
                      </a:r>
                    </a:p>
                  </a:txBody>
                  <a:tcPr>
                    <a:solidFill>
                      <a:srgbClr val="FFFFFF"/>
                    </a:solidFill>
                  </a:tcPr>
                </a:tc>
                <a:tc>
                  <a:txBody>
                    <a:bodyPr/>
                    <a:lstStyle/>
                    <a:p>
                      <a:pPr algn="ctr"/>
                      <a:r>
                        <a:rPr sz="1150" b="0">
                          <a:solidFill>
                            <a:srgbClr val="333333"/>
                          </a:solidFill>
                          <a:latin typeface="Calibri"/>
                        </a:rPr>
                        <a:t>+2 kişi</a:t>
                      </a:r>
                    </a:p>
                  </a:txBody>
                  <a:tcPr>
                    <a:solidFill>
                      <a:srgbClr val="FFFFFF"/>
                    </a:solidFill>
                  </a:tcPr>
                </a:tc>
              </a:tr>
              <a:tr h="308610">
                <a:tc>
                  <a:txBody>
                    <a:bodyPr/>
                    <a:lstStyle/>
                    <a:p>
                      <a:pPr algn="l"/>
                      <a:r>
                        <a:rPr sz="1150" b="0">
                          <a:solidFill>
                            <a:srgbClr val="333333"/>
                          </a:solidFill>
                          <a:latin typeface="Calibri"/>
                        </a:rPr>
                        <a:t>Kitap</a:t>
                      </a:r>
                    </a:p>
                  </a:txBody>
                  <a:tcPr>
                    <a:solidFill>
                      <a:srgbClr val="F2F2F2"/>
                    </a:solidFill>
                  </a:tcPr>
                </a:tc>
                <a:tc>
                  <a:txBody>
                    <a:bodyPr/>
                    <a:lstStyle/>
                    <a:p>
                      <a:pPr algn="l"/>
                      <a:r>
                        <a:rPr sz="1150" b="0">
                          <a:solidFill>
                            <a:srgbClr val="333333"/>
                          </a:solidFill>
                          <a:latin typeface="Calibri"/>
                        </a:rPr>
                        <a:t>Kültür</a:t>
                      </a:r>
                    </a:p>
                  </a:txBody>
                  <a:tcPr>
                    <a:solidFill>
                      <a:srgbClr val="F2F2F2"/>
                    </a:solidFill>
                  </a:tcPr>
                </a:tc>
                <a:tc>
                  <a:txBody>
                    <a:bodyPr/>
                    <a:lstStyle/>
                    <a:p>
                      <a:pPr algn="ctr"/>
                      <a:r>
                        <a:rPr sz="1150" b="0">
                          <a:solidFill>
                            <a:srgbClr val="333333"/>
                          </a:solidFill>
                          <a:latin typeface="Calibri"/>
                        </a:rPr>
                        <a:t>66.399 → 83.655</a:t>
                      </a:r>
                    </a:p>
                  </a:txBody>
                  <a:tcPr>
                    <a:solidFill>
                      <a:srgbClr val="F2F2F2"/>
                    </a:solidFill>
                  </a:tcPr>
                </a:tc>
                <a:tc>
                  <a:txBody>
                    <a:bodyPr/>
                    <a:lstStyle/>
                    <a:p>
                      <a:pPr algn="ctr"/>
                      <a:r>
                        <a:rPr sz="1150" b="1">
                          <a:solidFill>
                            <a:srgbClr val="A6001A"/>
                          </a:solidFill>
                          <a:latin typeface="Calibri"/>
                        </a:rPr>
                        <a:t>+%26,0</a:t>
                      </a:r>
                    </a:p>
                  </a:txBody>
                  <a:tcPr>
                    <a:solidFill>
                      <a:srgbClr val="F2F2F2"/>
                    </a:solidFill>
                  </a:tcPr>
                </a:tc>
                <a:tc>
                  <a:txBody>
                    <a:bodyPr/>
                    <a:lstStyle/>
                    <a:p>
                      <a:pPr algn="ctr"/>
                      <a:r>
                        <a:rPr sz="1150" b="1">
                          <a:solidFill>
                            <a:srgbClr val="A6001A"/>
                          </a:solidFill>
                          <a:latin typeface="Calibri"/>
                        </a:rPr>
                        <a:t>+%59,7</a:t>
                      </a:r>
                    </a:p>
                  </a:txBody>
                  <a:tcPr>
                    <a:solidFill>
                      <a:srgbClr val="F2F2F2"/>
                    </a:solidFill>
                  </a:tcPr>
                </a:tc>
                <a:tc>
                  <a:txBody>
                    <a:bodyPr/>
                    <a:lstStyle/>
                    <a:p>
                      <a:pPr algn="ctr"/>
                      <a:r>
                        <a:rPr sz="1150" b="1">
                          <a:solidFill>
                            <a:srgbClr val="333333"/>
                          </a:solidFill>
                          <a:latin typeface="Calibri"/>
                        </a:rPr>
                        <a:t>+%16,7</a:t>
                      </a:r>
                    </a:p>
                  </a:txBody>
                  <a:tcPr>
                    <a:solidFill>
                      <a:srgbClr val="F2F2F2"/>
                    </a:solidFill>
                  </a:tcPr>
                </a:tc>
                <a:tc>
                  <a:txBody>
                    <a:bodyPr/>
                    <a:lstStyle/>
                    <a:p>
                      <a:pPr algn="ctr"/>
                      <a:r>
                        <a:rPr sz="1150" b="0">
                          <a:solidFill>
                            <a:srgbClr val="333333"/>
                          </a:solidFill>
                          <a:latin typeface="Calibri"/>
                        </a:rPr>
                        <a:t>+%49,2</a:t>
                      </a:r>
                    </a:p>
                  </a:txBody>
                  <a:tcPr>
                    <a:solidFill>
                      <a:srgbClr val="F2F2F2"/>
                    </a:solidFill>
                  </a:tcPr>
                </a:tc>
                <a:tc>
                  <a:txBody>
                    <a:bodyPr/>
                    <a:lstStyle/>
                    <a:p>
                      <a:pPr algn="ctr"/>
                      <a:r>
                        <a:rPr sz="1150" b="0">
                          <a:solidFill>
                            <a:srgbClr val="333333"/>
                          </a:solidFill>
                          <a:latin typeface="Calibri"/>
                        </a:rPr>
                        <a:t>+1 kişi</a:t>
                      </a:r>
                    </a:p>
                  </a:txBody>
                  <a:tcPr>
                    <a:solidFill>
                      <a:srgbClr val="F2F2F2"/>
                    </a:solidFill>
                  </a:tcPr>
                </a:tc>
              </a:tr>
              <a:tr h="308610">
                <a:tc>
                  <a:txBody>
                    <a:bodyPr/>
                    <a:lstStyle/>
                    <a:p>
                      <a:pPr algn="l"/>
                      <a:r>
                        <a:rPr sz="1150" b="0">
                          <a:solidFill>
                            <a:srgbClr val="333333"/>
                          </a:solidFill>
                          <a:latin typeface="Calibri"/>
                        </a:rPr>
                        <a:t>Oyuncak</a:t>
                      </a:r>
                    </a:p>
                  </a:txBody>
                  <a:tcPr>
                    <a:solidFill>
                      <a:srgbClr val="FFFFFF"/>
                    </a:solidFill>
                  </a:tcPr>
                </a:tc>
                <a:tc>
                  <a:txBody>
                    <a:bodyPr/>
                    <a:lstStyle/>
                    <a:p>
                      <a:pPr algn="l"/>
                      <a:r>
                        <a:rPr sz="1150" b="0">
                          <a:solidFill>
                            <a:srgbClr val="333333"/>
                          </a:solidFill>
                          <a:latin typeface="Calibri"/>
                        </a:rPr>
                        <a:t>Oyuncak</a:t>
                      </a:r>
                    </a:p>
                  </a:txBody>
                  <a:tcPr>
                    <a:solidFill>
                      <a:srgbClr val="FFFFFF"/>
                    </a:solidFill>
                  </a:tcPr>
                </a:tc>
                <a:tc>
                  <a:txBody>
                    <a:bodyPr/>
                    <a:lstStyle/>
                    <a:p>
                      <a:pPr algn="ctr"/>
                      <a:r>
                        <a:rPr sz="1150" b="0">
                          <a:solidFill>
                            <a:srgbClr val="333333"/>
                          </a:solidFill>
                          <a:latin typeface="Calibri"/>
                        </a:rPr>
                        <a:t>37.135 → 58.662</a:t>
                      </a:r>
                    </a:p>
                  </a:txBody>
                  <a:tcPr>
                    <a:solidFill>
                      <a:srgbClr val="FFFFFF"/>
                    </a:solidFill>
                  </a:tcPr>
                </a:tc>
                <a:tc>
                  <a:txBody>
                    <a:bodyPr/>
                    <a:lstStyle/>
                    <a:p>
                      <a:pPr algn="ctr"/>
                      <a:r>
                        <a:rPr sz="1150" b="1">
                          <a:solidFill>
                            <a:srgbClr val="A6001A"/>
                          </a:solidFill>
                          <a:latin typeface="Calibri"/>
                        </a:rPr>
                        <a:t>+%58,0</a:t>
                      </a:r>
                    </a:p>
                  </a:txBody>
                  <a:tcPr>
                    <a:solidFill>
                      <a:srgbClr val="FFFFFF"/>
                    </a:solidFill>
                  </a:tcPr>
                </a:tc>
                <a:tc>
                  <a:txBody>
                    <a:bodyPr/>
                    <a:lstStyle/>
                    <a:p>
                      <a:pPr algn="ctr"/>
                      <a:r>
                        <a:rPr sz="1150" b="1">
                          <a:solidFill>
                            <a:srgbClr val="A6001A"/>
                          </a:solidFill>
                          <a:latin typeface="Calibri"/>
                        </a:rPr>
                        <a:t>+%50,4</a:t>
                      </a:r>
                    </a:p>
                  </a:txBody>
                  <a:tcPr>
                    <a:solidFill>
                      <a:srgbClr val="FFFFFF"/>
                    </a:solidFill>
                  </a:tcPr>
                </a:tc>
                <a:tc>
                  <a:txBody>
                    <a:bodyPr/>
                    <a:lstStyle/>
                    <a:p>
                      <a:pPr algn="ctr"/>
                      <a:r>
                        <a:rPr sz="1150" b="1">
                          <a:solidFill>
                            <a:srgbClr val="333333"/>
                          </a:solidFill>
                          <a:latin typeface="Calibri"/>
                        </a:rPr>
                        <a:t>+%45,3</a:t>
                      </a:r>
                    </a:p>
                  </a:txBody>
                  <a:tcPr>
                    <a:solidFill>
                      <a:srgbClr val="FFFFFF"/>
                    </a:solidFill>
                  </a:tcPr>
                </a:tc>
                <a:tc>
                  <a:txBody>
                    <a:bodyPr/>
                    <a:lstStyle/>
                    <a:p>
                      <a:pPr algn="ctr"/>
                      <a:r>
                        <a:rPr sz="1150" b="0">
                          <a:solidFill>
                            <a:srgbClr val="333333"/>
                          </a:solidFill>
                          <a:latin typeface="Calibri"/>
                        </a:rPr>
                        <a:t>+%66,6</a:t>
                      </a:r>
                    </a:p>
                  </a:txBody>
                  <a:tcPr>
                    <a:solidFill>
                      <a:srgbClr val="FFFFFF"/>
                    </a:solidFill>
                  </a:tcPr>
                </a:tc>
                <a:tc>
                  <a:txBody>
                    <a:bodyPr/>
                    <a:lstStyle/>
                    <a:p>
                      <a:pPr algn="ctr"/>
                      <a:r>
                        <a:rPr sz="1150" b="0">
                          <a:solidFill>
                            <a:srgbClr val="333333"/>
                          </a:solidFill>
                          <a:latin typeface="Calibri"/>
                        </a:rPr>
                        <a:t>+1 kişi</a:t>
                      </a:r>
                    </a:p>
                  </a:txBody>
                  <a:tcPr>
                    <a:solidFill>
                      <a:srgbClr val="FFFFFF"/>
                    </a:solidFill>
                  </a:tcPr>
                </a:tc>
              </a:tr>
              <a:tr h="308610">
                <a:tc>
                  <a:txBody>
                    <a:bodyPr/>
                    <a:lstStyle/>
                    <a:p>
                      <a:pPr algn="l"/>
                      <a:r>
                        <a:rPr sz="1150" b="0">
                          <a:solidFill>
                            <a:srgbClr val="333333"/>
                          </a:solidFill>
                          <a:latin typeface="Calibri"/>
                        </a:rPr>
                        <a:t>Çocuk Kitabı</a:t>
                      </a:r>
                    </a:p>
                  </a:txBody>
                  <a:tcPr>
                    <a:solidFill>
                      <a:srgbClr val="F2F2F2"/>
                    </a:solidFill>
                  </a:tcPr>
                </a:tc>
                <a:tc>
                  <a:txBody>
                    <a:bodyPr/>
                    <a:lstStyle/>
                    <a:p>
                      <a:pPr algn="l"/>
                      <a:r>
                        <a:rPr sz="1150" b="0">
                          <a:solidFill>
                            <a:srgbClr val="333333"/>
                          </a:solidFill>
                          <a:latin typeface="Calibri"/>
                        </a:rPr>
                        <a:t>Çocuk</a:t>
                      </a:r>
                    </a:p>
                  </a:txBody>
                  <a:tcPr>
                    <a:solidFill>
                      <a:srgbClr val="F2F2F2"/>
                    </a:solidFill>
                  </a:tcPr>
                </a:tc>
                <a:tc>
                  <a:txBody>
                    <a:bodyPr/>
                    <a:lstStyle/>
                    <a:p>
                      <a:pPr algn="ctr"/>
                      <a:r>
                        <a:rPr sz="1150" b="0">
                          <a:solidFill>
                            <a:srgbClr val="333333"/>
                          </a:solidFill>
                          <a:latin typeface="Calibri"/>
                        </a:rPr>
                        <a:t>73.247 → 85.696</a:t>
                      </a:r>
                    </a:p>
                  </a:txBody>
                  <a:tcPr>
                    <a:solidFill>
                      <a:srgbClr val="F2F2F2"/>
                    </a:solidFill>
                  </a:tcPr>
                </a:tc>
                <a:tc>
                  <a:txBody>
                    <a:bodyPr/>
                    <a:lstStyle/>
                    <a:p>
                      <a:pPr algn="ctr"/>
                      <a:r>
                        <a:rPr sz="1150" b="1">
                          <a:solidFill>
                            <a:srgbClr val="A6001A"/>
                          </a:solidFill>
                          <a:latin typeface="Calibri"/>
                        </a:rPr>
                        <a:t>+%17,0</a:t>
                      </a:r>
                    </a:p>
                  </a:txBody>
                  <a:tcPr>
                    <a:solidFill>
                      <a:srgbClr val="F2F2F2"/>
                    </a:solidFill>
                  </a:tcPr>
                </a:tc>
                <a:tc>
                  <a:txBody>
                    <a:bodyPr/>
                    <a:lstStyle/>
                    <a:p>
                      <a:pPr algn="ctr"/>
                      <a:r>
                        <a:rPr sz="1150" b="1">
                          <a:solidFill>
                            <a:srgbClr val="A6001A"/>
                          </a:solidFill>
                          <a:latin typeface="Calibri"/>
                        </a:rPr>
                        <a:t>+%54,7</a:t>
                      </a:r>
                    </a:p>
                  </a:txBody>
                  <a:tcPr>
                    <a:solidFill>
                      <a:srgbClr val="F2F2F2"/>
                    </a:solidFill>
                  </a:tcPr>
                </a:tc>
                <a:tc>
                  <a:txBody>
                    <a:bodyPr/>
                    <a:lstStyle/>
                    <a:p>
                      <a:pPr algn="ctr"/>
                      <a:r>
                        <a:rPr sz="1150" b="1">
                          <a:solidFill>
                            <a:srgbClr val="333333"/>
                          </a:solidFill>
                          <a:latin typeface="Calibri"/>
                        </a:rPr>
                        <a:t>+%22,9</a:t>
                      </a:r>
                    </a:p>
                  </a:txBody>
                  <a:tcPr>
                    <a:solidFill>
                      <a:srgbClr val="F2F2F2"/>
                    </a:solidFill>
                  </a:tcPr>
                </a:tc>
                <a:tc>
                  <a:txBody>
                    <a:bodyPr/>
                    <a:lstStyle/>
                    <a:p>
                      <a:pPr algn="ctr"/>
                      <a:r>
                        <a:rPr sz="1150" b="0">
                          <a:solidFill>
                            <a:srgbClr val="333333"/>
                          </a:solidFill>
                          <a:latin typeface="Calibri"/>
                        </a:rPr>
                        <a:t>+%57,7</a:t>
                      </a:r>
                    </a:p>
                  </a:txBody>
                  <a:tcPr>
                    <a:solidFill>
                      <a:srgbClr val="F2F2F2"/>
                    </a:solidFill>
                  </a:tcPr>
                </a:tc>
                <a:tc>
                  <a:txBody>
                    <a:bodyPr/>
                    <a:lstStyle/>
                    <a:p>
                      <a:pPr algn="ctr"/>
                      <a:r>
                        <a:rPr sz="1150" b="0">
                          <a:solidFill>
                            <a:srgbClr val="333333"/>
                          </a:solidFill>
                          <a:latin typeface="Calibri"/>
                        </a:rPr>
                        <a:t>-1 kişi</a:t>
                      </a:r>
                    </a:p>
                  </a:txBody>
                  <a:tcPr>
                    <a:solidFill>
                      <a:srgbClr val="F2F2F2"/>
                    </a:solidFill>
                  </a:tcPr>
                </a:tc>
              </a:tr>
              <a:tr h="308610">
                <a:tc>
                  <a:txBody>
                    <a:bodyPr/>
                    <a:lstStyle/>
                    <a:p>
                      <a:pPr algn="l"/>
                      <a:r>
                        <a:rPr sz="1150" b="0">
                          <a:solidFill>
                            <a:srgbClr val="333333"/>
                          </a:solidFill>
                          <a:latin typeface="Calibri"/>
                        </a:rPr>
                        <a:t>DİĞER (6 kategori)</a:t>
                      </a:r>
                    </a:p>
                  </a:txBody>
                  <a:tcPr>
                    <a:solidFill>
                      <a:srgbClr val="FFFFFF"/>
                    </a:solidFill>
                  </a:tcPr>
                </a:tc>
                <a:tc>
                  <a:txBody>
                    <a:bodyPr/>
                    <a:lstStyle/>
                    <a:p>
                      <a:pPr algn="l"/>
                      <a:r>
                        <a:rPr sz="1150" b="0">
                          <a:solidFill>
                            <a:srgbClr val="333333"/>
                          </a:solidFill>
                          <a:latin typeface="Calibri"/>
                        </a:rPr>
                        <a:t>bölüm eşleşmesi yok</a:t>
                      </a:r>
                    </a:p>
                  </a:txBody>
                  <a:tcPr>
                    <a:solidFill>
                      <a:srgbClr val="FFFFFF"/>
                    </a:solidFill>
                  </a:tcPr>
                </a:tc>
                <a:tc>
                  <a:txBody>
                    <a:bodyPr/>
                    <a:lstStyle/>
                    <a:p>
                      <a:pPr algn="ctr"/>
                      <a:r>
                        <a:rPr sz="1150" b="0">
                          <a:solidFill>
                            <a:srgbClr val="333333"/>
                          </a:solidFill>
                          <a:latin typeface="Calibri"/>
                        </a:rPr>
                        <a:t>129.221 → 170.477</a:t>
                      </a:r>
                    </a:p>
                  </a:txBody>
                  <a:tcPr>
                    <a:solidFill>
                      <a:srgbClr val="FFFFFF"/>
                    </a:solidFill>
                  </a:tcPr>
                </a:tc>
                <a:tc>
                  <a:txBody>
                    <a:bodyPr/>
                    <a:lstStyle/>
                    <a:p>
                      <a:pPr algn="ctr"/>
                      <a:r>
                        <a:rPr sz="1150" b="1">
                          <a:solidFill>
                            <a:srgbClr val="A6001A"/>
                          </a:solidFill>
                          <a:latin typeface="Calibri"/>
                        </a:rPr>
                        <a:t>+%31,9</a:t>
                      </a:r>
                    </a:p>
                  </a:txBody>
                  <a:tcPr>
                    <a:solidFill>
                      <a:srgbClr val="FFFFFF"/>
                    </a:solidFill>
                  </a:tcPr>
                </a:tc>
                <a:tc>
                  <a:txBody>
                    <a:bodyPr/>
                    <a:lstStyle/>
                    <a:p>
                      <a:pPr algn="ctr"/>
                      <a:r>
                        <a:rPr sz="1150" b="1">
                          <a:solidFill>
                            <a:srgbClr val="A6001A"/>
                          </a:solidFill>
                          <a:latin typeface="Calibri"/>
                        </a:rPr>
                        <a:t>+%41,8</a:t>
                      </a:r>
                    </a:p>
                  </a:txBody>
                  <a:tcPr>
                    <a:solidFill>
                      <a:srgbClr val="FFFFFF"/>
                    </a:solidFill>
                  </a:tcPr>
                </a:tc>
                <a:tc>
                  <a:txBody>
                    <a:bodyPr/>
                    <a:lstStyle/>
                    <a:p>
                      <a:pPr algn="ctr"/>
                      <a:r>
                        <a:rPr sz="1150" b="1">
                          <a:solidFill>
                            <a:srgbClr val="333333"/>
                          </a:solidFill>
                          <a:latin typeface="Calibri"/>
                        </a:rPr>
                        <a:t>+%50,5</a:t>
                      </a:r>
                    </a:p>
                  </a:txBody>
                  <a:tcPr>
                    <a:solidFill>
                      <a:srgbClr val="FFFFFF"/>
                    </a:solidFill>
                  </a:tcPr>
                </a:tc>
                <a:tc>
                  <a:txBody>
                    <a:bodyPr/>
                    <a:lstStyle/>
                    <a:p>
                      <a:pPr algn="ctr"/>
                      <a:r>
                        <a:rPr sz="1150" b="0">
                          <a:solidFill>
                            <a:srgbClr val="333333"/>
                          </a:solidFill>
                          <a:latin typeface="Calibri"/>
                        </a:rPr>
                        <a:t>+%79,8</a:t>
                      </a:r>
                    </a:p>
                  </a:txBody>
                  <a:tcPr>
                    <a:solidFill>
                      <a:srgbClr val="FFFFFF"/>
                    </a:solidFill>
                  </a:tcPr>
                </a:tc>
                <a:tc>
                  <a:txBody>
                    <a:bodyPr/>
                    <a:lstStyle/>
                    <a:p>
                      <a:pPr algn="ctr"/>
                      <a:r>
                        <a:rPr sz="1150" b="0">
                          <a:solidFill>
                            <a:srgbClr val="333333"/>
                          </a:solidFill>
                          <a:latin typeface="Calibri"/>
                        </a:rPr>
                        <a:t>—</a:t>
                      </a:r>
                    </a:p>
                  </a:txBody>
                  <a:tcPr>
                    <a:solidFill>
                      <a:srgbClr val="FFFFFF"/>
                    </a:solidFill>
                  </a:tcPr>
                </a:tc>
              </a:tr>
            </a:tbl>
          </a:graphicData>
        </a:graphic>
      </p:graphicFrame>
      <p:graphicFrame>
        <p:nvGraphicFramePr>
          <p:cNvPr id="4" name="Chart 3"/>
          <p:cNvGraphicFramePr>
            <a:graphicFrameLocks noGrp="1"/>
          </p:cNvGraphicFramePr>
          <p:nvPr/>
        </p:nvGraphicFramePr>
        <p:xfrm>
          <a:off x="548640" y="4224528"/>
          <a:ext cx="6766560" cy="1298448"/>
        </p:xfrm>
        <a:graphic>
          <a:graphicData uri="http://schemas.openxmlformats.org/drawingml/2006/chart">
            <c:chart xmlns:c="http://schemas.openxmlformats.org/drawingml/2006/chart" r:id="rId3"/>
          </a:graphicData>
        </a:graphic>
      </p:graphicFrame>
      <p:sp>
        <p:nvSpPr>
          <p:cNvPr id="5" name="TextBox 4"/>
          <p:cNvSpPr txBox="1"/>
          <p:nvPr/>
        </p:nvSpPr>
        <p:spPr>
          <a:xfrm>
            <a:off x="548640" y="3968496"/>
            <a:ext cx="6766560" cy="237744"/>
          </a:xfrm>
          <a:prstGeom prst="rect">
            <a:avLst/>
          </a:prstGeom>
          <a:noFill/>
        </p:spPr>
        <p:txBody>
          <a:bodyPr wrap="square" anchor="t">
            <a:spAutoFit/>
          </a:bodyPr>
          <a:lstStyle/>
          <a:p>
            <a:pPr algn="l">
              <a:lnSpc>
                <a:spcPct val="100000"/>
              </a:lnSpc>
            </a:pPr>
            <a:r>
              <a:rPr sz="1000" b="1">
                <a:solidFill>
                  <a:srgbClr val="6E6E6E"/>
                </a:solidFill>
                <a:latin typeface="Calibri"/>
              </a:rPr>
              <a:t>Ürün adedi büyümesi (%) — kategori bazında</a:t>
            </a:r>
          </a:p>
        </p:txBody>
      </p:sp>
      <p:sp>
        <p:nvSpPr>
          <p:cNvPr id="6" name="Rounded Rectangle 5"/>
          <p:cNvSpPr/>
          <p:nvPr/>
        </p:nvSpPr>
        <p:spPr>
          <a:xfrm>
            <a:off x="7498079" y="4041648"/>
            <a:ext cx="4069080" cy="148132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79" y="4114800"/>
            <a:ext cx="3657600" cy="1353312"/>
          </a:xfrm>
          <a:prstGeom prst="rect">
            <a:avLst/>
          </a:prstGeom>
          <a:noFill/>
        </p:spPr>
        <p:txBody>
          <a:bodyPr wrap="square" anchor="t">
            <a:spAutoFit/>
          </a:bodyPr>
          <a:lstStyle/>
          <a:p>
            <a:pPr algn="l">
              <a:lnSpc>
                <a:spcPct val="112000"/>
              </a:lnSpc>
            </a:pPr>
            <a:r>
              <a:rPr sz="1350" b="1">
                <a:solidFill>
                  <a:srgbClr val="A6001A"/>
                </a:solidFill>
                <a:latin typeface="Calibri"/>
              </a:rPr>
              <a:t>Değerlendirme</a:t>
            </a:r>
          </a:p>
          <a:p>
            <a:pPr algn="l">
              <a:lnSpc>
                <a:spcPct val="112000"/>
              </a:lnSpc>
            </a:pPr>
            <a:r>
              <a:rPr sz="1000" b="0">
                <a:solidFill>
                  <a:srgbClr val="333333"/>
                </a:solidFill>
                <a:latin typeface="Calibri"/>
              </a:rPr>
              <a:t>Kadro artışı, ürün adedi en hızlı artan kategorilere yönlendirilmiştir. SEZON kolonları okul-hizalı pencereyi, OCA-AĞU kolonları yılın tamamını (01.01–31.08) gösterir; sıralama iki pencerede de aynıdır. DİĞER satırı, tek bir reyona atfedilemeyen kategorilerin toplamıdır (kadro eşleşmesi yapılamaz); kapsam bütünlüğü için gösterilir.</a:t>
            </a:r>
          </a:p>
        </p:txBody>
      </p:sp>
      <p:sp>
        <p:nvSpPr>
          <p:cNvPr id="8" name="TextBox 7"/>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 · OCA-AĞU kolonları: 01.01 – 31.08 kümülatif (her iki yıl) · Bölüm eşleşmesi olan 6 kategori ayrı satırda = hizalı pencere adedinin %78'i; kalan 6 kategori DİĞER satırında toplandı (eşik: iki yılda da ≥2.000 adet)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Takvim Kayması: Ağustos ve Eylül</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AĞUSTOS · GERÇEK</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000" b="1">
                <a:solidFill>
                  <a:srgbClr val="9A9A9A"/>
                </a:solidFill>
                <a:latin typeface="Calibri"/>
              </a:rPr>
              <a:t>+%5,5</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458.259 → 483.500 adet</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AĞUSTOS · KAYMASIZ</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614.956</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adet tahmini · 101,7 M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orkflow.png"/>
          <p:cNvPicPr>
            <a:picLocks noChangeAspect="1"/>
          </p:cNvPicPr>
          <p:nvPr/>
        </p:nvPicPr>
        <p:blipFill>
          <a:blip r:embed="rId3"/>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EYLÜL'E KAYAN</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131.456</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adet · 23,6 M TL</a:t>
            </a:r>
          </a:p>
        </p:txBody>
      </p:sp>
      <p:graphicFrame>
        <p:nvGraphicFramePr>
          <p:cNvPr id="21" name="Chart 20"/>
          <p:cNvGraphicFramePr>
            <a:graphicFrameLocks noGrp="1"/>
          </p:cNvGraphicFramePr>
          <p:nvPr/>
        </p:nvGraphicFramePr>
        <p:xfrm>
          <a:off x="548640" y="3200400"/>
          <a:ext cx="5577840" cy="2148840"/>
        </p:xfrm>
        <a:graphic>
          <a:graphicData uri="http://schemas.openxmlformats.org/drawingml/2006/chart">
            <c:chart xmlns:c="http://schemas.openxmlformats.org/drawingml/2006/chart" r:id="rId5"/>
          </a:graphicData>
        </a:graphic>
      </p:graphicFrame>
      <p:sp>
        <p:nvSpPr>
          <p:cNvPr id="22" name="Rounded Rectangle 21"/>
          <p:cNvSpPr/>
          <p:nvPr/>
        </p:nvSpPr>
        <p:spPr>
          <a:xfrm>
            <a:off x="6400800" y="3291840"/>
            <a:ext cx="5166360" cy="19659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3401568"/>
            <a:ext cx="4754880" cy="1783080"/>
          </a:xfrm>
          <a:prstGeom prst="rect">
            <a:avLst/>
          </a:prstGeom>
          <a:noFill/>
        </p:spPr>
        <p:txBody>
          <a:bodyPr wrap="square" anchor="t">
            <a:spAutoFit/>
          </a:bodyPr>
          <a:lstStyle/>
          <a:p>
            <a:pPr algn="l">
              <a:lnSpc>
                <a:spcPct val="115000"/>
              </a:lnSpc>
            </a:pPr>
            <a:r>
              <a:rPr sz="1350" b="1">
                <a:solidFill>
                  <a:srgbClr val="A6001A"/>
                </a:solidFill>
                <a:latin typeface="Calibri"/>
              </a:rPr>
              <a:t>Eylül'de beklenen dalga</a:t>
            </a:r>
          </a:p>
          <a:p>
            <a:pPr algn="l">
              <a:lnSpc>
                <a:spcPct val="115000"/>
              </a:lnSpc>
            </a:pPr>
            <a:r>
              <a:rPr sz="1100" b="0">
                <a:solidFill>
                  <a:srgbClr val="333333"/>
                </a:solidFill>
                <a:latin typeface="Calibri"/>
              </a:rPr>
              <a:t>2025'te okul öncesi alış dalgası 28.08 - 07.09.2025 aralığındaydı: 412.212 adet · 54,1 M TL. Aynı dalga 2026'da 03.09 - 13.09.2026 aralığına denk geliyor; hizalı büyüme oranıyla 553.164 adet · 89,8 M TL beklenmektedir.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Hizalı pencere 01.08 – 27.08.2025 ile 07.08 – 02.09.2026 (27 gün; bugün hariç, son tam gün 02.09.2026) · Tahmin yöntemi: hizalı büyüme +%34,2, talep kaybı olmadığı varsayımıyla.</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Norm Kadro — Mağaza Detayı</a:t>
            </a:r>
          </a:p>
        </p:txBody>
      </p:sp>
      <p:sp>
        <p:nvSpPr>
          <p:cNvPr id="3" name="TextBox 2"/>
          <p:cNvSpPr txBox="1"/>
          <p:nvPr/>
        </p:nvSpPr>
        <p:spPr>
          <a:xfrm>
            <a:off x="548640" y="1371600"/>
            <a:ext cx="11018520" cy="310896"/>
          </a:xfrm>
          <a:prstGeom prst="rect">
            <a:avLst/>
          </a:prstGeom>
          <a:noFill/>
        </p:spPr>
        <p:txBody>
          <a:bodyPr wrap="square" anchor="t">
            <a:spAutoFit/>
          </a:bodyPr>
          <a:lstStyle/>
          <a:p>
            <a:pPr algn="l">
              <a:lnSpc>
                <a:spcPct val="100000"/>
              </a:lnSpc>
            </a:pPr>
            <a:r>
              <a:rPr sz="1150" b="1">
                <a:solidFill>
                  <a:srgbClr val="A6001A"/>
                </a:solidFill>
                <a:latin typeface="Calibri"/>
              </a:rPr>
              <a:t>Norm 217 (kadrolu 145 + sezonluk 72) · operasyonel gerçek 189 (kadrolu 131 + sezonluk 58) · fark -28 kişi — engelli ve etkinlik norm dışı tutuldu.</a:t>
            </a:r>
          </a:p>
        </p:txBody>
      </p:sp>
      <p:graphicFrame>
        <p:nvGraphicFramePr>
          <p:cNvPr id="4" name="Table 3"/>
          <p:cNvGraphicFramePr>
            <a:graphicFrameLocks noGrp="1"/>
          </p:cNvGraphicFramePr>
          <p:nvPr/>
        </p:nvGraphicFramePr>
        <p:xfrm>
          <a:off x="548640" y="1810512"/>
          <a:ext cx="10515599" cy="1810512"/>
        </p:xfrm>
        <a:graphic>
          <a:graphicData uri="http://schemas.openxmlformats.org/drawingml/2006/table">
            <a:tbl>
              <a:tblPr firstRow="1" bandRow="1">
                <a:tableStyleId>{5C22544A-7EE6-4342-B048-85BDC9FD1C3A}</a:tableStyleId>
              </a:tblPr>
              <a:tblGrid>
                <a:gridCol w="2148840"/>
                <a:gridCol w="932688"/>
                <a:gridCol w="987552"/>
                <a:gridCol w="749808"/>
                <a:gridCol w="960120"/>
                <a:gridCol w="1042415"/>
                <a:gridCol w="749808"/>
                <a:gridCol w="1051560"/>
                <a:gridCol w="1143000"/>
                <a:gridCol w="749808"/>
              </a:tblGrid>
              <a:tr h="347472">
                <a:tc>
                  <a:txBody>
                    <a:bodyPr/>
                    <a:lstStyle/>
                    <a:p>
                      <a:pPr algn="l"/>
                      <a:r>
                        <a:rPr sz="750" b="1">
                          <a:solidFill>
                            <a:srgbClr val="FFFFFF"/>
                          </a:solidFill>
                          <a:latin typeface="Calibri"/>
                        </a:rPr>
                        <a:t>Mağaza / Grup</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sezonluk</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sezonluk</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TOPLAM</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TOPLAM</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r>
              <a:tr h="182880">
                <a:tc>
                  <a:txBody>
                    <a:bodyPr/>
                    <a:lstStyle/>
                    <a:p>
                      <a:pPr algn="l"/>
                      <a:r>
                        <a:rPr sz="900" b="0">
                          <a:solidFill>
                            <a:srgbClr val="333333"/>
                          </a:solidFill>
                          <a:latin typeface="Calibri"/>
                        </a:rPr>
                        <a:t>Özlüce</a:t>
                      </a:r>
                    </a:p>
                  </a:txBody>
                  <a:tcPr>
                    <a:solidFill>
                      <a:srgbClr val="FFFFFF"/>
                    </a:solidFill>
                  </a:tcPr>
                </a:tc>
                <a:tc>
                  <a:txBody>
                    <a:bodyPr/>
                    <a:lstStyle/>
                    <a:p>
                      <a:pPr algn="ctr"/>
                      <a:r>
                        <a:rPr sz="900" b="0">
                          <a:solidFill>
                            <a:srgbClr val="333333"/>
                          </a:solidFill>
                          <a:latin typeface="Calibri"/>
                        </a:rPr>
                        <a:t>45</a:t>
                      </a:r>
                    </a:p>
                  </a:txBody>
                  <a:tcPr>
                    <a:solidFill>
                      <a:srgbClr val="FFFFFF"/>
                    </a:solidFill>
                  </a:tcPr>
                </a:tc>
                <a:tc>
                  <a:txBody>
                    <a:bodyPr/>
                    <a:lstStyle/>
                    <a:p>
                      <a:pPr algn="ctr"/>
                      <a:r>
                        <a:rPr sz="900" b="0">
                          <a:solidFill>
                            <a:srgbClr val="333333"/>
                          </a:solidFill>
                          <a:latin typeface="Calibri"/>
                        </a:rPr>
                        <a:t>40</a:t>
                      </a:r>
                    </a:p>
                  </a:txBody>
                  <a:tcPr>
                    <a:solidFill>
                      <a:srgbClr val="FFFFFF"/>
                    </a:solidFill>
                  </a:tcPr>
                </a:tc>
                <a:tc>
                  <a:txBody>
                    <a:bodyPr/>
                    <a:lstStyle/>
                    <a:p>
                      <a:pPr algn="ctr"/>
                      <a:r>
                        <a:rPr sz="900" b="1">
                          <a:solidFill>
                            <a:srgbClr val="A6001A"/>
                          </a:solidFill>
                          <a:latin typeface="Calibri"/>
                        </a:rPr>
                        <a:t>-5</a:t>
                      </a:r>
                    </a:p>
                  </a:txBody>
                  <a:tcPr>
                    <a:solidFill>
                      <a:srgbClr val="FFFFFF"/>
                    </a:solidFill>
                  </a:tcPr>
                </a:tc>
                <a:tc>
                  <a:txBody>
                    <a:bodyPr/>
                    <a:lstStyle/>
                    <a:p>
                      <a:pPr algn="ctr"/>
                      <a:r>
                        <a:rPr sz="900" b="0">
                          <a:solidFill>
                            <a:srgbClr val="333333"/>
                          </a:solidFill>
                          <a:latin typeface="Calibri"/>
                        </a:rPr>
                        <a:t>17</a:t>
                      </a:r>
                    </a:p>
                  </a:txBody>
                  <a:tcPr>
                    <a:solidFill>
                      <a:srgbClr val="FFFFFF"/>
                    </a:solidFill>
                  </a:tcPr>
                </a:tc>
                <a:tc>
                  <a:txBody>
                    <a:bodyPr/>
                    <a:lstStyle/>
                    <a:p>
                      <a:pPr algn="ctr"/>
                      <a:r>
                        <a:rPr sz="900" b="0">
                          <a:solidFill>
                            <a:srgbClr val="333333"/>
                          </a:solidFill>
                          <a:latin typeface="Calibri"/>
                        </a:rPr>
                        <a:t>13</a:t>
                      </a:r>
                    </a:p>
                  </a:txBody>
                  <a:tcPr>
                    <a:solidFill>
                      <a:srgbClr val="FFFFFF"/>
                    </a:solidFill>
                  </a:tcPr>
                </a:tc>
                <a:tc>
                  <a:txBody>
                    <a:bodyPr/>
                    <a:lstStyle/>
                    <a:p>
                      <a:pPr algn="ctr"/>
                      <a:r>
                        <a:rPr sz="900" b="1">
                          <a:solidFill>
                            <a:srgbClr val="A6001A"/>
                          </a:solidFill>
                          <a:latin typeface="Calibri"/>
                        </a:rPr>
                        <a:t>-4</a:t>
                      </a:r>
                    </a:p>
                  </a:txBody>
                  <a:tcPr>
                    <a:solidFill>
                      <a:srgbClr val="FFFFFF"/>
                    </a:solidFill>
                  </a:tcPr>
                </a:tc>
                <a:tc>
                  <a:txBody>
                    <a:bodyPr/>
                    <a:lstStyle/>
                    <a:p>
                      <a:pPr algn="ctr"/>
                      <a:r>
                        <a:rPr sz="900" b="0">
                          <a:solidFill>
                            <a:srgbClr val="333333"/>
                          </a:solidFill>
                          <a:latin typeface="Calibri"/>
                        </a:rPr>
                        <a:t>62</a:t>
                      </a:r>
                    </a:p>
                  </a:txBody>
                  <a:tcPr>
                    <a:solidFill>
                      <a:srgbClr val="FDF2F3"/>
                    </a:solidFill>
                  </a:tcPr>
                </a:tc>
                <a:tc>
                  <a:txBody>
                    <a:bodyPr/>
                    <a:lstStyle/>
                    <a:p>
                      <a:pPr algn="ctr"/>
                      <a:r>
                        <a:rPr sz="900" b="0">
                          <a:solidFill>
                            <a:srgbClr val="333333"/>
                          </a:solidFill>
                          <a:latin typeface="Calibri"/>
                        </a:rPr>
                        <a:t>53</a:t>
                      </a:r>
                    </a:p>
                  </a:txBody>
                  <a:tcPr>
                    <a:solidFill>
                      <a:srgbClr val="FDF2F3"/>
                    </a:solidFill>
                  </a:tcPr>
                </a:tc>
                <a:tc>
                  <a:txBody>
                    <a:bodyPr/>
                    <a:lstStyle/>
                    <a:p>
                      <a:pPr algn="ctr"/>
                      <a:r>
                        <a:rPr sz="900" b="1">
                          <a:solidFill>
                            <a:srgbClr val="A6001A"/>
                          </a:solidFill>
                          <a:latin typeface="Calibri"/>
                        </a:rPr>
                        <a:t>-9</a:t>
                      </a:r>
                    </a:p>
                  </a:txBody>
                  <a:tcPr>
                    <a:solidFill>
                      <a:srgbClr val="FDF2F3"/>
                    </a:solidFill>
                  </a:tcPr>
                </a:tc>
              </a:tr>
              <a:tr h="182880">
                <a:tc>
                  <a:txBody>
                    <a:bodyPr/>
                    <a:lstStyle/>
                    <a:p>
                      <a:pPr algn="l"/>
                      <a:r>
                        <a:rPr sz="900" b="0">
                          <a:solidFill>
                            <a:srgbClr val="333333"/>
                          </a:solidFill>
                          <a:latin typeface="Calibri"/>
                        </a:rPr>
                        <a:t>FSM</a:t>
                      </a:r>
                    </a:p>
                  </a:txBody>
                  <a:tcPr>
                    <a:solidFill>
                      <a:srgbClr val="FAFAFA"/>
                    </a:solidFill>
                  </a:tcPr>
                </a:tc>
                <a:tc>
                  <a:txBody>
                    <a:bodyPr/>
                    <a:lstStyle/>
                    <a:p>
                      <a:pPr algn="ctr"/>
                      <a:r>
                        <a:rPr sz="900" b="0">
                          <a:solidFill>
                            <a:srgbClr val="333333"/>
                          </a:solidFill>
                          <a:latin typeface="Calibri"/>
                        </a:rPr>
                        <a:t>37</a:t>
                      </a:r>
                    </a:p>
                  </a:txBody>
                  <a:tcPr>
                    <a:solidFill>
                      <a:srgbClr val="FAFAFA"/>
                    </a:solidFill>
                  </a:tcPr>
                </a:tc>
                <a:tc>
                  <a:txBody>
                    <a:bodyPr/>
                    <a:lstStyle/>
                    <a:p>
                      <a:pPr algn="ctr"/>
                      <a:r>
                        <a:rPr sz="900" b="0">
                          <a:solidFill>
                            <a:srgbClr val="333333"/>
                          </a:solidFill>
                          <a:latin typeface="Calibri"/>
                        </a:rPr>
                        <a:t>32</a:t>
                      </a:r>
                    </a:p>
                  </a:txBody>
                  <a:tcPr>
                    <a:solidFill>
                      <a:srgbClr val="FAFAFA"/>
                    </a:solidFill>
                  </a:tcPr>
                </a:tc>
                <a:tc>
                  <a:txBody>
                    <a:bodyPr/>
                    <a:lstStyle/>
                    <a:p>
                      <a:pPr algn="ctr"/>
                      <a:r>
                        <a:rPr sz="900" b="1">
                          <a:solidFill>
                            <a:srgbClr val="A6001A"/>
                          </a:solidFill>
                          <a:latin typeface="Calibri"/>
                        </a:rPr>
                        <a:t>-5</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11</a:t>
                      </a:r>
                    </a:p>
                  </a:txBody>
                  <a:tcPr>
                    <a:solidFill>
                      <a:srgbClr val="FAFAFA"/>
                    </a:solidFill>
                  </a:tcPr>
                </a:tc>
                <a:tc>
                  <a:txBody>
                    <a:bodyPr/>
                    <a:lstStyle/>
                    <a:p>
                      <a:pPr algn="ctr"/>
                      <a:r>
                        <a:rPr sz="900" b="1">
                          <a:solidFill>
                            <a:srgbClr val="A6001A"/>
                          </a:solidFill>
                          <a:latin typeface="Calibri"/>
                        </a:rPr>
                        <a:t>+1</a:t>
                      </a:r>
                    </a:p>
                  </a:txBody>
                  <a:tcPr>
                    <a:solidFill>
                      <a:srgbClr val="FAFAFA"/>
                    </a:solidFill>
                  </a:tcPr>
                </a:tc>
                <a:tc>
                  <a:txBody>
                    <a:bodyPr/>
                    <a:lstStyle/>
                    <a:p>
                      <a:pPr algn="ctr"/>
                      <a:r>
                        <a:rPr sz="900" b="0">
                          <a:solidFill>
                            <a:srgbClr val="333333"/>
                          </a:solidFill>
                          <a:latin typeface="Calibri"/>
                        </a:rPr>
                        <a:t>47</a:t>
                      </a:r>
                    </a:p>
                  </a:txBody>
                  <a:tcPr>
                    <a:solidFill>
                      <a:srgbClr val="FDF2F3"/>
                    </a:solidFill>
                  </a:tcPr>
                </a:tc>
                <a:tc>
                  <a:txBody>
                    <a:bodyPr/>
                    <a:lstStyle/>
                    <a:p>
                      <a:pPr algn="ctr"/>
                      <a:r>
                        <a:rPr sz="900" b="0">
                          <a:solidFill>
                            <a:srgbClr val="333333"/>
                          </a:solidFill>
                          <a:latin typeface="Calibri"/>
                        </a:rPr>
                        <a:t>43</a:t>
                      </a:r>
                    </a:p>
                  </a:txBody>
                  <a:tcPr>
                    <a:solidFill>
                      <a:srgbClr val="FDF2F3"/>
                    </a:solidFill>
                  </a:tcPr>
                </a:tc>
                <a:tc>
                  <a:txBody>
                    <a:bodyPr/>
                    <a:lstStyle/>
                    <a:p>
                      <a:pPr algn="ctr"/>
                      <a:r>
                        <a:rPr sz="900" b="1">
                          <a:solidFill>
                            <a:srgbClr val="A6001A"/>
                          </a:solidFill>
                          <a:latin typeface="Calibri"/>
                        </a:rPr>
                        <a:t>-4</a:t>
                      </a:r>
                    </a:p>
                  </a:txBody>
                  <a:tcPr>
                    <a:solidFill>
                      <a:srgbClr val="FDF2F3"/>
                    </a:solidFill>
                  </a:tcPr>
                </a:tc>
              </a:tr>
              <a:tr h="182880">
                <a:tc>
                  <a:txBody>
                    <a:bodyPr/>
                    <a:lstStyle/>
                    <a:p>
                      <a:pPr algn="l"/>
                      <a:r>
                        <a:rPr sz="900" b="0">
                          <a:solidFill>
                            <a:srgbClr val="333333"/>
                          </a:solidFill>
                          <a:latin typeface="Calibri"/>
                        </a:rPr>
                        <a:t>İst. Yolu</a:t>
                      </a:r>
                    </a:p>
                  </a:txBody>
                  <a:tcPr>
                    <a:solidFill>
                      <a:srgbClr val="FFFFFF"/>
                    </a:solidFill>
                  </a:tcPr>
                </a:tc>
                <a:tc>
                  <a:txBody>
                    <a:bodyPr/>
                    <a:lstStyle/>
                    <a:p>
                      <a:pPr algn="ctr"/>
                      <a:r>
                        <a:rPr sz="900" b="0">
                          <a:solidFill>
                            <a:srgbClr val="333333"/>
                          </a:solidFill>
                          <a:latin typeface="Calibri"/>
                        </a:rPr>
                        <a:t>33</a:t>
                      </a:r>
                    </a:p>
                  </a:txBody>
                  <a:tcPr>
                    <a:solidFill>
                      <a:srgbClr val="FFFFFF"/>
                    </a:solidFill>
                  </a:tcPr>
                </a:tc>
                <a:tc>
                  <a:txBody>
                    <a:bodyPr/>
                    <a:lstStyle/>
                    <a:p>
                      <a:pPr algn="ctr"/>
                      <a:r>
                        <a:rPr sz="900" b="0">
                          <a:solidFill>
                            <a:srgbClr val="333333"/>
                          </a:solidFill>
                          <a:latin typeface="Calibri"/>
                        </a:rPr>
                        <a:t>33</a:t>
                      </a:r>
                    </a:p>
                  </a:txBody>
                  <a:tcPr>
                    <a:solidFill>
                      <a:srgbClr val="FFFFFF"/>
                    </a:solidFill>
                  </a:tcPr>
                </a:tc>
                <a:tc>
                  <a:txBody>
                    <a:bodyPr/>
                    <a:lstStyle/>
                    <a:p>
                      <a:pPr algn="ctr"/>
                      <a:r>
                        <a:rPr sz="900" b="1">
                          <a:solidFill>
                            <a:srgbClr val="A6001A"/>
                          </a:solidFill>
                          <a:latin typeface="Calibri"/>
                        </a:rPr>
                        <a:t>+0</a:t>
                      </a:r>
                    </a:p>
                  </a:txBody>
                  <a:tcPr>
                    <a:solidFill>
                      <a:srgbClr val="FFFFFF"/>
                    </a:solidFill>
                  </a:tcPr>
                </a:tc>
                <a:tc>
                  <a:txBody>
                    <a:bodyPr/>
                    <a:lstStyle/>
                    <a:p>
                      <a:pPr algn="ctr"/>
                      <a:r>
                        <a:rPr sz="900" b="0">
                          <a:solidFill>
                            <a:srgbClr val="333333"/>
                          </a:solidFill>
                          <a:latin typeface="Calibri"/>
                        </a:rPr>
                        <a:t>25</a:t>
                      </a:r>
                    </a:p>
                  </a:txBody>
                  <a:tcPr>
                    <a:solidFill>
                      <a:srgbClr val="FFFFFF"/>
                    </a:solidFill>
                  </a:tcPr>
                </a:tc>
                <a:tc>
                  <a:txBody>
                    <a:bodyPr/>
                    <a:lstStyle/>
                    <a:p>
                      <a:pPr algn="ctr"/>
                      <a:r>
                        <a:rPr sz="900" b="0">
                          <a:solidFill>
                            <a:srgbClr val="333333"/>
                          </a:solidFill>
                          <a:latin typeface="Calibri"/>
                        </a:rPr>
                        <a:t>25</a:t>
                      </a:r>
                    </a:p>
                  </a:txBody>
                  <a:tcPr>
                    <a:solidFill>
                      <a:srgbClr val="FFFFFF"/>
                    </a:solidFill>
                  </a:tcPr>
                </a:tc>
                <a:tc>
                  <a:txBody>
                    <a:bodyPr/>
                    <a:lstStyle/>
                    <a:p>
                      <a:pPr algn="ctr"/>
                      <a:r>
                        <a:rPr sz="900" b="1">
                          <a:solidFill>
                            <a:srgbClr val="A6001A"/>
                          </a:solidFill>
                          <a:latin typeface="Calibri"/>
                        </a:rPr>
                        <a:t>+0</a:t>
                      </a:r>
                    </a:p>
                  </a:txBody>
                  <a:tcPr>
                    <a:solidFill>
                      <a:srgbClr val="FFFFFF"/>
                    </a:solidFill>
                  </a:tcPr>
                </a:tc>
                <a:tc>
                  <a:txBody>
                    <a:bodyPr/>
                    <a:lstStyle/>
                    <a:p>
                      <a:pPr algn="ctr"/>
                      <a:r>
                        <a:rPr sz="900" b="0">
                          <a:solidFill>
                            <a:srgbClr val="333333"/>
                          </a:solidFill>
                          <a:latin typeface="Calibri"/>
                        </a:rPr>
                        <a:t>58</a:t>
                      </a:r>
                    </a:p>
                  </a:txBody>
                  <a:tcPr>
                    <a:solidFill>
                      <a:srgbClr val="FDF2F3"/>
                    </a:solidFill>
                  </a:tcPr>
                </a:tc>
                <a:tc>
                  <a:txBody>
                    <a:bodyPr/>
                    <a:lstStyle/>
                    <a:p>
                      <a:pPr algn="ctr"/>
                      <a:r>
                        <a:rPr sz="900" b="0">
                          <a:solidFill>
                            <a:srgbClr val="333333"/>
                          </a:solidFill>
                          <a:latin typeface="Calibri"/>
                        </a:rPr>
                        <a:t>58</a:t>
                      </a:r>
                    </a:p>
                  </a:txBody>
                  <a:tcPr>
                    <a:solidFill>
                      <a:srgbClr val="FDF2F3"/>
                    </a:solidFill>
                  </a:tcPr>
                </a:tc>
                <a:tc>
                  <a:txBody>
                    <a:bodyPr/>
                    <a:lstStyle/>
                    <a:p>
                      <a:pPr algn="ctr"/>
                      <a:r>
                        <a:rPr sz="900" b="1">
                          <a:solidFill>
                            <a:srgbClr val="A6001A"/>
                          </a:solidFill>
                          <a:latin typeface="Calibri"/>
                        </a:rPr>
                        <a:t>+0</a:t>
                      </a:r>
                    </a:p>
                  </a:txBody>
                  <a:tcPr>
                    <a:solidFill>
                      <a:srgbClr val="FDF2F3"/>
                    </a:solidFill>
                  </a:tcPr>
                </a:tc>
              </a:tr>
              <a:tr h="182880">
                <a:tc>
                  <a:txBody>
                    <a:bodyPr/>
                    <a:lstStyle/>
                    <a:p>
                      <a:pPr algn="l"/>
                      <a:r>
                        <a:rPr sz="900" b="0">
                          <a:solidFill>
                            <a:srgbClr val="333333"/>
                          </a:solidFill>
                          <a:latin typeface="Calibri"/>
                        </a:rPr>
                        <a:t>Heykel</a:t>
                      </a:r>
                    </a:p>
                  </a:txBody>
                  <a:tcPr>
                    <a:solidFill>
                      <a:srgbClr val="FAFAFA"/>
                    </a:solidFill>
                  </a:tcPr>
                </a:tc>
                <a:tc>
                  <a:txBody>
                    <a:bodyPr/>
                    <a:lstStyle/>
                    <a:p>
                      <a:pPr algn="ctr"/>
                      <a:r>
                        <a:rPr sz="900" b="0">
                          <a:solidFill>
                            <a:srgbClr val="333333"/>
                          </a:solidFill>
                          <a:latin typeface="Calibri"/>
                        </a:rPr>
                        <a:t>30</a:t>
                      </a:r>
                    </a:p>
                  </a:txBody>
                  <a:tcPr>
                    <a:solidFill>
                      <a:srgbClr val="FAFAFA"/>
                    </a:solidFill>
                  </a:tcPr>
                </a:tc>
                <a:tc>
                  <a:txBody>
                    <a:bodyPr/>
                    <a:lstStyle/>
                    <a:p>
                      <a:pPr algn="ctr"/>
                      <a:r>
                        <a:rPr sz="900" b="0">
                          <a:solidFill>
                            <a:srgbClr val="333333"/>
                          </a:solidFill>
                          <a:latin typeface="Calibri"/>
                        </a:rPr>
                        <a:t>26</a:t>
                      </a:r>
                    </a:p>
                  </a:txBody>
                  <a:tcPr>
                    <a:solidFill>
                      <a:srgbClr val="FAFAFA"/>
                    </a:solidFill>
                  </a:tcPr>
                </a:tc>
                <a:tc>
                  <a:txBody>
                    <a:bodyPr/>
                    <a:lstStyle/>
                    <a:p>
                      <a:pPr algn="ctr"/>
                      <a:r>
                        <a:rPr sz="900" b="1">
                          <a:solidFill>
                            <a:srgbClr val="A6001A"/>
                          </a:solidFill>
                          <a:latin typeface="Calibri"/>
                        </a:rPr>
                        <a:t>-4</a:t>
                      </a:r>
                    </a:p>
                  </a:txBody>
                  <a:tcPr>
                    <a:solidFill>
                      <a:srgbClr val="FAFAFA"/>
                    </a:solidFill>
                  </a:tcPr>
                </a:tc>
                <a:tc>
                  <a:txBody>
                    <a:bodyPr/>
                    <a:lstStyle/>
                    <a:p>
                      <a:pPr algn="ctr"/>
                      <a:r>
                        <a:rPr sz="900" b="0">
                          <a:solidFill>
                            <a:srgbClr val="333333"/>
                          </a:solidFill>
                          <a:latin typeface="Calibri"/>
                        </a:rPr>
                        <a:t>20</a:t>
                      </a:r>
                    </a:p>
                  </a:txBody>
                  <a:tcPr>
                    <a:solidFill>
                      <a:srgbClr val="FAFAFA"/>
                    </a:solidFill>
                  </a:tcPr>
                </a:tc>
                <a:tc>
                  <a:txBody>
                    <a:bodyPr/>
                    <a:lstStyle/>
                    <a:p>
                      <a:pPr algn="ctr"/>
                      <a:r>
                        <a:rPr sz="900" b="0">
                          <a:solidFill>
                            <a:srgbClr val="333333"/>
                          </a:solidFill>
                          <a:latin typeface="Calibri"/>
                        </a:rPr>
                        <a:t>9</a:t>
                      </a:r>
                    </a:p>
                  </a:txBody>
                  <a:tcPr>
                    <a:solidFill>
                      <a:srgbClr val="FAFAFA"/>
                    </a:solidFill>
                  </a:tcPr>
                </a:tc>
                <a:tc>
                  <a:txBody>
                    <a:bodyPr/>
                    <a:lstStyle/>
                    <a:p>
                      <a:pPr algn="ctr"/>
                      <a:r>
                        <a:rPr sz="900" b="1">
                          <a:solidFill>
                            <a:srgbClr val="A6001A"/>
                          </a:solidFill>
                          <a:latin typeface="Calibri"/>
                        </a:rPr>
                        <a:t>-11</a:t>
                      </a:r>
                    </a:p>
                  </a:txBody>
                  <a:tcPr>
                    <a:solidFill>
                      <a:srgbClr val="FAFAFA"/>
                    </a:solidFill>
                  </a:tcPr>
                </a:tc>
                <a:tc>
                  <a:txBody>
                    <a:bodyPr/>
                    <a:lstStyle/>
                    <a:p>
                      <a:pPr algn="ctr"/>
                      <a:r>
                        <a:rPr sz="900" b="0">
                          <a:solidFill>
                            <a:srgbClr val="333333"/>
                          </a:solidFill>
                          <a:latin typeface="Calibri"/>
                        </a:rPr>
                        <a:t>50</a:t>
                      </a:r>
                    </a:p>
                  </a:txBody>
                  <a:tcPr>
                    <a:solidFill>
                      <a:srgbClr val="FDF2F3"/>
                    </a:solidFill>
                  </a:tcPr>
                </a:tc>
                <a:tc>
                  <a:txBody>
                    <a:bodyPr/>
                    <a:lstStyle/>
                    <a:p>
                      <a:pPr algn="ctr"/>
                      <a:r>
                        <a:rPr sz="900" b="0">
                          <a:solidFill>
                            <a:srgbClr val="333333"/>
                          </a:solidFill>
                          <a:latin typeface="Calibri"/>
                        </a:rPr>
                        <a:t>35</a:t>
                      </a:r>
                    </a:p>
                  </a:txBody>
                  <a:tcPr>
                    <a:solidFill>
                      <a:srgbClr val="FDF2F3"/>
                    </a:solidFill>
                  </a:tcPr>
                </a:tc>
                <a:tc>
                  <a:txBody>
                    <a:bodyPr/>
                    <a:lstStyle/>
                    <a:p>
                      <a:pPr algn="ctr"/>
                      <a:r>
                        <a:rPr sz="900" b="1">
                          <a:solidFill>
                            <a:srgbClr val="A6001A"/>
                          </a:solidFill>
                          <a:latin typeface="Calibri"/>
                        </a:rPr>
                        <a:t>-15</a:t>
                      </a:r>
                    </a:p>
                  </a:txBody>
                  <a:tcPr>
                    <a:solidFill>
                      <a:srgbClr val="FDF2F3"/>
                    </a:solidFill>
                  </a:tcPr>
                </a:tc>
              </a:tr>
              <a:tr h="182880">
                <a:tc>
                  <a:txBody>
                    <a:bodyPr/>
                    <a:lstStyle/>
                    <a:p>
                      <a:pPr algn="l"/>
                      <a:r>
                        <a:rPr sz="900" b="0">
                          <a:solidFill>
                            <a:srgbClr val="333333"/>
                          </a:solidFill>
                          <a:latin typeface="Calibri"/>
                        </a:rPr>
                        <a:t>Etkinlik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r h="182880">
                <a:tc>
                  <a:txBody>
                    <a:bodyPr/>
                    <a:lstStyle/>
                    <a:p>
                      <a:pPr algn="l"/>
                      <a:r>
                        <a:rPr sz="900" b="0">
                          <a:solidFill>
                            <a:srgbClr val="333333"/>
                          </a:solidFill>
                          <a:latin typeface="Calibri"/>
                        </a:rPr>
                        <a:t>Engelli **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r h="182880">
                <a:tc>
                  <a:txBody>
                    <a:bodyPr/>
                    <a:lstStyle/>
                    <a:p>
                      <a:pPr algn="l"/>
                      <a:r>
                        <a:rPr sz="900" b="1">
                          <a:solidFill>
                            <a:srgbClr val="333333"/>
                          </a:solidFill>
                          <a:latin typeface="Calibri"/>
                        </a:rPr>
                        <a:t>OPERASYONEL TOPLAM</a:t>
                      </a:r>
                    </a:p>
                  </a:txBody>
                  <a:tcPr>
                    <a:solidFill>
                      <a:srgbClr val="F2F2F2"/>
                    </a:solidFill>
                  </a:tcPr>
                </a:tc>
                <a:tc>
                  <a:txBody>
                    <a:bodyPr/>
                    <a:lstStyle/>
                    <a:p>
                      <a:pPr algn="ctr"/>
                      <a:r>
                        <a:rPr sz="900" b="1">
                          <a:solidFill>
                            <a:srgbClr val="333333"/>
                          </a:solidFill>
                          <a:latin typeface="Calibri"/>
                        </a:rPr>
                        <a:t>145</a:t>
                      </a:r>
                    </a:p>
                  </a:txBody>
                  <a:tcPr>
                    <a:solidFill>
                      <a:srgbClr val="F2F2F2"/>
                    </a:solidFill>
                  </a:tcPr>
                </a:tc>
                <a:tc>
                  <a:txBody>
                    <a:bodyPr/>
                    <a:lstStyle/>
                    <a:p>
                      <a:pPr algn="ctr"/>
                      <a:r>
                        <a:rPr sz="900" b="1">
                          <a:solidFill>
                            <a:srgbClr val="333333"/>
                          </a:solidFill>
                          <a:latin typeface="Calibri"/>
                        </a:rPr>
                        <a:t>131</a:t>
                      </a:r>
                    </a:p>
                  </a:txBody>
                  <a:tcPr>
                    <a:solidFill>
                      <a:srgbClr val="F2F2F2"/>
                    </a:solidFill>
                  </a:tcPr>
                </a:tc>
                <a:tc>
                  <a:txBody>
                    <a:bodyPr/>
                    <a:lstStyle/>
                    <a:p>
                      <a:pPr algn="ctr"/>
                      <a:r>
                        <a:rPr sz="900" b="1">
                          <a:solidFill>
                            <a:srgbClr val="A6001A"/>
                          </a:solidFill>
                          <a:latin typeface="Calibri"/>
                        </a:rPr>
                        <a:t>-14</a:t>
                      </a:r>
                    </a:p>
                  </a:txBody>
                  <a:tcPr>
                    <a:solidFill>
                      <a:srgbClr val="F2F2F2"/>
                    </a:solidFill>
                  </a:tcPr>
                </a:tc>
                <a:tc>
                  <a:txBody>
                    <a:bodyPr/>
                    <a:lstStyle/>
                    <a:p>
                      <a:pPr algn="ctr"/>
                      <a:r>
                        <a:rPr sz="900" b="1">
                          <a:solidFill>
                            <a:srgbClr val="333333"/>
                          </a:solidFill>
                          <a:latin typeface="Calibri"/>
                        </a:rPr>
                        <a:t>72</a:t>
                      </a:r>
                    </a:p>
                  </a:txBody>
                  <a:tcPr>
                    <a:solidFill>
                      <a:srgbClr val="F2F2F2"/>
                    </a:solidFill>
                  </a:tcPr>
                </a:tc>
                <a:tc>
                  <a:txBody>
                    <a:bodyPr/>
                    <a:lstStyle/>
                    <a:p>
                      <a:pPr algn="ctr"/>
                      <a:r>
                        <a:rPr sz="900" b="1">
                          <a:solidFill>
                            <a:srgbClr val="333333"/>
                          </a:solidFill>
                          <a:latin typeface="Calibri"/>
                        </a:rPr>
                        <a:t>58</a:t>
                      </a:r>
                    </a:p>
                  </a:txBody>
                  <a:tcPr>
                    <a:solidFill>
                      <a:srgbClr val="F2F2F2"/>
                    </a:solidFill>
                  </a:tcPr>
                </a:tc>
                <a:tc>
                  <a:txBody>
                    <a:bodyPr/>
                    <a:lstStyle/>
                    <a:p>
                      <a:pPr algn="ctr"/>
                      <a:r>
                        <a:rPr sz="900" b="1">
                          <a:solidFill>
                            <a:srgbClr val="A6001A"/>
                          </a:solidFill>
                          <a:latin typeface="Calibri"/>
                        </a:rPr>
                        <a:t>-14</a:t>
                      </a:r>
                    </a:p>
                  </a:txBody>
                  <a:tcPr>
                    <a:solidFill>
                      <a:srgbClr val="F2F2F2"/>
                    </a:solidFill>
                  </a:tcPr>
                </a:tc>
                <a:tc>
                  <a:txBody>
                    <a:bodyPr/>
                    <a:lstStyle/>
                    <a:p>
                      <a:pPr algn="ctr"/>
                      <a:r>
                        <a:rPr sz="900" b="1">
                          <a:solidFill>
                            <a:srgbClr val="333333"/>
                          </a:solidFill>
                          <a:latin typeface="Calibri"/>
                        </a:rPr>
                        <a:t>217</a:t>
                      </a:r>
                    </a:p>
                  </a:txBody>
                  <a:tcPr>
                    <a:solidFill>
                      <a:srgbClr val="F2F2F2"/>
                    </a:solidFill>
                  </a:tcPr>
                </a:tc>
                <a:tc>
                  <a:txBody>
                    <a:bodyPr/>
                    <a:lstStyle/>
                    <a:p>
                      <a:pPr algn="ctr"/>
                      <a:r>
                        <a:rPr sz="900" b="1">
                          <a:solidFill>
                            <a:srgbClr val="333333"/>
                          </a:solidFill>
                          <a:latin typeface="Calibri"/>
                        </a:rPr>
                        <a:t>189</a:t>
                      </a:r>
                    </a:p>
                  </a:txBody>
                  <a:tcPr>
                    <a:solidFill>
                      <a:srgbClr val="F2F2F2"/>
                    </a:solidFill>
                  </a:tcPr>
                </a:tc>
                <a:tc>
                  <a:txBody>
                    <a:bodyPr/>
                    <a:lstStyle/>
                    <a:p>
                      <a:pPr algn="ctr"/>
                      <a:r>
                        <a:rPr sz="900" b="1">
                          <a:solidFill>
                            <a:srgbClr val="A6001A"/>
                          </a:solidFill>
                          <a:latin typeface="Calibri"/>
                        </a:rPr>
                        <a:t>-28</a:t>
                      </a:r>
                    </a:p>
                  </a:txBody>
                  <a:tcPr>
                    <a:solidFill>
                      <a:srgbClr val="F2F2F2"/>
                    </a:solidFill>
                  </a:tcPr>
                </a:tc>
              </a:tr>
              <a:tr h="182880">
                <a:tc>
                  <a:txBody>
                    <a:bodyPr/>
                    <a:lstStyle/>
                    <a:p>
                      <a:pPr algn="l"/>
                      <a:r>
                        <a:rPr sz="900" b="0">
                          <a:solidFill>
                            <a:srgbClr val="333333"/>
                          </a:solidFill>
                          <a:latin typeface="Calibri"/>
                        </a:rPr>
                        <a:t>Kayıt toplamı (İK, tüm gruplar)</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137</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58</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195</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bl>
          </a:graphicData>
        </a:graphic>
      </p:graphicFrame>
      <p:sp>
        <p:nvSpPr>
          <p:cNvPr id="5" name="TextBox 4"/>
          <p:cNvSpPr txBox="1"/>
          <p:nvPr/>
        </p:nvSpPr>
        <p:spPr>
          <a:xfrm>
            <a:off x="548640" y="3913632"/>
            <a:ext cx="11018520" cy="310896"/>
          </a:xfrm>
          <a:prstGeom prst="rect">
            <a:avLst/>
          </a:prstGeom>
          <a:noFill/>
        </p:spPr>
        <p:txBody>
          <a:bodyPr wrap="square" anchor="t">
            <a:spAutoFit/>
          </a:bodyPr>
          <a:lstStyle/>
          <a:p>
            <a:pPr algn="l">
              <a:lnSpc>
                <a:spcPct val="100000"/>
              </a:lnSpc>
            </a:pPr>
            <a:r>
              <a:rPr sz="850" b="0">
                <a:solidFill>
                  <a:srgbClr val="6E6E6E"/>
                </a:solidFill>
                <a:latin typeface="Calibri"/>
              </a:rPr>
              <a:t>** YÖNETİM KARARI: engelli ve etkinlik kadrosu NORM DIŞIDIR — norm doluluğuna sayılmaz, mağaza satırlarından düşülmüştür. Heykel ve Şura'da engelli kadro yoktur (ayrı tüzel kişilik, 50 çalışan altı → 4857/30 yükümlülüğü doğmaz).</a:t>
            </a:r>
          </a:p>
        </p:txBody>
      </p:sp>
      <p:sp>
        <p:nvSpPr>
          <p:cNvPr id="6" name="Rounded Rectangle 5"/>
          <p:cNvSpPr/>
          <p:nvPr/>
        </p:nvSpPr>
        <p:spPr>
          <a:xfrm>
            <a:off x="548640" y="4370832"/>
            <a:ext cx="11018520" cy="47548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370832"/>
            <a:ext cx="10607040" cy="475488"/>
          </a:xfrm>
          <a:prstGeom prst="rect">
            <a:avLst/>
          </a:prstGeom>
          <a:noFill/>
        </p:spPr>
        <p:txBody>
          <a:bodyPr wrap="square" anchor="ctr">
            <a:spAutoFit/>
          </a:bodyPr>
          <a:lstStyle/>
          <a:p>
            <a:pPr algn="l">
              <a:lnSpc>
                <a:spcPct val="100000"/>
              </a:lnSpc>
            </a:pPr>
            <a:r>
              <a:rPr sz="1100" b="1">
                <a:solidFill>
                  <a:srgbClr val="A6001A"/>
                </a:solidFill>
                <a:latin typeface="Calibri"/>
              </a:rPr>
              <a:t>Norm doluluğu (engelli ve etkinlik hariç): norm 217 · operasyonel gerçek 189 → -28 KİŞİ EKSİK (kadrolu -14 · sezonluk -14).</a:t>
            </a:r>
          </a:p>
        </p:txBody>
      </p:sp>
      <p:sp>
        <p:nvSpPr>
          <p:cNvPr id="8" name="Rectangle 7"/>
          <p:cNvSpPr/>
          <p:nvPr/>
        </p:nvSpPr>
        <p:spPr>
          <a:xfrm>
            <a:off x="548640" y="4882896"/>
            <a:ext cx="11018520" cy="676656"/>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4882896"/>
            <a:ext cx="68580" cy="676656"/>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901184"/>
            <a:ext cx="10607040" cy="219456"/>
          </a:xfrm>
          <a:prstGeom prst="rect">
            <a:avLst/>
          </a:prstGeom>
          <a:noFill/>
        </p:spPr>
        <p:txBody>
          <a:bodyPr wrap="square" anchor="t">
            <a:spAutoFit/>
          </a:bodyPr>
          <a:lstStyle/>
          <a:p>
            <a:pPr algn="l">
              <a:lnSpc>
                <a:spcPct val="100000"/>
              </a:lnSpc>
            </a:pPr>
            <a:r>
              <a:rPr sz="950" b="1">
                <a:solidFill>
                  <a:srgbClr val="6E6E6E"/>
                </a:solidFill>
                <a:latin typeface="Calibri"/>
              </a:rPr>
              <a:t>KAPSAM SÖZLÜĞÜ — bu destede üç ayrı kapsam kullanılır</a:t>
            </a:r>
          </a:p>
        </p:txBody>
      </p:sp>
      <p:sp>
        <p:nvSpPr>
          <p:cNvPr id="11" name="TextBox 10"/>
          <p:cNvSpPr txBox="1"/>
          <p:nvPr/>
        </p:nvSpPr>
        <p:spPr>
          <a:xfrm>
            <a:off x="777240" y="5102352"/>
            <a:ext cx="10835640" cy="457200"/>
          </a:xfrm>
          <a:prstGeom prst="rect">
            <a:avLst/>
          </a:prstGeom>
          <a:noFill/>
        </p:spPr>
        <p:txBody>
          <a:bodyPr wrap="square" anchor="t">
            <a:spAutoFit/>
          </a:bodyPr>
          <a:lstStyle/>
          <a:p>
            <a:pPr algn="l">
              <a:lnSpc>
                <a:spcPct val="108000"/>
              </a:lnSpc>
            </a:pPr>
            <a:r>
              <a:rPr sz="800" b="0">
                <a:solidFill>
                  <a:srgbClr val="333333"/>
                </a:solidFill>
                <a:latin typeface="Calibri"/>
              </a:rPr>
              <a:t>• 3 POS mağazası (FSM · Özlüce · İst. Yolu) — iş hacminin ölçülebildiği kapsam: kadro 143 → 160
• 4 norm mağazası (+ Heykel) — norm karşılaştırması: norm 217 · kayıt 195 · operasyonel 189
• 5 mağaza (+ Şura) — İK kadro raporu: kadrolu 149 + sezonluk 62 = 211</a:t>
            </a:r>
          </a:p>
        </p:txBody>
      </p:sp>
      <p:sp>
        <p:nvSpPr>
          <p:cNvPr id="12" name="TextBox 11"/>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sayısı (yönetim kararı); etkinlik de norm dışı. Mağaza satırları operasyonel kadroyu gösterir (kadrolu − engelli − etkinlik). Engelli 3 · etkinlik 3 kişi ayrı satırda; en alttaki kayıt toplamı İK'nın resmi rakamıdır (kadrolu 137 · sezonluk 58) · Norm kaynağı: BKMKİTAP Mağaza Kadro ve Sezon Takip Tablosu, 11.08.2026 · Kapsam dışı: Şura · Gerçek sayılar 31.08 as-of.</a:t>
            </a:r>
          </a:p>
        </p:txBody>
      </p:sp>
      <p:sp>
        <p:nvSpPr>
          <p:cNvPr id="13" name="TextBox 12"/>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Norm Açığı — Bölüm Bazında</a:t>
            </a:r>
          </a:p>
        </p:txBody>
      </p:sp>
      <p:graphicFrame>
        <p:nvGraphicFramePr>
          <p:cNvPr id="3" name="Table 2"/>
          <p:cNvGraphicFramePr>
            <a:graphicFrameLocks noGrp="1"/>
          </p:cNvGraphicFramePr>
          <p:nvPr/>
        </p:nvGraphicFramePr>
        <p:xfrm>
          <a:off x="548640" y="1371600"/>
          <a:ext cx="6858000" cy="3054096"/>
        </p:xfrm>
        <a:graphic>
          <a:graphicData uri="http://schemas.openxmlformats.org/drawingml/2006/table">
            <a:tbl>
              <a:tblPr firstRow="1" bandRow="1">
                <a:tableStyleId>{5C22544A-7EE6-4342-B048-85BDC9FD1C3A}</a:tableStyleId>
              </a:tblPr>
              <a:tblGrid>
                <a:gridCol w="1691640"/>
                <a:gridCol w="731520"/>
                <a:gridCol w="1143000"/>
                <a:gridCol w="960120"/>
                <a:gridCol w="685800"/>
                <a:gridCol w="685800"/>
                <a:gridCol w="960120"/>
              </a:tblGrid>
              <a:tr h="310896">
                <a:tc>
                  <a:txBody>
                    <a:bodyPr/>
                    <a:lstStyle/>
                    <a:p>
                      <a:pPr algn="l"/>
                      <a:r>
                        <a:rPr sz="750" b="1">
                          <a:solidFill>
                            <a:srgbClr val="FFFFFF"/>
                          </a:solidFill>
                          <a:latin typeface="Calibri"/>
                        </a:rPr>
                        <a:t>Bölüm</a:t>
                      </a:r>
                    </a:p>
                  </a:txBody>
                  <a:tcPr>
                    <a:solidFill>
                      <a:srgbClr val="E30622"/>
                    </a:solidFill>
                  </a:tcPr>
                </a:tc>
                <a:tc>
                  <a:txBody>
                    <a:bodyPr/>
                    <a:lstStyle/>
                    <a:p>
                      <a:pPr algn="ctr"/>
                      <a:r>
                        <a:rPr sz="750" b="1">
                          <a:solidFill>
                            <a:srgbClr val="FFFFFF"/>
                          </a:solidFill>
                          <a:latin typeface="Calibri"/>
                        </a:rPr>
                        <a:t>Norm</a:t>
                      </a:r>
                    </a:p>
                  </a:txBody>
                  <a:tcPr>
                    <a:solidFill>
                      <a:srgbClr val="E30622"/>
                    </a:solidFill>
                  </a:tcPr>
                </a:tc>
                <a:tc>
                  <a:txBody>
                    <a:bodyPr/>
                    <a:lstStyle/>
                    <a:p>
                      <a:pPr algn="ctr"/>
                      <a:r>
                        <a:rPr sz="750" b="1">
                          <a:solidFill>
                            <a:srgbClr val="FFFFFF"/>
                          </a:solidFill>
                          <a:latin typeface="Calibri"/>
                        </a:rPr>
                        <a:t>Operasyonel</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Engelli</a:t>
                      </a:r>
                    </a:p>
                    <a:p>
                      <a:pPr algn="ctr"/>
                      <a:r>
                        <a:rPr sz="750" b="1">
                          <a:solidFill>
                            <a:srgbClr val="FFFFFF"/>
                          </a:solidFill>
                          <a:latin typeface="Calibri"/>
                        </a:rPr>
                        <a:t>(norm dışı)</a:t>
                      </a:r>
                    </a:p>
                  </a:txBody>
                  <a:tcPr>
                    <a:solidFill>
                      <a:srgbClr val="E30622"/>
                    </a:solidFill>
                  </a:tcPr>
                </a:tc>
                <a:tc>
                  <a:txBody>
                    <a:bodyPr/>
                    <a:lstStyle/>
                    <a:p>
                      <a:pPr algn="ctr"/>
                      <a:r>
                        <a:rPr sz="750" b="1">
                          <a:solidFill>
                            <a:srgbClr val="FFFFFF"/>
                          </a:solidFill>
                          <a:latin typeface="Calibri"/>
                        </a:rPr>
                        <a:t>Açık</a:t>
                      </a:r>
                    </a:p>
                  </a:txBody>
                  <a:tcPr>
                    <a:solidFill>
                      <a:srgbClr val="E30622"/>
                    </a:solidFill>
                  </a:tcPr>
                </a:tc>
                <a:tc>
                  <a:txBody>
                    <a:bodyPr/>
                    <a:lstStyle/>
                    <a:p>
                      <a:pPr algn="ctr"/>
                      <a:r>
                        <a:rPr sz="750" b="1">
                          <a:solidFill>
                            <a:srgbClr val="FFFFFF"/>
                          </a:solidFill>
                          <a:latin typeface="Calibri"/>
                        </a:rPr>
                        <a:t>Fazla</a:t>
                      </a:r>
                    </a:p>
                  </a:txBody>
                  <a:tcPr>
                    <a:solidFill>
                      <a:srgbClr val="E30622"/>
                    </a:solidFill>
                  </a:tcPr>
                </a:tc>
                <a:tc>
                  <a:txBody>
                    <a:bodyPr/>
                    <a:lstStyle/>
                    <a:p>
                      <a:pPr algn="ctr"/>
                      <a:r>
                        <a:rPr sz="750" b="1">
                          <a:solidFill>
                            <a:srgbClr val="FFFFFF"/>
                          </a:solidFill>
                          <a:latin typeface="Calibri"/>
                        </a:rPr>
                        <a:t>Sezonluk</a:t>
                      </a:r>
                    </a:p>
                    <a:p>
                      <a:pPr algn="ctr"/>
                      <a:r>
                        <a:rPr sz="750" b="1">
                          <a:solidFill>
                            <a:srgbClr val="FFFFFF"/>
                          </a:solidFill>
                          <a:latin typeface="Calibri"/>
                        </a:rPr>
                        <a:t>31.08</a:t>
                      </a:r>
                    </a:p>
                  </a:txBody>
                  <a:tcPr>
                    <a:solidFill>
                      <a:srgbClr val="E30622"/>
                    </a:solidFill>
                  </a:tcPr>
                </a:tc>
              </a:tr>
              <a:tr h="182880">
                <a:tc>
                  <a:txBody>
                    <a:bodyPr/>
                    <a:lstStyle/>
                    <a:p>
                      <a:pPr algn="l"/>
                      <a:r>
                        <a:rPr sz="900" b="0">
                          <a:solidFill>
                            <a:srgbClr val="333333"/>
                          </a:solidFill>
                          <a:latin typeface="Calibri"/>
                        </a:rPr>
                        <a:t>Çocuk</a:t>
                      </a:r>
                    </a:p>
                  </a:txBody>
                  <a:tcPr>
                    <a:solidFill>
                      <a:srgbClr val="FFFFFF"/>
                    </a:solidFill>
                  </a:tcPr>
                </a:tc>
                <a:tc>
                  <a:txBody>
                    <a:bodyPr/>
                    <a:lstStyle/>
                    <a:p>
                      <a:pPr algn="ctr"/>
                      <a:r>
                        <a:rPr sz="900" b="0">
                          <a:solidFill>
                            <a:srgbClr val="333333"/>
                          </a:solidFill>
                          <a:latin typeface="Calibri"/>
                        </a:rPr>
                        <a:t>19</a:t>
                      </a:r>
                    </a:p>
                  </a:txBody>
                  <a:tcPr>
                    <a:solidFill>
                      <a:srgbClr val="FFFFFF"/>
                    </a:solidFill>
                  </a:tcPr>
                </a:tc>
                <a:tc>
                  <a:txBody>
                    <a:bodyPr/>
                    <a:lstStyle/>
                    <a:p>
                      <a:pPr algn="ctr"/>
                      <a:r>
                        <a:rPr sz="900" b="0">
                          <a:solidFill>
                            <a:srgbClr val="333333"/>
                          </a:solidFill>
                          <a:latin typeface="Calibri"/>
                        </a:rPr>
                        <a:t>14</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5</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5</a:t>
                      </a:r>
                    </a:p>
                  </a:txBody>
                  <a:tcPr>
                    <a:solidFill>
                      <a:srgbClr val="FFFFFF"/>
                    </a:solidFill>
                  </a:tcPr>
                </a:tc>
              </a:tr>
              <a:tr h="182880">
                <a:tc>
                  <a:txBody>
                    <a:bodyPr/>
                    <a:lstStyle/>
                    <a:p>
                      <a:pPr algn="l"/>
                      <a:r>
                        <a:rPr sz="900" b="0">
                          <a:solidFill>
                            <a:srgbClr val="333333"/>
                          </a:solidFill>
                          <a:latin typeface="Calibri"/>
                        </a:rPr>
                        <a:t>Kültür</a:t>
                      </a:r>
                    </a:p>
                  </a:txBody>
                  <a:tcPr>
                    <a:solidFill>
                      <a:srgbClr val="FAFAFA"/>
                    </a:solidFill>
                  </a:tcPr>
                </a:tc>
                <a:tc>
                  <a:txBody>
                    <a:bodyPr/>
                    <a:lstStyle/>
                    <a:p>
                      <a:pPr algn="ctr"/>
                      <a:r>
                        <a:rPr sz="900" b="0">
                          <a:solidFill>
                            <a:srgbClr val="333333"/>
                          </a:solidFill>
                          <a:latin typeface="Calibri"/>
                        </a:rPr>
                        <a:t>22</a:t>
                      </a:r>
                    </a:p>
                  </a:txBody>
                  <a:tcPr>
                    <a:solidFill>
                      <a:srgbClr val="FAFAFA"/>
                    </a:solidFill>
                  </a:tcPr>
                </a:tc>
                <a:tc>
                  <a:txBody>
                    <a:bodyPr/>
                    <a:lstStyle/>
                    <a:p>
                      <a:pPr algn="ctr"/>
                      <a:r>
                        <a:rPr sz="900" b="0">
                          <a:solidFill>
                            <a:srgbClr val="333333"/>
                          </a:solidFill>
                          <a:latin typeface="Calibri"/>
                        </a:rPr>
                        <a:t>20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2</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2</a:t>
                      </a:r>
                    </a:p>
                  </a:txBody>
                  <a:tcPr>
                    <a:solidFill>
                      <a:srgbClr val="FAFAFA"/>
                    </a:solidFill>
                  </a:tcPr>
                </a:tc>
              </a:tr>
              <a:tr h="182880">
                <a:tc>
                  <a:txBody>
                    <a:bodyPr/>
                    <a:lstStyle/>
                    <a:p>
                      <a:pPr algn="l"/>
                      <a:r>
                        <a:rPr sz="900" b="0">
                          <a:solidFill>
                            <a:srgbClr val="333333"/>
                          </a:solidFill>
                          <a:latin typeface="Calibri"/>
                        </a:rPr>
                        <a:t>Mağaza</a:t>
                      </a:r>
                    </a:p>
                  </a:txBody>
                  <a:tcPr>
                    <a:solidFill>
                      <a:srgbClr val="FFFFFF"/>
                    </a:solidFill>
                  </a:tcPr>
                </a:tc>
                <a:tc>
                  <a:txBody>
                    <a:bodyPr/>
                    <a:lstStyle/>
                    <a:p>
                      <a:pPr algn="ctr"/>
                      <a:r>
                        <a:rPr sz="900" b="0">
                          <a:solidFill>
                            <a:srgbClr val="333333"/>
                          </a:solidFill>
                          <a:latin typeface="Calibri"/>
                        </a:rPr>
                        <a:t>10</a:t>
                      </a:r>
                    </a:p>
                  </a:txBody>
                  <a:tcPr>
                    <a:solidFill>
                      <a:srgbClr val="FFFFFF"/>
                    </a:solidFill>
                  </a:tcPr>
                </a:tc>
                <a:tc>
                  <a:txBody>
                    <a:bodyPr/>
                    <a:lstStyle/>
                    <a:p>
                      <a:pPr algn="ctr"/>
                      <a:r>
                        <a:rPr sz="900" b="0">
                          <a:solidFill>
                            <a:srgbClr val="333333"/>
                          </a:solidFill>
                          <a:latin typeface="Calibri"/>
                        </a:rPr>
                        <a:t>8</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2</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r>
              <a:tr h="182880">
                <a:tc>
                  <a:txBody>
                    <a:bodyPr/>
                    <a:lstStyle/>
                    <a:p>
                      <a:pPr algn="l"/>
                      <a:r>
                        <a:rPr sz="900" b="0">
                          <a:solidFill>
                            <a:srgbClr val="333333"/>
                          </a:solidFill>
                          <a:latin typeface="Calibri"/>
                        </a:rPr>
                        <a:t>İdari İşler</a:t>
                      </a:r>
                    </a:p>
                  </a:txBody>
                  <a:tcPr>
                    <a:solidFill>
                      <a:srgbClr val="FAFAFA"/>
                    </a:solidFill>
                  </a:tcPr>
                </a:tc>
                <a:tc>
                  <a:txBody>
                    <a:bodyPr/>
                    <a:lstStyle/>
                    <a:p>
                      <a:pPr algn="ctr"/>
                      <a:r>
                        <a:rPr sz="900" b="0">
                          <a:solidFill>
                            <a:srgbClr val="333333"/>
                          </a:solidFill>
                          <a:latin typeface="Calibri"/>
                        </a:rPr>
                        <a:t>8</a:t>
                      </a:r>
                    </a:p>
                  </a:txBody>
                  <a:tcPr>
                    <a:solidFill>
                      <a:srgbClr val="FAFAFA"/>
                    </a:solidFill>
                  </a:tcPr>
                </a:tc>
                <a:tc>
                  <a:txBody>
                    <a:bodyPr/>
                    <a:lstStyle/>
                    <a:p>
                      <a:pPr algn="ctr"/>
                      <a:r>
                        <a:rPr sz="900" b="0">
                          <a:solidFill>
                            <a:srgbClr val="333333"/>
                          </a:solidFill>
                          <a:latin typeface="Calibri"/>
                        </a:rPr>
                        <a:t>6</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2</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Akademi</a:t>
                      </a:r>
                    </a:p>
                  </a:txBody>
                  <a:tcPr>
                    <a:solidFill>
                      <a:srgbClr val="FFFFFF"/>
                    </a:solidFill>
                  </a:tcPr>
                </a:tc>
                <a:tc>
                  <a:txBody>
                    <a:bodyPr/>
                    <a:lstStyle/>
                    <a:p>
                      <a:pPr algn="ctr"/>
                      <a:r>
                        <a:rPr sz="900" b="0">
                          <a:solidFill>
                            <a:srgbClr val="333333"/>
                          </a:solidFill>
                          <a:latin typeface="Calibri"/>
                        </a:rPr>
                        <a:t>10</a:t>
                      </a:r>
                    </a:p>
                  </a:txBody>
                  <a:tcPr>
                    <a:solidFill>
                      <a:srgbClr val="FFFFFF"/>
                    </a:solidFill>
                  </a:tcPr>
                </a:tc>
                <a:tc>
                  <a:txBody>
                    <a:bodyPr/>
                    <a:lstStyle/>
                    <a:p>
                      <a:pPr algn="ctr"/>
                      <a:r>
                        <a:rPr sz="900" b="0">
                          <a:solidFill>
                            <a:srgbClr val="333333"/>
                          </a:solidFill>
                          <a:latin typeface="Calibri"/>
                        </a:rPr>
                        <a:t>9</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r>
              <a:tr h="182880">
                <a:tc>
                  <a:txBody>
                    <a:bodyPr/>
                    <a:lstStyle/>
                    <a:p>
                      <a:pPr algn="l"/>
                      <a:r>
                        <a:rPr sz="900" b="0">
                          <a:solidFill>
                            <a:srgbClr val="333333"/>
                          </a:solidFill>
                          <a:latin typeface="Calibri"/>
                        </a:rPr>
                        <a:t>Kasa</a:t>
                      </a:r>
                    </a:p>
                  </a:txBody>
                  <a:tcPr>
                    <a:solidFill>
                      <a:srgbClr val="FAFAFA"/>
                    </a:solidFill>
                  </a:tcPr>
                </a:tc>
                <a:tc>
                  <a:txBody>
                    <a:bodyPr/>
                    <a:lstStyle/>
                    <a:p>
                      <a:pPr algn="ctr"/>
                      <a:r>
                        <a:rPr sz="900" b="0">
                          <a:solidFill>
                            <a:srgbClr val="333333"/>
                          </a:solidFill>
                          <a:latin typeface="Calibri"/>
                        </a:rPr>
                        <a:t>16</a:t>
                      </a:r>
                    </a:p>
                  </a:txBody>
                  <a:tcPr>
                    <a:solidFill>
                      <a:srgbClr val="FAFAFA"/>
                    </a:solidFill>
                  </a:tcPr>
                </a:tc>
                <a:tc>
                  <a:txBody>
                    <a:bodyPr/>
                    <a:lstStyle/>
                    <a:p>
                      <a:pPr algn="ctr"/>
                      <a:r>
                        <a:rPr sz="900" b="0">
                          <a:solidFill>
                            <a:srgbClr val="333333"/>
                          </a:solidFill>
                          <a:latin typeface="Calibri"/>
                        </a:rPr>
                        <a:t>15</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1</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9</a:t>
                      </a:r>
                    </a:p>
                  </a:txBody>
                  <a:tcPr>
                    <a:solidFill>
                      <a:srgbClr val="FAFAFA"/>
                    </a:solidFill>
                  </a:tcPr>
                </a:tc>
              </a:tr>
              <a:tr h="182880">
                <a:tc>
                  <a:txBody>
                    <a:bodyPr/>
                    <a:lstStyle/>
                    <a:p>
                      <a:pPr algn="l"/>
                      <a:r>
                        <a:rPr sz="900" b="0">
                          <a:solidFill>
                            <a:srgbClr val="333333"/>
                          </a:solidFill>
                          <a:latin typeface="Calibri"/>
                        </a:rPr>
                        <a:t>Kırtasiye</a:t>
                      </a:r>
                    </a:p>
                  </a:txBody>
                  <a:tcPr>
                    <a:solidFill>
                      <a:srgbClr val="FFFFFF"/>
                    </a:solidFill>
                  </a:tcPr>
                </a:tc>
                <a:tc>
                  <a:txBody>
                    <a:bodyPr/>
                    <a:lstStyle/>
                    <a:p>
                      <a:pPr algn="ctr"/>
                      <a:r>
                        <a:rPr sz="900" b="0">
                          <a:solidFill>
                            <a:srgbClr val="333333"/>
                          </a:solidFill>
                          <a:latin typeface="Calibri"/>
                        </a:rPr>
                        <a:t>24</a:t>
                      </a:r>
                    </a:p>
                  </a:txBody>
                  <a:tcPr>
                    <a:solidFill>
                      <a:srgbClr val="FFFFFF"/>
                    </a:solidFill>
                  </a:tcPr>
                </a:tc>
                <a:tc>
                  <a:txBody>
                    <a:bodyPr/>
                    <a:lstStyle/>
                    <a:p>
                      <a:pPr algn="ctr"/>
                      <a:r>
                        <a:rPr sz="900" b="0">
                          <a:solidFill>
                            <a:srgbClr val="333333"/>
                          </a:solidFill>
                          <a:latin typeface="Calibri"/>
                        </a:rPr>
                        <a:t>23</a:t>
                      </a:r>
                    </a:p>
                  </a:txBody>
                  <a:tcPr>
                    <a:solidFill>
                      <a:srgbClr val="FFFFFF"/>
                    </a:solidFill>
                  </a:tcPr>
                </a:tc>
                <a:tc>
                  <a:txBody>
                    <a:bodyPr/>
                    <a:lstStyle/>
                    <a:p>
                      <a:pPr algn="ctr"/>
                      <a:r>
                        <a:rPr sz="900" b="0">
                          <a:solidFill>
                            <a:srgbClr val="333333"/>
                          </a:solidFill>
                          <a:latin typeface="Calibri"/>
                        </a:rPr>
                        <a:t>2</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22</a:t>
                      </a:r>
                    </a:p>
                  </a:txBody>
                  <a:tcPr>
                    <a:solidFill>
                      <a:srgbClr val="FFFFFF"/>
                    </a:solidFill>
                  </a:tcPr>
                </a:tc>
              </a:tr>
              <a:tr h="182880">
                <a:tc>
                  <a:txBody>
                    <a:bodyPr/>
                    <a:lstStyle/>
                    <a:p>
                      <a:pPr algn="l"/>
                      <a:r>
                        <a:rPr sz="900" b="0">
                          <a:solidFill>
                            <a:srgbClr val="333333"/>
                          </a:solidFill>
                          <a:latin typeface="Calibri"/>
                        </a:rPr>
                        <a:t>Kıyafet</a:t>
                      </a:r>
                    </a:p>
                  </a:txBody>
                  <a:tcPr>
                    <a:solidFill>
                      <a:srgbClr val="FAFAFA"/>
                    </a:solidFill>
                  </a:tcPr>
                </a:tc>
                <a:tc>
                  <a:txBody>
                    <a:bodyPr/>
                    <a:lstStyle/>
                    <a:p>
                      <a:pPr algn="ctr"/>
                      <a:r>
                        <a:rPr sz="900" b="0">
                          <a:solidFill>
                            <a:srgbClr val="333333"/>
                          </a:solidFill>
                          <a:latin typeface="Calibri"/>
                        </a:rPr>
                        <a:t>0</a:t>
                      </a:r>
                    </a:p>
                  </a:txBody>
                  <a:tcPr>
                    <a:solidFill>
                      <a:srgbClr val="FAFAFA"/>
                    </a:solidFill>
                  </a:tcPr>
                </a:tc>
                <a:tc>
                  <a:txBody>
                    <a:bodyPr/>
                    <a:lstStyle/>
                    <a:p>
                      <a:pPr algn="ctr"/>
                      <a:r>
                        <a:rPr sz="900" b="0">
                          <a:solidFill>
                            <a:srgbClr val="333333"/>
                          </a:solidFill>
                          <a:latin typeface="Calibri"/>
                        </a:rPr>
                        <a:t>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4</a:t>
                      </a:r>
                    </a:p>
                  </a:txBody>
                  <a:tcPr>
                    <a:solidFill>
                      <a:srgbClr val="FAFAFA"/>
                    </a:solidFill>
                  </a:tcPr>
                </a:tc>
              </a:tr>
              <a:tr h="182880">
                <a:tc>
                  <a:txBody>
                    <a:bodyPr/>
                    <a:lstStyle/>
                    <a:p>
                      <a:pPr algn="l"/>
                      <a:r>
                        <a:rPr sz="900" b="0">
                          <a:solidFill>
                            <a:srgbClr val="333333"/>
                          </a:solidFill>
                          <a:latin typeface="Calibri"/>
                        </a:rPr>
                        <a:t>Mal Kabul</a:t>
                      </a:r>
                    </a:p>
                  </a:txBody>
                  <a:tcPr>
                    <a:solidFill>
                      <a:srgbClr val="FFFFFF"/>
                    </a:solidFill>
                  </a:tcPr>
                </a:tc>
                <a:tc>
                  <a:txBody>
                    <a:bodyPr/>
                    <a:lstStyle/>
                    <a:p>
                      <a:pPr algn="ctr"/>
                      <a:r>
                        <a:rPr sz="900" b="0">
                          <a:solidFill>
                            <a:srgbClr val="333333"/>
                          </a:solidFill>
                          <a:latin typeface="Calibri"/>
                        </a:rPr>
                        <a:t>6</a:t>
                      </a:r>
                    </a:p>
                  </a:txBody>
                  <a:tcPr>
                    <a:solidFill>
                      <a:srgbClr val="FFFFFF"/>
                    </a:solidFill>
                  </a:tcPr>
                </a:tc>
                <a:tc>
                  <a:txBody>
                    <a:bodyPr/>
                    <a:lstStyle/>
                    <a:p>
                      <a:pPr algn="ctr"/>
                      <a:r>
                        <a:rPr sz="900" b="0">
                          <a:solidFill>
                            <a:srgbClr val="333333"/>
                          </a:solidFill>
                          <a:latin typeface="Calibri"/>
                        </a:rPr>
                        <a:t>5</a:t>
                      </a:r>
                    </a:p>
                  </a:txBody>
                  <a:tcPr>
                    <a:solidFill>
                      <a:srgbClr val="FFFFFF"/>
                    </a:solidFill>
                  </a:tcPr>
                </a:tc>
                <a:tc>
                  <a:txBody>
                    <a:bodyPr/>
                    <a:lstStyle/>
                    <a:p>
                      <a:pPr algn="ctr"/>
                      <a:r>
                        <a:rPr sz="900" b="0">
                          <a:solidFill>
                            <a:srgbClr val="333333"/>
                          </a:solidFill>
                          <a:latin typeface="Calibri"/>
                        </a:rPr>
                        <a:t>1</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1</a:t>
                      </a:r>
                    </a:p>
                  </a:txBody>
                  <a:tcPr>
                    <a:solidFill>
                      <a:srgbClr val="FFFFFF"/>
                    </a:solidFill>
                  </a:tcPr>
                </a:tc>
              </a:tr>
              <a:tr h="182880">
                <a:tc>
                  <a:txBody>
                    <a:bodyPr/>
                    <a:lstStyle/>
                    <a:p>
                      <a:pPr algn="l"/>
                      <a:r>
                        <a:rPr sz="900" b="0">
                          <a:solidFill>
                            <a:srgbClr val="333333"/>
                          </a:solidFill>
                          <a:latin typeface="Calibri"/>
                        </a:rPr>
                        <a:t>Oyuncak</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Yardımcı Kitap</a:t>
                      </a:r>
                    </a:p>
                  </a:txBody>
                  <a:tcPr>
                    <a:solidFill>
                      <a:srgbClr val="FFFFFF"/>
                    </a:solidFill>
                  </a:tcPr>
                </a:tc>
                <a:tc>
                  <a:txBody>
                    <a:bodyPr/>
                    <a:lstStyle/>
                    <a:p>
                      <a:pPr algn="ctr"/>
                      <a:r>
                        <a:rPr sz="900" b="0">
                          <a:solidFill>
                            <a:srgbClr val="333333"/>
                          </a:solidFill>
                          <a:latin typeface="Calibri"/>
                        </a:rPr>
                        <a:t>18</a:t>
                      </a:r>
                    </a:p>
                  </a:txBody>
                  <a:tcPr>
                    <a:solidFill>
                      <a:srgbClr val="FFFFFF"/>
                    </a:solidFill>
                  </a:tcPr>
                </a:tc>
                <a:tc>
                  <a:txBody>
                    <a:bodyPr/>
                    <a:lstStyle/>
                    <a:p>
                      <a:pPr algn="ctr"/>
                      <a:r>
                        <a:rPr sz="900" b="0">
                          <a:solidFill>
                            <a:srgbClr val="333333"/>
                          </a:solidFill>
                          <a:latin typeface="Calibri"/>
                        </a:rPr>
                        <a:t>21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a:t>
                      </a:r>
                    </a:p>
                  </a:txBody>
                  <a:tcPr>
                    <a:solidFill>
                      <a:srgbClr val="FFFFFF"/>
                    </a:solidFill>
                  </a:tcPr>
                </a:tc>
                <a:tc>
                  <a:txBody>
                    <a:bodyPr/>
                    <a:lstStyle/>
                    <a:p>
                      <a:pPr algn="ctr"/>
                      <a:r>
                        <a:rPr sz="900" b="0">
                          <a:solidFill>
                            <a:srgbClr val="333333"/>
                          </a:solidFill>
                          <a:latin typeface="Calibri"/>
                        </a:rPr>
                        <a:t>3</a:t>
                      </a:r>
                    </a:p>
                  </a:txBody>
                  <a:tcPr>
                    <a:solidFill>
                      <a:srgbClr val="FFFFFF"/>
                    </a:solidFill>
                  </a:tcPr>
                </a:tc>
                <a:tc>
                  <a:txBody>
                    <a:bodyPr/>
                    <a:lstStyle/>
                    <a:p>
                      <a:pPr algn="ctr"/>
                      <a:r>
                        <a:rPr sz="900" b="0">
                          <a:solidFill>
                            <a:srgbClr val="333333"/>
                          </a:solidFill>
                          <a:latin typeface="Calibri"/>
                        </a:rPr>
                        <a:t>15</a:t>
                      </a:r>
                    </a:p>
                  </a:txBody>
                  <a:tcPr>
                    <a:solidFill>
                      <a:srgbClr val="FFFFFF"/>
                    </a:solidFill>
                  </a:tcPr>
                </a:tc>
              </a:tr>
              <a:tr h="182880">
                <a:tc>
                  <a:txBody>
                    <a:bodyPr/>
                    <a:lstStyle/>
                    <a:p>
                      <a:pPr algn="l"/>
                      <a:r>
                        <a:rPr sz="900" b="1">
                          <a:solidFill>
                            <a:srgbClr val="333333"/>
                          </a:solidFill>
                          <a:latin typeface="Calibri"/>
                        </a:rPr>
                        <a:t>TOPLAM (teyit hariç)</a:t>
                      </a:r>
                    </a:p>
                  </a:txBody>
                  <a:tcPr>
                    <a:solidFill>
                      <a:srgbClr val="F2F2F2"/>
                    </a:solidFill>
                  </a:tcPr>
                </a:tc>
                <a:tc>
                  <a:txBody>
                    <a:bodyPr/>
                    <a:lstStyle/>
                    <a:p>
                      <a:pPr algn="ctr"/>
                      <a:r>
                        <a:rPr sz="900" b="1">
                          <a:solidFill>
                            <a:srgbClr val="333333"/>
                          </a:solidFill>
                          <a:latin typeface="Calibri"/>
                        </a:rPr>
                        <a:t>143</a:t>
                      </a:r>
                    </a:p>
                  </a:txBody>
                  <a:tcPr>
                    <a:solidFill>
                      <a:srgbClr val="F2F2F2"/>
                    </a:solidFill>
                  </a:tcPr>
                </a:tc>
                <a:tc>
                  <a:txBody>
                    <a:bodyPr/>
                    <a:lstStyle/>
                    <a:p>
                      <a:pPr algn="ctr"/>
                      <a:r>
                        <a:rPr sz="900" b="1">
                          <a:solidFill>
                            <a:srgbClr val="333333"/>
                          </a:solidFill>
                          <a:latin typeface="Calibri"/>
                        </a:rPr>
                        <a:t>131</a:t>
                      </a:r>
                    </a:p>
                  </a:txBody>
                  <a:tcPr>
                    <a:solidFill>
                      <a:srgbClr val="F2F2F2"/>
                    </a:solidFill>
                  </a:tcPr>
                </a:tc>
                <a:tc>
                  <a:txBody>
                    <a:bodyPr/>
                    <a:lstStyle/>
                    <a:p>
                      <a:pPr algn="ctr"/>
                      <a:r>
                        <a:rPr sz="900" b="1">
                          <a:solidFill>
                            <a:srgbClr val="333333"/>
                          </a:solidFill>
                          <a:latin typeface="Calibri"/>
                        </a:rPr>
                        <a:t>3</a:t>
                      </a:r>
                    </a:p>
                  </a:txBody>
                  <a:tcPr>
                    <a:solidFill>
                      <a:srgbClr val="F2F2F2"/>
                    </a:solidFill>
                  </a:tcPr>
                </a:tc>
                <a:tc>
                  <a:txBody>
                    <a:bodyPr/>
                    <a:lstStyle/>
                    <a:p>
                      <a:pPr algn="ctr"/>
                      <a:r>
                        <a:rPr sz="900" b="1">
                          <a:solidFill>
                            <a:srgbClr val="A6001A"/>
                          </a:solidFill>
                          <a:latin typeface="Calibri"/>
                        </a:rPr>
                        <a:t>15</a:t>
                      </a:r>
                    </a:p>
                  </a:txBody>
                  <a:tcPr>
                    <a:solidFill>
                      <a:srgbClr val="F2F2F2"/>
                    </a:solidFill>
                  </a:tcPr>
                </a:tc>
                <a:tc>
                  <a:txBody>
                    <a:bodyPr/>
                    <a:lstStyle/>
                    <a:p>
                      <a:pPr algn="ctr"/>
                      <a:r>
                        <a:rPr sz="900" b="1">
                          <a:solidFill>
                            <a:srgbClr val="333333"/>
                          </a:solidFill>
                          <a:latin typeface="Calibri"/>
                        </a:rPr>
                        <a:t>3</a:t>
                      </a:r>
                    </a:p>
                  </a:txBody>
                  <a:tcPr>
                    <a:solidFill>
                      <a:srgbClr val="F2F2F2"/>
                    </a:solidFill>
                  </a:tcPr>
                </a:tc>
                <a:tc>
                  <a:txBody>
                    <a:bodyPr/>
                    <a:lstStyle/>
                    <a:p>
                      <a:pPr algn="ctr"/>
                      <a:r>
                        <a:rPr sz="900" b="1">
                          <a:solidFill>
                            <a:srgbClr val="333333"/>
                          </a:solidFill>
                          <a:latin typeface="Calibri"/>
                        </a:rPr>
                        <a:t>58</a:t>
                      </a:r>
                    </a:p>
                  </a:txBody>
                  <a:tcPr>
                    <a:solidFill>
                      <a:srgbClr val="F2F2F2"/>
                    </a:solidFill>
                  </a:tcPr>
                </a:tc>
              </a:tr>
              <a:tr h="182880">
                <a:tc>
                  <a:txBody>
                    <a:bodyPr/>
                    <a:lstStyle/>
                    <a:p>
                      <a:pPr algn="l"/>
                      <a:r>
                        <a:rPr sz="900" b="0">
                          <a:solidFill>
                            <a:srgbClr val="333333"/>
                          </a:solidFill>
                          <a:latin typeface="Calibri"/>
                        </a:rPr>
                        <a:t>Muhasebe (teyit bekliyor)</a:t>
                      </a:r>
                    </a:p>
                  </a:txBody>
                  <a:tcPr>
                    <a:solidFill>
                      <a:srgbClr val="FFF6E6"/>
                    </a:solidFill>
                  </a:tcPr>
                </a:tc>
                <a:tc>
                  <a:txBody>
                    <a:bodyPr/>
                    <a:lstStyle/>
                    <a:p>
                      <a:pPr algn="ctr"/>
                      <a:r>
                        <a:rPr sz="900" b="0">
                          <a:solidFill>
                            <a:srgbClr val="333333"/>
                          </a:solidFill>
                          <a:latin typeface="Calibri"/>
                        </a:rPr>
                        <a:t>1</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r h="182880">
                <a:tc>
                  <a:txBody>
                    <a:bodyPr/>
                    <a:lstStyle/>
                    <a:p>
                      <a:pPr algn="l"/>
                      <a:r>
                        <a:rPr sz="900" b="0">
                          <a:solidFill>
                            <a:srgbClr val="333333"/>
                          </a:solidFill>
                          <a:latin typeface="Calibri"/>
                        </a:rPr>
                        <a:t>Oyun Alanı (teyit bekliyor)</a:t>
                      </a:r>
                    </a:p>
                  </a:txBody>
                  <a:tcPr>
                    <a:solidFill>
                      <a:srgbClr val="FFF6E6"/>
                    </a:solidFill>
                  </a:tcPr>
                </a:tc>
                <a:tc>
                  <a:txBody>
                    <a:bodyPr/>
                    <a:lstStyle/>
                    <a:p>
                      <a:pPr algn="ctr"/>
                      <a:r>
                        <a:rPr sz="900" b="0">
                          <a:solidFill>
                            <a:srgbClr val="333333"/>
                          </a:solidFill>
                          <a:latin typeface="Calibri"/>
                        </a:rPr>
                        <a:t>1</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r h="182880">
                <a:tc>
                  <a:txBody>
                    <a:bodyPr/>
                    <a:lstStyle/>
                    <a:p>
                      <a:pPr algn="l"/>
                      <a:r>
                        <a:rPr sz="900" b="0">
                          <a:solidFill>
                            <a:srgbClr val="333333"/>
                          </a:solidFill>
                          <a:latin typeface="Calibri"/>
                        </a:rPr>
                        <a:t>Etkinlik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bl>
          </a:graphicData>
        </a:graphic>
      </p:graphicFrame>
      <p:sp>
        <p:nvSpPr>
          <p:cNvPr id="4" name="Rectangle 3"/>
          <p:cNvSpPr/>
          <p:nvPr/>
        </p:nvSpPr>
        <p:spPr>
          <a:xfrm>
            <a:off x="7955279" y="1371600"/>
            <a:ext cx="3611880" cy="19659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955279" y="1371600"/>
            <a:ext cx="68580" cy="196596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lert-triangle.png"/>
          <p:cNvPicPr>
            <a:picLocks noChangeAspect="1"/>
          </p:cNvPicPr>
          <p:nvPr/>
        </p:nvPicPr>
        <p:blipFill>
          <a:blip r:embed="rId3"/>
          <a:stretch>
            <a:fillRect/>
          </a:stretch>
        </p:blipFill>
        <p:spPr>
          <a:xfrm>
            <a:off x="11091672" y="1536192"/>
            <a:ext cx="274320" cy="274320"/>
          </a:xfrm>
          <a:prstGeom prst="rect">
            <a:avLst/>
          </a:prstGeom>
        </p:spPr>
      </p:pic>
      <p:sp>
        <p:nvSpPr>
          <p:cNvPr id="7" name="TextBox 6"/>
          <p:cNvSpPr txBox="1"/>
          <p:nvPr/>
        </p:nvSpPr>
        <p:spPr>
          <a:xfrm>
            <a:off x="8183879" y="1481328"/>
            <a:ext cx="2743200" cy="292608"/>
          </a:xfrm>
          <a:prstGeom prst="rect">
            <a:avLst/>
          </a:prstGeom>
          <a:noFill/>
        </p:spPr>
        <p:txBody>
          <a:bodyPr wrap="square" anchor="t">
            <a:spAutoFit/>
          </a:bodyPr>
          <a:lstStyle/>
          <a:p>
            <a:pPr algn="l">
              <a:lnSpc>
                <a:spcPct val="100000"/>
              </a:lnSpc>
            </a:pPr>
            <a:r>
              <a:rPr sz="1000" b="1">
                <a:solidFill>
                  <a:srgbClr val="6E6E6E"/>
                </a:solidFill>
                <a:latin typeface="Calibri"/>
              </a:rPr>
              <a:t>EN BÜYÜK AÇIKLAR</a:t>
            </a:r>
          </a:p>
        </p:txBody>
      </p:sp>
      <p:sp>
        <p:nvSpPr>
          <p:cNvPr id="8" name="TextBox 7"/>
          <p:cNvSpPr txBox="1"/>
          <p:nvPr/>
        </p:nvSpPr>
        <p:spPr>
          <a:xfrm>
            <a:off x="8183879" y="1810512"/>
            <a:ext cx="3200400" cy="1463040"/>
          </a:xfrm>
          <a:prstGeom prst="rect">
            <a:avLst/>
          </a:prstGeom>
          <a:noFill/>
        </p:spPr>
        <p:txBody>
          <a:bodyPr wrap="square" anchor="t">
            <a:spAutoFit/>
          </a:bodyPr>
          <a:lstStyle/>
          <a:p>
            <a:pPr algn="l">
              <a:lnSpc>
                <a:spcPct val="135000"/>
              </a:lnSpc>
            </a:pPr>
            <a:r>
              <a:rPr sz="1200" b="1">
                <a:solidFill>
                  <a:srgbClr val="A6001A"/>
                </a:solidFill>
                <a:latin typeface="Calibri"/>
              </a:rPr>
              <a:t>Çocuk  5 kişi
Kültür  2 kişi
Mağaza  2 kişi
İdari İşler  2 kişi</a:t>
            </a:r>
          </a:p>
        </p:txBody>
      </p:sp>
      <p:sp>
        <p:nvSpPr>
          <p:cNvPr id="9" name="Rounded Rectangle 8"/>
          <p:cNvSpPr/>
          <p:nvPr/>
        </p:nvSpPr>
        <p:spPr>
          <a:xfrm>
            <a:off x="7955279" y="3520440"/>
            <a:ext cx="3611880" cy="19659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79" y="3630168"/>
            <a:ext cx="3200400" cy="1783080"/>
          </a:xfrm>
          <a:prstGeom prst="rect">
            <a:avLst/>
          </a:prstGeom>
          <a:noFill/>
        </p:spPr>
        <p:txBody>
          <a:bodyPr wrap="square" anchor="t">
            <a:spAutoFit/>
          </a:bodyPr>
          <a:lstStyle/>
          <a:p>
            <a:pPr algn="l">
              <a:lnSpc>
                <a:spcPct val="112000"/>
              </a:lnSpc>
            </a:pPr>
            <a:r>
              <a:rPr sz="1200" b="1">
                <a:solidFill>
                  <a:srgbClr val="A6001A"/>
                </a:solidFill>
                <a:latin typeface="Calibri"/>
              </a:rPr>
              <a:t>Neden mağaza toplamından büyük?</a:t>
            </a:r>
          </a:p>
          <a:p>
            <a:pPr algn="l">
              <a:lnSpc>
                <a:spcPct val="112000"/>
              </a:lnSpc>
            </a:pPr>
            <a:r>
              <a:rPr sz="1000" b="0">
                <a:solidFill>
                  <a:srgbClr val="333333"/>
                </a:solidFill>
                <a:latin typeface="Calibri"/>
              </a:rPr>
              <a:t>Bölüm bazında açık 15 kişi, mağaza bazında 14. Aradaki fark, bir mağazada bir bölümün fazlasının başka bölümün açığını maskelemesinden gelir. Gerçek ihtiyaç bölüm bazında okunur. Ayrıca normda tanımlı olduğu hâlde kayıtta hiç personeli olmayan 2 kişilik satır (Muhasebe · Oyun Alanı) açığa DAHİL EDİLMEDİ — teyit bekliyor.</a:t>
            </a:r>
          </a:p>
        </p:txBody>
      </p:sp>
      <p:sp>
        <p:nvSpPr>
          <p:cNvPr id="11" name="TextBox 10"/>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(yönetim kararı) — engelli bölüm bazında da DÜŞÜLDÜ: Kırtasiye 2 · Mal Kabul 1 · ETKİNLİK normda tanımlı olmadığı için norm dışı satır olarak en altta · Kapsam: norm tablosundaki dört mağaza (Şura yok) · Norm 11.08.2026 tarihli · Gerçek sayılar 31.08 as-of.</a:t>
            </a:r>
          </a:p>
        </p:txBody>
      </p:sp>
      <p:sp>
        <p:nvSpPr>
          <p:cNvPr id="12" name="TextBox 11"/>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Personel Maliyeti ve Ciro Oranı — Sezon (Tem)</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y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PERSONEL MALİYETİ / CİRO</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200" b="1">
                <a:solidFill>
                  <a:srgbClr val="A6001A"/>
                </a:solidFill>
                <a:latin typeface="Calibri"/>
              </a:rPr>
              <a:t>%14,30 → %12,71</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1,59 puan azaldı</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ckage.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FTE BAŞINA CİRO</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+%50,2</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316 → 475 bin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s.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FTE BAŞINA MALİYET</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000" b="1">
                <a:solidFill>
                  <a:srgbClr val="9A9A9A"/>
                </a:solidFill>
                <a:latin typeface="Calibri"/>
              </a:rPr>
              <a:t>+%33,6</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45 → 60 bin TL (ücret artışı)</a:t>
            </a:r>
          </a:p>
        </p:txBody>
      </p:sp>
      <p:graphicFrame>
        <p:nvGraphicFramePr>
          <p:cNvPr id="21" name="Table 20"/>
          <p:cNvGraphicFramePr>
            <a:graphicFrameLocks noGrp="1"/>
          </p:cNvGraphicFramePr>
          <p:nvPr/>
        </p:nvGraphicFramePr>
        <p:xfrm>
          <a:off x="548640" y="3291840"/>
          <a:ext cx="7223760" cy="1755648"/>
        </p:xfrm>
        <a:graphic>
          <a:graphicData uri="http://schemas.openxmlformats.org/drawingml/2006/table">
            <a:tbl>
              <a:tblPr firstRow="1" bandRow="1">
                <a:tableStyleId>{5C22544A-7EE6-4342-B048-85BDC9FD1C3A}</a:tableStyleId>
              </a:tblPr>
              <a:tblGrid>
                <a:gridCol w="2331720"/>
                <a:gridCol w="1234440"/>
                <a:gridCol w="1234440"/>
                <a:gridCol w="1188720"/>
                <a:gridCol w="1234440"/>
              </a:tblGrid>
              <a:tr h="219456">
                <a:tc>
                  <a:txBody>
                    <a:bodyPr/>
                    <a:lstStyle/>
                    <a:p>
                      <a:pPr algn="l"/>
                      <a:r>
                        <a:rPr sz="850" b="1">
                          <a:solidFill>
                            <a:srgbClr val="FFFFFF"/>
                          </a:solidFill>
                          <a:latin typeface="Calibri"/>
                        </a:rPr>
                        <a:t>Ölçü</a:t>
                      </a:r>
                    </a:p>
                  </a:txBody>
                  <a:tcPr>
                    <a:solidFill>
                      <a:srgbClr val="E30622"/>
                    </a:solidFill>
                  </a:tcPr>
                </a:tc>
                <a:tc>
                  <a:txBody>
                    <a:bodyPr/>
                    <a:lstStyle/>
                    <a:p>
                      <a:pPr algn="ctr"/>
                      <a:r>
                        <a:rPr sz="850" b="1">
                          <a:solidFill>
                            <a:srgbClr val="FFFFFF"/>
                          </a:solidFill>
                          <a:latin typeface="Calibri"/>
                        </a:rPr>
                        <a:t>SEZON 2025</a:t>
                      </a:r>
                    </a:p>
                  </a:txBody>
                  <a:tcPr>
                    <a:solidFill>
                      <a:srgbClr val="E30622"/>
                    </a:solidFill>
                  </a:tcPr>
                </a:tc>
                <a:tc>
                  <a:txBody>
                    <a:bodyPr/>
                    <a:lstStyle/>
                    <a:p>
                      <a:pPr algn="ctr"/>
                      <a:r>
                        <a:rPr sz="850" b="1">
                          <a:solidFill>
                            <a:srgbClr val="FFFFFF"/>
                          </a:solidFill>
                          <a:latin typeface="Calibri"/>
                        </a:rPr>
                        <a:t>SEZON 2026</a:t>
                      </a:r>
                    </a:p>
                  </a:txBody>
                  <a:tcPr>
                    <a:solidFill>
                      <a:srgbClr val="E30622"/>
                    </a:solidFill>
                  </a:tcPr>
                </a:tc>
                <a:tc>
                  <a:txBody>
                    <a:bodyPr/>
                    <a:lstStyle/>
                    <a:p>
                      <a:pPr algn="ctr"/>
                      <a:r>
                        <a:rPr sz="850" b="1">
                          <a:solidFill>
                            <a:srgbClr val="FFFFFF"/>
                          </a:solidFill>
                          <a:latin typeface="Calibri"/>
                        </a:rPr>
                        <a:t>SEZON Δ</a:t>
                      </a:r>
                    </a:p>
                  </a:txBody>
                  <a:tcPr>
                    <a:solidFill>
                      <a:srgbClr val="E30622"/>
                    </a:solidFill>
                  </a:tcPr>
                </a:tc>
                <a:tc>
                  <a:txBody>
                    <a:bodyPr/>
                    <a:lstStyle/>
                    <a:p>
                      <a:pPr algn="ctr"/>
                      <a:r>
                        <a:rPr sz="850" b="1">
                          <a:solidFill>
                            <a:srgbClr val="FFFFFF"/>
                          </a:solidFill>
                          <a:latin typeface="Calibri"/>
                        </a:rPr>
                        <a:t>Yıl geneli Δ</a:t>
                      </a:r>
                    </a:p>
                  </a:txBody>
                  <a:tcPr>
                    <a:solidFill>
                      <a:srgbClr val="E30622"/>
                    </a:solidFill>
                  </a:tcPr>
                </a:tc>
              </a:tr>
              <a:tr h="219456">
                <a:tc>
                  <a:txBody>
                    <a:bodyPr/>
                    <a:lstStyle/>
                    <a:p>
                      <a:pPr algn="l"/>
                      <a:r>
                        <a:rPr sz="950" b="0">
                          <a:solidFill>
                            <a:srgbClr val="333333"/>
                          </a:solidFill>
                          <a:latin typeface="Calibri"/>
                        </a:rPr>
                        <a:t>FTE (tam zaman eşdeğer)</a:t>
                      </a:r>
                    </a:p>
                  </a:txBody>
                  <a:tcPr>
                    <a:solidFill>
                      <a:srgbClr val="FFFFFF"/>
                    </a:solidFill>
                  </a:tcPr>
                </a:tc>
                <a:tc>
                  <a:txBody>
                    <a:bodyPr/>
                    <a:lstStyle/>
                    <a:p>
                      <a:pPr algn="ctr"/>
                      <a:r>
                        <a:rPr sz="950" b="0">
                          <a:solidFill>
                            <a:srgbClr val="333333"/>
                          </a:solidFill>
                          <a:latin typeface="Calibri"/>
                        </a:rPr>
                        <a:t>97,1</a:t>
                      </a:r>
                    </a:p>
                  </a:txBody>
                  <a:tcPr>
                    <a:solidFill>
                      <a:srgbClr val="FFFFFF"/>
                    </a:solidFill>
                  </a:tcPr>
                </a:tc>
                <a:tc>
                  <a:txBody>
                    <a:bodyPr/>
                    <a:lstStyle/>
                    <a:p>
                      <a:pPr algn="ctr"/>
                      <a:r>
                        <a:rPr sz="950" b="0">
                          <a:solidFill>
                            <a:srgbClr val="333333"/>
                          </a:solidFill>
                          <a:latin typeface="Calibri"/>
                        </a:rPr>
                        <a:t>112,4</a:t>
                      </a:r>
                    </a:p>
                  </a:txBody>
                  <a:tcPr>
                    <a:solidFill>
                      <a:srgbClr val="FFFFFF"/>
                    </a:solidFill>
                  </a:tcPr>
                </a:tc>
                <a:tc>
                  <a:txBody>
                    <a:bodyPr/>
                    <a:lstStyle/>
                    <a:p>
                      <a:pPr algn="ctr"/>
                      <a:r>
                        <a:rPr sz="950" b="1">
                          <a:solidFill>
                            <a:srgbClr val="A6001A"/>
                          </a:solidFill>
                          <a:latin typeface="Calibri"/>
                        </a:rPr>
                        <a:t>+%15,8</a:t>
                      </a:r>
                    </a:p>
                  </a:txBody>
                  <a:tcPr>
                    <a:solidFill>
                      <a:srgbClr val="FFFFFF"/>
                    </a:solidFill>
                  </a:tcPr>
                </a:tc>
                <a:tc>
                  <a:txBody>
                    <a:bodyPr/>
                    <a:lstStyle/>
                    <a:p>
                      <a:pPr algn="ctr"/>
                      <a:r>
                        <a:rPr sz="950" b="0">
                          <a:solidFill>
                            <a:srgbClr val="9A9A9A"/>
                          </a:solidFill>
                          <a:latin typeface="Calibri"/>
                        </a:rPr>
                        <a:t>+%11,3</a:t>
                      </a:r>
                    </a:p>
                  </a:txBody>
                  <a:tcPr>
                    <a:solidFill>
                      <a:srgbClr val="FFFFFF"/>
                    </a:solidFill>
                  </a:tcPr>
                </a:tc>
              </a:tr>
              <a:tr h="219456">
                <a:tc>
                  <a:txBody>
                    <a:bodyPr/>
                    <a:lstStyle/>
                    <a:p>
                      <a:pPr algn="l"/>
                      <a:r>
                        <a:rPr sz="950" b="0">
                          <a:solidFill>
                            <a:srgbClr val="333333"/>
                          </a:solidFill>
                          <a:latin typeface="Calibri"/>
                        </a:rPr>
                        <a:t>  — bordro kaydı (bilgi)</a:t>
                      </a:r>
                    </a:p>
                  </a:txBody>
                  <a:tcPr>
                    <a:solidFill>
                      <a:srgbClr val="FAFAFA"/>
                    </a:solidFill>
                  </a:tcPr>
                </a:tc>
                <a:tc>
                  <a:txBody>
                    <a:bodyPr/>
                    <a:lstStyle/>
                    <a:p>
                      <a:pPr algn="ctr"/>
                      <a:r>
                        <a:rPr sz="950" b="0">
                          <a:solidFill>
                            <a:srgbClr val="333333"/>
                          </a:solidFill>
                          <a:latin typeface="Calibri"/>
                        </a:rPr>
                        <a:t>110</a:t>
                      </a:r>
                    </a:p>
                  </a:txBody>
                  <a:tcPr>
                    <a:solidFill>
                      <a:srgbClr val="FAFAFA"/>
                    </a:solidFill>
                  </a:tcPr>
                </a:tc>
                <a:tc>
                  <a:txBody>
                    <a:bodyPr/>
                    <a:lstStyle/>
                    <a:p>
                      <a:pPr algn="ctr"/>
                      <a:r>
                        <a:rPr sz="950" b="0">
                          <a:solidFill>
                            <a:srgbClr val="333333"/>
                          </a:solidFill>
                          <a:latin typeface="Calibri"/>
                        </a:rPr>
                        <a:t>127</a:t>
                      </a:r>
                    </a:p>
                  </a:txBody>
                  <a:tcPr>
                    <a:solidFill>
                      <a:srgbClr val="FAFAFA"/>
                    </a:solidFill>
                  </a:tcPr>
                </a:tc>
                <a:tc>
                  <a:txBody>
                    <a:bodyPr/>
                    <a:lstStyle/>
                    <a:p>
                      <a:pPr algn="ctr"/>
                      <a:r>
                        <a:rPr sz="950" b="1">
                          <a:solidFill>
                            <a:srgbClr val="A6001A"/>
                          </a:solidFill>
                          <a:latin typeface="Calibri"/>
                        </a:rPr>
                        <a:t>+%15,5</a:t>
                      </a:r>
                    </a:p>
                  </a:txBody>
                  <a:tcPr>
                    <a:solidFill>
                      <a:srgbClr val="FAFAFA"/>
                    </a:solidFill>
                  </a:tcPr>
                </a:tc>
                <a:tc>
                  <a:txBody>
                    <a:bodyPr/>
                    <a:lstStyle/>
                    <a:p>
                      <a:pPr algn="ctr"/>
                      <a:r>
                        <a:rPr sz="950" b="0">
                          <a:solidFill>
                            <a:srgbClr val="9A9A9A"/>
                          </a:solidFill>
                          <a:latin typeface="Calibri"/>
                        </a:rPr>
                        <a:t>+%9,6</a:t>
                      </a:r>
                    </a:p>
                  </a:txBody>
                  <a:tcPr>
                    <a:solidFill>
                      <a:srgbClr val="FAFAFA"/>
                    </a:solidFill>
                  </a:tcPr>
                </a:tc>
              </a:tr>
              <a:tr h="219456">
                <a:tc>
                  <a:txBody>
                    <a:bodyPr/>
                    <a:lstStyle/>
                    <a:p>
                      <a:pPr algn="l"/>
                      <a:r>
                        <a:rPr sz="950" b="0">
                          <a:solidFill>
                            <a:srgbClr val="333333"/>
                          </a:solidFill>
                          <a:latin typeface="Calibri"/>
                        </a:rPr>
                        <a:t>Brüt ücret</a:t>
                      </a:r>
                    </a:p>
                  </a:txBody>
                  <a:tcPr>
                    <a:solidFill>
                      <a:srgbClr val="FFFFFF"/>
                    </a:solidFill>
                  </a:tcPr>
                </a:tc>
                <a:tc>
                  <a:txBody>
                    <a:bodyPr/>
                    <a:lstStyle/>
                    <a:p>
                      <a:pPr algn="ctr"/>
                      <a:r>
                        <a:rPr sz="950" b="0">
                          <a:solidFill>
                            <a:srgbClr val="333333"/>
                          </a:solidFill>
                          <a:latin typeface="Calibri"/>
                        </a:rPr>
                        <a:t>3,6 M TL</a:t>
                      </a:r>
                    </a:p>
                  </a:txBody>
                  <a:tcPr>
                    <a:solidFill>
                      <a:srgbClr val="FFFFFF"/>
                    </a:solidFill>
                  </a:tcPr>
                </a:tc>
                <a:tc>
                  <a:txBody>
                    <a:bodyPr/>
                    <a:lstStyle/>
                    <a:p>
                      <a:pPr algn="ctr"/>
                      <a:r>
                        <a:rPr sz="950" b="0">
                          <a:solidFill>
                            <a:srgbClr val="333333"/>
                          </a:solidFill>
                          <a:latin typeface="Calibri"/>
                        </a:rPr>
                        <a:t>5,5 M TL</a:t>
                      </a:r>
                    </a:p>
                  </a:txBody>
                  <a:tcPr>
                    <a:solidFill>
                      <a:srgbClr val="FFFFFF"/>
                    </a:solidFill>
                  </a:tcPr>
                </a:tc>
                <a:tc>
                  <a:txBody>
                    <a:bodyPr/>
                    <a:lstStyle/>
                    <a:p>
                      <a:pPr algn="ctr"/>
                      <a:r>
                        <a:rPr sz="950" b="1">
                          <a:solidFill>
                            <a:srgbClr val="A6001A"/>
                          </a:solidFill>
                          <a:latin typeface="Calibri"/>
                        </a:rPr>
                        <a:t>+%53,5</a:t>
                      </a:r>
                    </a:p>
                  </a:txBody>
                  <a:tcPr>
                    <a:solidFill>
                      <a:srgbClr val="FFFFFF"/>
                    </a:solidFill>
                  </a:tcPr>
                </a:tc>
                <a:tc>
                  <a:txBody>
                    <a:bodyPr/>
                    <a:lstStyle/>
                    <a:p>
                      <a:pPr algn="ctr"/>
                      <a:r>
                        <a:rPr sz="950" b="0">
                          <a:solidFill>
                            <a:srgbClr val="9A9A9A"/>
                          </a:solidFill>
                          <a:latin typeface="Calibri"/>
                        </a:rPr>
                        <a:t>+%50,5</a:t>
                      </a:r>
                    </a:p>
                  </a:txBody>
                  <a:tcPr>
                    <a:solidFill>
                      <a:srgbClr val="FFFFFF"/>
                    </a:solidFill>
                  </a:tcPr>
                </a:tc>
              </a:tr>
              <a:tr h="219456">
                <a:tc>
                  <a:txBody>
                    <a:bodyPr/>
                    <a:lstStyle/>
                    <a:p>
                      <a:pPr algn="l"/>
                      <a:r>
                        <a:rPr sz="950" b="0">
                          <a:solidFill>
                            <a:srgbClr val="333333"/>
                          </a:solidFill>
                          <a:latin typeface="Calibri"/>
                        </a:rPr>
                        <a:t>İşveren SGK + işsizlik</a:t>
                      </a:r>
                    </a:p>
                  </a:txBody>
                  <a:tcPr>
                    <a:solidFill>
                      <a:srgbClr val="FAFAFA"/>
                    </a:solidFill>
                  </a:tcPr>
                </a:tc>
                <a:tc>
                  <a:txBody>
                    <a:bodyPr/>
                    <a:lstStyle/>
                    <a:p>
                      <a:pPr algn="ctr"/>
                      <a:r>
                        <a:rPr sz="950" b="0">
                          <a:solidFill>
                            <a:srgbClr val="333333"/>
                          </a:solidFill>
                          <a:latin typeface="Calibri"/>
                        </a:rPr>
                        <a:t>0,8 M TL</a:t>
                      </a:r>
                    </a:p>
                  </a:txBody>
                  <a:tcPr>
                    <a:solidFill>
                      <a:srgbClr val="FAFAFA"/>
                    </a:solidFill>
                  </a:tcPr>
                </a:tc>
                <a:tc>
                  <a:txBody>
                    <a:bodyPr/>
                    <a:lstStyle/>
                    <a:p>
                      <a:pPr algn="ctr"/>
                      <a:r>
                        <a:rPr sz="950" b="0">
                          <a:solidFill>
                            <a:srgbClr val="333333"/>
                          </a:solidFill>
                          <a:latin typeface="Calibri"/>
                        </a:rPr>
                        <a:t>1,3 M TL</a:t>
                      </a:r>
                    </a:p>
                  </a:txBody>
                  <a:tcPr>
                    <a:solidFill>
                      <a:srgbClr val="FAFAFA"/>
                    </a:solidFill>
                  </a:tcPr>
                </a:tc>
                <a:tc>
                  <a:txBody>
                    <a:bodyPr/>
                    <a:lstStyle/>
                    <a:p>
                      <a:pPr algn="ctr"/>
                      <a:r>
                        <a:rPr sz="950" b="1">
                          <a:solidFill>
                            <a:srgbClr val="A6001A"/>
                          </a:solidFill>
                          <a:latin typeface="Calibri"/>
                        </a:rPr>
                        <a:t>+%59,5</a:t>
                      </a:r>
                    </a:p>
                  </a:txBody>
                  <a:tcPr>
                    <a:solidFill>
                      <a:srgbClr val="FAFAFA"/>
                    </a:solidFill>
                  </a:tcPr>
                </a:tc>
                <a:tc>
                  <a:txBody>
                    <a:bodyPr/>
                    <a:lstStyle/>
                    <a:p>
                      <a:pPr algn="ctr"/>
                      <a:r>
                        <a:rPr sz="950" b="0">
                          <a:solidFill>
                            <a:srgbClr val="9A9A9A"/>
                          </a:solidFill>
                          <a:latin typeface="Calibri"/>
                        </a:rPr>
                        <a:t>+%56,3</a:t>
                      </a:r>
                    </a:p>
                  </a:txBody>
                  <a:tcPr>
                    <a:solidFill>
                      <a:srgbClr val="FAFAFA"/>
                    </a:solidFill>
                  </a:tcPr>
                </a:tc>
              </a:tr>
              <a:tr h="219456">
                <a:tc>
                  <a:txBody>
                    <a:bodyPr/>
                    <a:lstStyle/>
                    <a:p>
                      <a:pPr algn="l"/>
                      <a:r>
                        <a:rPr sz="950" b="1">
                          <a:solidFill>
                            <a:srgbClr val="333333"/>
                          </a:solidFill>
                          <a:latin typeface="Calibri"/>
                        </a:rPr>
                        <a:t>PERSONEL MALİYETİ (brüt işveren)</a:t>
                      </a:r>
                    </a:p>
                  </a:txBody>
                  <a:tcPr>
                    <a:solidFill>
                      <a:srgbClr val="F2F2F2"/>
                    </a:solidFill>
                  </a:tcPr>
                </a:tc>
                <a:tc>
                  <a:txBody>
                    <a:bodyPr/>
                    <a:lstStyle/>
                    <a:p>
                      <a:pPr algn="ctr"/>
                      <a:r>
                        <a:rPr sz="950" b="1">
                          <a:solidFill>
                            <a:srgbClr val="333333"/>
                          </a:solidFill>
                          <a:latin typeface="Calibri"/>
                        </a:rPr>
                        <a:t>4,4 M TL</a:t>
                      </a:r>
                    </a:p>
                  </a:txBody>
                  <a:tcPr>
                    <a:solidFill>
                      <a:srgbClr val="F2F2F2"/>
                    </a:solidFill>
                  </a:tcPr>
                </a:tc>
                <a:tc>
                  <a:txBody>
                    <a:bodyPr/>
                    <a:lstStyle/>
                    <a:p>
                      <a:pPr algn="ctr"/>
                      <a:r>
                        <a:rPr sz="950" b="1">
                          <a:solidFill>
                            <a:srgbClr val="333333"/>
                          </a:solidFill>
                          <a:latin typeface="Calibri"/>
                        </a:rPr>
                        <a:t>6,8 M TL</a:t>
                      </a:r>
                    </a:p>
                  </a:txBody>
                  <a:tcPr>
                    <a:solidFill>
                      <a:srgbClr val="F2F2F2"/>
                    </a:solidFill>
                  </a:tcPr>
                </a:tc>
                <a:tc>
                  <a:txBody>
                    <a:bodyPr/>
                    <a:lstStyle/>
                    <a:p>
                      <a:pPr algn="ctr"/>
                      <a:r>
                        <a:rPr sz="950" b="1">
                          <a:solidFill>
                            <a:srgbClr val="A6001A"/>
                          </a:solidFill>
                          <a:latin typeface="Calibri"/>
                        </a:rPr>
                        <a:t>+%54,6</a:t>
                      </a:r>
                    </a:p>
                  </a:txBody>
                  <a:tcPr>
                    <a:solidFill>
                      <a:srgbClr val="F2F2F2"/>
                    </a:solidFill>
                  </a:tcPr>
                </a:tc>
                <a:tc>
                  <a:txBody>
                    <a:bodyPr/>
                    <a:lstStyle/>
                    <a:p>
                      <a:pPr algn="ctr"/>
                      <a:r>
                        <a:rPr sz="950" b="1">
                          <a:solidFill>
                            <a:srgbClr val="9A9A9A"/>
                          </a:solidFill>
                          <a:latin typeface="Calibri"/>
                        </a:rPr>
                        <a:t>+%51,5</a:t>
                      </a:r>
                    </a:p>
                  </a:txBody>
                  <a:tcPr>
                    <a:solidFill>
                      <a:srgbClr val="F2F2F2"/>
                    </a:solidFill>
                  </a:tcPr>
                </a:tc>
              </a:tr>
              <a:tr h="219456">
                <a:tc>
                  <a:txBody>
                    <a:bodyPr/>
                    <a:lstStyle/>
                    <a:p>
                      <a:pPr algn="l"/>
                      <a:r>
                        <a:rPr sz="950" b="0">
                          <a:solidFill>
                            <a:srgbClr val="333333"/>
                          </a:solidFill>
                          <a:latin typeface="Calibri"/>
                        </a:rPr>
                        <a:t>Ciro (KDV hariç)</a:t>
                      </a:r>
                    </a:p>
                  </a:txBody>
                  <a:tcPr>
                    <a:solidFill>
                      <a:srgbClr val="FAFAFA"/>
                    </a:solidFill>
                  </a:tcPr>
                </a:tc>
                <a:tc>
                  <a:txBody>
                    <a:bodyPr/>
                    <a:lstStyle/>
                    <a:p>
                      <a:pPr algn="ctr"/>
                      <a:r>
                        <a:rPr sz="950" b="0">
                          <a:solidFill>
                            <a:srgbClr val="333333"/>
                          </a:solidFill>
                          <a:latin typeface="Calibri"/>
                        </a:rPr>
                        <a:t>30,7 M TL</a:t>
                      </a:r>
                    </a:p>
                  </a:txBody>
                  <a:tcPr>
                    <a:solidFill>
                      <a:srgbClr val="FAFAFA"/>
                    </a:solidFill>
                  </a:tcPr>
                </a:tc>
                <a:tc>
                  <a:txBody>
                    <a:bodyPr/>
                    <a:lstStyle/>
                    <a:p>
                      <a:pPr algn="ctr"/>
                      <a:r>
                        <a:rPr sz="950" b="0">
                          <a:solidFill>
                            <a:srgbClr val="333333"/>
                          </a:solidFill>
                          <a:latin typeface="Calibri"/>
                        </a:rPr>
                        <a:t>53,4 M TL</a:t>
                      </a:r>
                    </a:p>
                  </a:txBody>
                  <a:tcPr>
                    <a:solidFill>
                      <a:srgbClr val="FAFAFA"/>
                    </a:solidFill>
                  </a:tcPr>
                </a:tc>
                <a:tc>
                  <a:txBody>
                    <a:bodyPr/>
                    <a:lstStyle/>
                    <a:p>
                      <a:pPr algn="ctr"/>
                      <a:r>
                        <a:rPr sz="950" b="1">
                          <a:solidFill>
                            <a:srgbClr val="A6001A"/>
                          </a:solidFill>
                          <a:latin typeface="Calibri"/>
                        </a:rPr>
                        <a:t>+%73,9</a:t>
                      </a:r>
                    </a:p>
                  </a:txBody>
                  <a:tcPr>
                    <a:solidFill>
                      <a:srgbClr val="FAFAFA"/>
                    </a:solidFill>
                  </a:tcPr>
                </a:tc>
                <a:tc>
                  <a:txBody>
                    <a:bodyPr/>
                    <a:lstStyle/>
                    <a:p>
                      <a:pPr algn="ctr"/>
                      <a:r>
                        <a:rPr sz="950" b="0">
                          <a:solidFill>
                            <a:srgbClr val="9A9A9A"/>
                          </a:solidFill>
                          <a:latin typeface="Calibri"/>
                        </a:rPr>
                        <a:t>+%60,3</a:t>
                      </a:r>
                    </a:p>
                  </a:txBody>
                  <a:tcPr>
                    <a:solidFill>
                      <a:srgbClr val="FAFAFA"/>
                    </a:solidFill>
                  </a:tcPr>
                </a:tc>
              </a:tr>
              <a:tr h="219456">
                <a:tc>
                  <a:txBody>
                    <a:bodyPr/>
                    <a:lstStyle/>
                    <a:p>
                      <a:pPr algn="l"/>
                      <a:r>
                        <a:rPr sz="950" b="1">
                          <a:solidFill>
                            <a:srgbClr val="333333"/>
                          </a:solidFill>
                          <a:latin typeface="Calibri"/>
                        </a:rPr>
                        <a:t>MALİYET / CİRO ORANI</a:t>
                      </a:r>
                    </a:p>
                  </a:txBody>
                  <a:tcPr>
                    <a:solidFill>
                      <a:srgbClr val="F2F2F2"/>
                    </a:solidFill>
                  </a:tcPr>
                </a:tc>
                <a:tc>
                  <a:txBody>
                    <a:bodyPr/>
                    <a:lstStyle/>
                    <a:p>
                      <a:pPr algn="ctr"/>
                      <a:r>
                        <a:rPr sz="950" b="1">
                          <a:solidFill>
                            <a:srgbClr val="333333"/>
                          </a:solidFill>
                          <a:latin typeface="Calibri"/>
                        </a:rPr>
                        <a:t>%14,30</a:t>
                      </a:r>
                    </a:p>
                  </a:txBody>
                  <a:tcPr>
                    <a:solidFill>
                      <a:srgbClr val="F2F2F2"/>
                    </a:solidFill>
                  </a:tcPr>
                </a:tc>
                <a:tc>
                  <a:txBody>
                    <a:bodyPr/>
                    <a:lstStyle/>
                    <a:p>
                      <a:pPr algn="ctr"/>
                      <a:r>
                        <a:rPr sz="950" b="1">
                          <a:solidFill>
                            <a:srgbClr val="333333"/>
                          </a:solidFill>
                          <a:latin typeface="Calibri"/>
                        </a:rPr>
                        <a:t>%12,71</a:t>
                      </a:r>
                    </a:p>
                  </a:txBody>
                  <a:tcPr>
                    <a:solidFill>
                      <a:srgbClr val="F2F2F2"/>
                    </a:solidFill>
                  </a:tcPr>
                </a:tc>
                <a:tc>
                  <a:txBody>
                    <a:bodyPr/>
                    <a:lstStyle/>
                    <a:p>
                      <a:pPr algn="ctr"/>
                      <a:r>
                        <a:rPr sz="950" b="1">
                          <a:solidFill>
                            <a:srgbClr val="A6001A"/>
                          </a:solidFill>
                          <a:latin typeface="Calibri"/>
                        </a:rPr>
                        <a:t>-1,59 puan</a:t>
                      </a:r>
                    </a:p>
                  </a:txBody>
                  <a:tcPr>
                    <a:solidFill>
                      <a:srgbClr val="F2F2F2"/>
                    </a:solidFill>
                  </a:tcPr>
                </a:tc>
                <a:tc>
                  <a:txBody>
                    <a:bodyPr/>
                    <a:lstStyle/>
                    <a:p>
                      <a:pPr algn="ctr"/>
                      <a:r>
                        <a:rPr sz="950" b="1">
                          <a:solidFill>
                            <a:srgbClr val="9A9A9A"/>
                          </a:solidFill>
                          <a:latin typeface="Calibri"/>
                        </a:rPr>
                        <a:t>-0,70 puan</a:t>
                      </a:r>
                    </a:p>
                  </a:txBody>
                  <a:tcPr>
                    <a:solidFill>
                      <a:srgbClr val="F2F2F2"/>
                    </a:solidFill>
                  </a:tcPr>
                </a:tc>
              </a:tr>
            </a:tbl>
          </a:graphicData>
        </a:graphic>
      </p:graphicFrame>
      <p:sp>
        <p:nvSpPr>
          <p:cNvPr id="22" name="Rounded Rectangle 21"/>
          <p:cNvSpPr/>
          <p:nvPr/>
        </p:nvSpPr>
        <p:spPr>
          <a:xfrm>
            <a:off x="7955279" y="3291840"/>
            <a:ext cx="3611880" cy="1874519"/>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79" y="3401568"/>
            <a:ext cx="3200400" cy="1737360"/>
          </a:xfrm>
          <a:prstGeom prst="rect">
            <a:avLst/>
          </a:prstGeom>
          <a:noFill/>
        </p:spPr>
        <p:txBody>
          <a:bodyPr wrap="square" anchor="t">
            <a:spAutoFit/>
          </a:bodyPr>
          <a:lstStyle/>
          <a:p>
            <a:pPr algn="l">
              <a:lnSpc>
                <a:spcPct val="110000"/>
              </a:lnSpc>
            </a:pPr>
            <a:r>
              <a:rPr sz="1250" b="1">
                <a:solidFill>
                  <a:srgbClr val="A6001A"/>
                </a:solidFill>
                <a:latin typeface="Calibri"/>
              </a:rPr>
              <a:t>Maliyet arttı, yükü azaldı</a:t>
            </a:r>
          </a:p>
          <a:p>
            <a:pPr algn="l">
              <a:lnSpc>
                <a:spcPct val="110000"/>
              </a:lnSpc>
            </a:pPr>
            <a:r>
              <a:rPr sz="950" b="0">
                <a:solidFill>
                  <a:srgbClr val="333333"/>
                </a:solidFill>
                <a:latin typeface="Calibri"/>
              </a:rPr>
              <a:t>Personel maliyeti +%54,6 artmıştır; artışın ana kaynağı FTE başına ücret (+%33,6). Buna karşın cironun içindeki personel yükü 1,59 puan gerilemiştir: %14,30 → %12,71.</a:t>
            </a:r>
          </a:p>
          <a:p>
            <a:pPr algn="l">
              <a:lnSpc>
                <a:spcPct val="110000"/>
              </a:lnSpc>
            </a:pPr>
            <a:r>
              <a:rPr sz="900" b="0">
                <a:solidFill>
                  <a:srgbClr val="9A9A9A"/>
                </a:solidFill>
                <a:latin typeface="Calibri"/>
              </a:rPr>
              <a:t>Ölçüm SEZON penceresindedir; yıl geneli (01-07 ay (Oca–Tem), her iki yıl) oranı da -0,70 puan gerilemiştir.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Ölçü birimi FTE (tam zaman eşdeğer) = SGK prim günü ÷ 30 — ay içinde yarım çalışan tam sayılmaz · Kaynak: Zirve bordro (vw_PuanBil) — maliyet = brüt toplam + işveren SGK hissesi + işveren işsizlik payı · ESAS DÖNEM: Tem · Yıl geneli referansı: 01-07 ay (Oca–Tem), her iki yıl · SEZON PENCERESİ EKSİK: Ağu ayı bordrosu henüz koşmadı (2026 yılı). Sezon karşılaştırması Tem ayı/ayları ile sınırlıdır; Ağustos bordrosu işlendiğinde bu blok kendiliğinden tamamlanır. Yıl geneli için «kümülatif» pencereye bakılır. · Kapsam: üç POS mağazası · Ciro KDV HARİÇ ve Sınav DAHİL (o satışı da aynı mağaza personeli yapar) · Kıdem karşılığı ve yan haklar hariç → maliyet alt sınır.</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Kadro Alınmasaydı: Fazla Mesai Sınırı — Sezon (Tem)</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FİİLİ · SEZON 2026</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600" b="1">
                <a:solidFill>
                  <a:srgbClr val="9A9A9A"/>
                </a:solidFill>
                <a:latin typeface="Calibri"/>
              </a:rPr>
              <a:t>84 sa/yıl</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kişi başına (sezon hızı × 12) · yıl geneli 118 sa</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triangle.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KADRO ARTMASAYDI</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465 sa/yıl</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aynı iş, 15,3 FTE eksik kapasite</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check.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YASAL ÜST SINIR</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270 sa/yıl</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4857 s.K. m.41 · kişi başına</a:t>
            </a:r>
          </a:p>
        </p:txBody>
      </p:sp>
      <p:graphicFrame>
        <p:nvGraphicFramePr>
          <p:cNvPr id="21" name="Chart 20"/>
          <p:cNvGraphicFramePr>
            <a:graphicFrameLocks noGrp="1"/>
          </p:cNvGraphicFramePr>
          <p:nvPr/>
        </p:nvGraphicFramePr>
        <p:xfrm>
          <a:off x="548640" y="3383280"/>
          <a:ext cx="5760720" cy="2057400"/>
        </p:xfrm>
        <a:graphic>
          <a:graphicData uri="http://schemas.openxmlformats.org/drawingml/2006/chart">
            <c:chart xmlns:c="http://schemas.openxmlformats.org/drawingml/2006/chart" r:id="rId6"/>
          </a:graphicData>
        </a:graphic>
      </p:graphicFrame>
      <p:sp>
        <p:nvSpPr>
          <p:cNvPr id="22" name="Rounded Rectangle 21"/>
          <p:cNvSpPr/>
          <p:nvPr/>
        </p:nvSpPr>
        <p:spPr>
          <a:xfrm>
            <a:off x="6492240" y="3383280"/>
            <a:ext cx="5074920" cy="178308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0840" y="3493008"/>
            <a:ext cx="4617720" cy="1627632"/>
          </a:xfrm>
          <a:prstGeom prst="rect">
            <a:avLst/>
          </a:prstGeom>
          <a:noFill/>
        </p:spPr>
        <p:txBody>
          <a:bodyPr wrap="square" anchor="t">
            <a:spAutoFit/>
          </a:bodyPr>
          <a:lstStyle/>
          <a:p>
            <a:pPr algn="l">
              <a:lnSpc>
                <a:spcPct val="112000"/>
              </a:lnSpc>
            </a:pPr>
            <a:r>
              <a:rPr sz="1250" b="1">
                <a:solidFill>
                  <a:srgbClr val="A6001A"/>
                </a:solidFill>
                <a:latin typeface="Calibri"/>
              </a:rPr>
              <a:t>Alım tercih değil, zorunluluktu</a:t>
            </a:r>
          </a:p>
          <a:p>
            <a:pPr algn="l">
              <a:lnSpc>
                <a:spcPct val="112000"/>
              </a:lnSpc>
            </a:pPr>
            <a:r>
              <a:rPr sz="1000" b="0">
                <a:solidFill>
                  <a:srgbClr val="333333"/>
                </a:solidFill>
                <a:latin typeface="Calibri"/>
              </a:rPr>
              <a:t>Kadro 2025 seviyesinde kalsaydı aynı işi çıkarmak için 2.984 saat ek fazla mesai gerekirdi; kişi başına yıllık 465 saate çıkardı ve 270 saatlik yasal sınır AŞILIRDI. Fiili fazla mesai 84 saat/yıl ile sınırın içindedir; ancak sınır hızında çalışan kişi-ay sayısı 1'den 2'ye yükselmiştir — kadro hâlâ dar.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Kaynak: Zirve bordro fazla mesai saatleri (fm1+fm2+fm3) · ESAS DÖNEM: Tem (sezon ayı) · yıl geneli referansı 01-07 ay (Oca–Tem), her iki yıl · Kapsam: üç POS mağazası · VARSAYIM: işgücü ihtiyacı kişi sayısıyla doğru orantılıdır ve eksik kapasite ancak fazla mesaiyle kapanır; kişi-ay başına normal çalışma 195 saat (45 sa/hafta); yıllıklandırma = sezon ayı hızı × 12 · Yasal çerçeve 4857 s.K. m.41 (yıllık 270 saat).</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Aylık Kadro ve Personel Maliyeti</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SEZON AYI KADRO (FTE)</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600" b="1">
                <a:solidFill>
                  <a:srgbClr val="E30622"/>
                </a:solidFill>
                <a:latin typeface="Calibri"/>
              </a:rPr>
              <a:t>97,1 → 112,4</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Tem · +%15,8 · bordro kaydı 110 → 127</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y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SEZON AYI MALİYET/CİRO</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400" b="1">
                <a:solidFill>
                  <a:srgbClr val="A6001A"/>
                </a:solidFill>
                <a:latin typeface="Calibri"/>
              </a:rPr>
              <a:t>%14,3 → %12,7</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Tem ayı · -1,6 puan</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orkflow.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KADRO ARTIŞI OLAN AY</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000" b="1">
                <a:solidFill>
                  <a:srgbClr val="9A9A9A"/>
                </a:solidFill>
                <a:latin typeface="Calibri"/>
              </a:rPr>
              <a:t>7 / 7</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artış tek ayda değil, tüm aylara yayılı</a:t>
            </a:r>
          </a:p>
        </p:txBody>
      </p:sp>
      <p:graphicFrame>
        <p:nvGraphicFramePr>
          <p:cNvPr id="21" name="Chart 20"/>
          <p:cNvGraphicFramePr>
            <a:graphicFrameLocks noGrp="1"/>
          </p:cNvGraphicFramePr>
          <p:nvPr/>
        </p:nvGraphicFramePr>
        <p:xfrm>
          <a:off x="548640" y="3520440"/>
          <a:ext cx="5486400" cy="1965960"/>
        </p:xfrm>
        <a:graphic>
          <a:graphicData uri="http://schemas.openxmlformats.org/drawingml/2006/chart">
            <c:chart xmlns:c="http://schemas.openxmlformats.org/drawingml/2006/chart" r:id="rId6"/>
          </a:graphicData>
        </a:graphic>
      </p:graphicFrame>
      <p:sp>
        <p:nvSpPr>
          <p:cNvPr id="22" name="TextBox 21"/>
          <p:cNvSpPr txBox="1"/>
          <p:nvPr/>
        </p:nvSpPr>
        <p:spPr>
          <a:xfrm>
            <a:off x="548640" y="3291840"/>
            <a:ext cx="5486400" cy="219456"/>
          </a:xfrm>
          <a:prstGeom prst="rect">
            <a:avLst/>
          </a:prstGeom>
          <a:noFill/>
        </p:spPr>
        <p:txBody>
          <a:bodyPr wrap="square" anchor="t">
            <a:spAutoFit/>
          </a:bodyPr>
          <a:lstStyle/>
          <a:p>
            <a:pPr algn="l">
              <a:lnSpc>
                <a:spcPct val="100000"/>
              </a:lnSpc>
            </a:pPr>
            <a:r>
              <a:rPr sz="950" b="1">
                <a:solidFill>
                  <a:srgbClr val="6E6E6E"/>
                </a:solidFill>
                <a:latin typeface="Calibri"/>
              </a:rPr>
              <a:t>Kadro — aylık FTE (tam zaman eşdeğer = prim günü ÷ 30)</a:t>
            </a:r>
          </a:p>
        </p:txBody>
      </p:sp>
      <p:graphicFrame>
        <p:nvGraphicFramePr>
          <p:cNvPr id="23" name="Chart 22"/>
          <p:cNvGraphicFramePr>
            <a:graphicFrameLocks noGrp="1"/>
          </p:cNvGraphicFramePr>
          <p:nvPr/>
        </p:nvGraphicFramePr>
        <p:xfrm>
          <a:off x="6172200" y="3520440"/>
          <a:ext cx="5394960" cy="1965960"/>
        </p:xfrm>
        <a:graphic>
          <a:graphicData uri="http://schemas.openxmlformats.org/drawingml/2006/chart">
            <c:chart xmlns:c="http://schemas.openxmlformats.org/drawingml/2006/chart" r:id="rId7"/>
          </a:graphicData>
        </a:graphic>
      </p:graphicFrame>
      <p:sp>
        <p:nvSpPr>
          <p:cNvPr id="24" name="TextBox 23"/>
          <p:cNvSpPr txBox="1"/>
          <p:nvPr/>
        </p:nvSpPr>
        <p:spPr>
          <a:xfrm>
            <a:off x="6172200" y="3291840"/>
            <a:ext cx="5394960" cy="219456"/>
          </a:xfrm>
          <a:prstGeom prst="rect">
            <a:avLst/>
          </a:prstGeom>
          <a:noFill/>
        </p:spPr>
        <p:txBody>
          <a:bodyPr wrap="square" anchor="t">
            <a:spAutoFit/>
          </a:bodyPr>
          <a:lstStyle/>
          <a:p>
            <a:pPr algn="l">
              <a:lnSpc>
                <a:spcPct val="100000"/>
              </a:lnSpc>
            </a:pPr>
            <a:r>
              <a:rPr sz="950" b="1">
                <a:solidFill>
                  <a:srgbClr val="6E6E6E"/>
                </a:solidFill>
                <a:latin typeface="Calibri"/>
              </a:rPr>
              <a:t>Personel maliyetinin ciro içindeki payı (%) — aylık</a:t>
            </a:r>
          </a:p>
        </p:txBody>
      </p:sp>
      <p:sp>
        <p:nvSpPr>
          <p:cNvPr id="25" name="TextBox 2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Ölçü FTE = SGK prim günü ÷ 30 (bordro kaydı sayılsaydı ay içinde 1 gün çalışan da 1 sayılırdı) · Kaynak: Zirve bordro (vw_PuanBil) aylık · ciro DerinSIS KDV hariç, Sınav dahil · Kapsam: üç POS mağazası · * işaretli ay = sezon ayı (01.07–31.08) · Ağustos bordrosu işlendiğinde tabloya eklenir · Bordro kaydı ve ortalama prim günü Excel «Maliyet» sayfasında.</a:t>
            </a:r>
          </a:p>
        </p:txBody>
      </p:sp>
      <p:sp>
        <p:nvSpPr>
          <p:cNvPr id="26" name="TextBox 2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Sezonluk Alım Zamanlaması</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ORTALAMA ALIM GÜNÜ</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200" b="1">
                <a:solidFill>
                  <a:srgbClr val="9A9A9A"/>
                </a:solidFill>
                <a:latin typeface="Calibri"/>
              </a:rPr>
              <a:t>2,5 gün geç</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takvim ölçüsü · 225. → 228. gün</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TEMMUZ VE ÖNCESİ ALIM</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6 → 2</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gerçek erken alım azaldı</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ckage.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1–14 AĞUSTOS İŞ HACMİ</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+%25,1</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137.483 → 171.957 adet</a:t>
            </a:r>
          </a:p>
        </p:txBody>
      </p:sp>
      <p:graphicFrame>
        <p:nvGraphicFramePr>
          <p:cNvPr id="21" name="Table 20"/>
          <p:cNvGraphicFramePr>
            <a:graphicFrameLocks noGrp="1"/>
          </p:cNvGraphicFramePr>
          <p:nvPr/>
        </p:nvGraphicFramePr>
        <p:xfrm>
          <a:off x="548640" y="3246120"/>
          <a:ext cx="11018520" cy="2011680"/>
        </p:xfrm>
        <a:graphic>
          <a:graphicData uri="http://schemas.openxmlformats.org/drawingml/2006/table">
            <a:tbl>
              <a:tblPr firstRow="1" bandRow="1">
                <a:tableStyleId>{5C22544A-7EE6-4342-B048-85BDC9FD1C3A}</a:tableStyleId>
              </a:tblPr>
              <a:tblGrid>
                <a:gridCol w="3291840"/>
                <a:gridCol w="1737360"/>
                <a:gridCol w="1737360"/>
                <a:gridCol w="4251960"/>
              </a:tblGrid>
              <a:tr h="182880">
                <a:tc>
                  <a:txBody>
                    <a:bodyPr/>
                    <a:lstStyle/>
                    <a:p>
                      <a:pPr algn="l"/>
                      <a:r>
                        <a:rPr sz="800" b="1">
                          <a:solidFill>
                            <a:srgbClr val="FFFFFF"/>
                          </a:solidFill>
                          <a:latin typeface="Calibri"/>
                        </a:rPr>
                        <a:t>Ölçü</a:t>
                      </a:r>
                    </a:p>
                  </a:txBody>
                  <a:tcPr>
                    <a:solidFill>
                      <a:srgbClr val="E30622"/>
                    </a:solidFill>
                  </a:tcPr>
                </a:tc>
                <a:tc>
                  <a:txBody>
                    <a:bodyPr/>
                    <a:lstStyle/>
                    <a:p>
                      <a:pPr algn="ctr"/>
                      <a:r>
                        <a:rPr sz="800" b="1">
                          <a:solidFill>
                            <a:srgbClr val="FFFFFF"/>
                          </a:solidFill>
                          <a:latin typeface="Calibri"/>
                        </a:rPr>
                        <a:t>2025</a:t>
                      </a:r>
                    </a:p>
                  </a:txBody>
                  <a:tcPr>
                    <a:solidFill>
                      <a:srgbClr val="E30622"/>
                    </a:solidFill>
                  </a:tcPr>
                </a:tc>
                <a:tc>
                  <a:txBody>
                    <a:bodyPr/>
                    <a:lstStyle/>
                    <a:p>
                      <a:pPr algn="ctr"/>
                      <a:r>
                        <a:rPr sz="800" b="1">
                          <a:solidFill>
                            <a:srgbClr val="FFFFFF"/>
                          </a:solidFill>
                          <a:latin typeface="Calibri"/>
                        </a:rPr>
                        <a:t>2026</a:t>
                      </a:r>
                    </a:p>
                  </a:txBody>
                  <a:tcPr>
                    <a:solidFill>
                      <a:srgbClr val="E30622"/>
                    </a:solidFill>
                  </a:tcPr>
                </a:tc>
                <a:tc>
                  <a:txBody>
                    <a:bodyPr/>
                    <a:lstStyle/>
                    <a:p>
                      <a:pPr algn="l"/>
                      <a:r>
                        <a:rPr sz="800" b="1">
                          <a:solidFill>
                            <a:srgbClr val="FFFFFF"/>
                          </a:solidFill>
                          <a:latin typeface="Calibri"/>
                        </a:rPr>
                        <a:t>Yorum</a:t>
                      </a:r>
                    </a:p>
                  </a:txBody>
                  <a:tcPr>
                    <a:solidFill>
                      <a:srgbClr val="E30622"/>
                    </a:solidFill>
                  </a:tcPr>
                </a:tc>
              </a:tr>
              <a:tr h="182880">
                <a:tc>
                  <a:txBody>
                    <a:bodyPr/>
                    <a:lstStyle/>
                    <a:p>
                      <a:pPr algn="l"/>
                      <a:r>
                        <a:rPr sz="900" b="0">
                          <a:solidFill>
                            <a:srgbClr val="333333"/>
                          </a:solidFill>
                          <a:latin typeface="Calibri"/>
                        </a:rPr>
                        <a:t>Ortalama alım günü (takvim)</a:t>
                      </a:r>
                    </a:p>
                  </a:txBody>
                  <a:tcPr>
                    <a:solidFill>
                      <a:srgbClr val="FFFFFF"/>
                    </a:solidFill>
                  </a:tcPr>
                </a:tc>
                <a:tc>
                  <a:txBody>
                    <a:bodyPr/>
                    <a:lstStyle/>
                    <a:p>
                      <a:pPr algn="ctr"/>
                      <a:r>
                        <a:rPr sz="900" b="0">
                          <a:solidFill>
                            <a:srgbClr val="333333"/>
                          </a:solidFill>
                          <a:latin typeface="Calibri"/>
                        </a:rPr>
                        <a:t>225. gün</a:t>
                      </a:r>
                    </a:p>
                  </a:txBody>
                  <a:tcPr>
                    <a:solidFill>
                      <a:srgbClr val="FFFFFF"/>
                    </a:solidFill>
                  </a:tcPr>
                </a:tc>
                <a:tc>
                  <a:txBody>
                    <a:bodyPr/>
                    <a:lstStyle/>
                    <a:p>
                      <a:pPr algn="ctr"/>
                      <a:r>
                        <a:rPr sz="900" b="1">
                          <a:solidFill>
                            <a:srgbClr val="333333"/>
                          </a:solidFill>
                          <a:latin typeface="Calibri"/>
                        </a:rPr>
                        <a:t>228. gün</a:t>
                      </a:r>
                    </a:p>
                  </a:txBody>
                  <a:tcPr>
                    <a:solidFill>
                      <a:srgbClr val="FFFFFF"/>
                    </a:solidFill>
                  </a:tcPr>
                </a:tc>
                <a:tc>
                  <a:txBody>
                    <a:bodyPr/>
                    <a:lstStyle/>
                    <a:p>
                      <a:pPr algn="l"/>
                      <a:r>
                        <a:rPr sz="900" b="0">
                          <a:solidFill>
                            <a:srgbClr val="A6001A"/>
                          </a:solidFill>
                          <a:latin typeface="Calibri"/>
                        </a:rPr>
                        <a:t>2026 alımı ortalama 2,5 gün DAHA GEÇ</a:t>
                      </a:r>
                    </a:p>
                  </a:txBody>
                  <a:tcPr>
                    <a:solidFill>
                      <a:srgbClr val="FFFFFF"/>
                    </a:solidFill>
                  </a:tcPr>
                </a:tc>
              </a:tr>
              <a:tr h="182880">
                <a:tc>
                  <a:txBody>
                    <a:bodyPr/>
                    <a:lstStyle/>
                    <a:p>
                      <a:pPr algn="l"/>
                      <a:r>
                        <a:rPr sz="900" b="0">
                          <a:solidFill>
                            <a:srgbClr val="333333"/>
                          </a:solidFill>
                          <a:latin typeface="Calibri"/>
                        </a:rPr>
                        <a:t>Temmuz ve öncesi alınan</a:t>
                      </a:r>
                    </a:p>
                  </a:txBody>
                  <a:tcPr>
                    <a:solidFill>
                      <a:srgbClr val="FAFAFA"/>
                    </a:solidFill>
                  </a:tcPr>
                </a:tc>
                <a:tc>
                  <a:txBody>
                    <a:bodyPr/>
                    <a:lstStyle/>
                    <a:p>
                      <a:pPr algn="ctr"/>
                      <a:r>
                        <a:rPr sz="900" b="0">
                          <a:solidFill>
                            <a:srgbClr val="333333"/>
                          </a:solidFill>
                          <a:latin typeface="Calibri"/>
                        </a:rPr>
                        <a:t>6 kişi</a:t>
                      </a:r>
                    </a:p>
                  </a:txBody>
                  <a:tcPr>
                    <a:solidFill>
                      <a:srgbClr val="FAFAFA"/>
                    </a:solidFill>
                  </a:tcPr>
                </a:tc>
                <a:tc>
                  <a:txBody>
                    <a:bodyPr/>
                    <a:lstStyle/>
                    <a:p>
                      <a:pPr algn="ctr"/>
                      <a:r>
                        <a:rPr sz="900" b="1">
                          <a:solidFill>
                            <a:srgbClr val="333333"/>
                          </a:solidFill>
                          <a:latin typeface="Calibri"/>
                        </a:rPr>
                        <a:t>2 kişi</a:t>
                      </a:r>
                    </a:p>
                  </a:txBody>
                  <a:tcPr>
                    <a:solidFill>
                      <a:srgbClr val="FAFAFA"/>
                    </a:solidFill>
                  </a:tcPr>
                </a:tc>
                <a:tc>
                  <a:txBody>
                    <a:bodyPr/>
                    <a:lstStyle/>
                    <a:p>
                      <a:pPr algn="l"/>
                      <a:r>
                        <a:rPr sz="900" b="0">
                          <a:solidFill>
                            <a:srgbClr val="A6001A"/>
                          </a:solidFill>
                          <a:latin typeface="Calibri"/>
                        </a:rPr>
                        <a:t>erken alım azaldı</a:t>
                      </a:r>
                    </a:p>
                  </a:txBody>
                  <a:tcPr>
                    <a:solidFill>
                      <a:srgbClr val="FAFAFA"/>
                    </a:solidFill>
                  </a:tcPr>
                </a:tc>
              </a:tr>
              <a:tr h="182880">
                <a:tc>
                  <a:txBody>
                    <a:bodyPr/>
                    <a:lstStyle/>
                    <a:p>
                      <a:pPr algn="l"/>
                      <a:r>
                        <a:rPr sz="900" b="0">
                          <a:solidFill>
                            <a:srgbClr val="333333"/>
                          </a:solidFill>
                          <a:latin typeface="Calibri"/>
                        </a:rPr>
                        <a:t>Açılıştan 45+ gün önce alınan</a:t>
                      </a:r>
                    </a:p>
                  </a:txBody>
                  <a:tcPr>
                    <a:solidFill>
                      <a:srgbClr val="FFFFFF"/>
                    </a:solidFill>
                  </a:tcPr>
                </a:tc>
                <a:tc>
                  <a:txBody>
                    <a:bodyPr/>
                    <a:lstStyle/>
                    <a:p>
                      <a:pPr algn="ctr"/>
                      <a:r>
                        <a:rPr sz="900" b="0">
                          <a:solidFill>
                            <a:srgbClr val="333333"/>
                          </a:solidFill>
                          <a:latin typeface="Calibri"/>
                        </a:rPr>
                        <a:t>4 kişi</a:t>
                      </a:r>
                    </a:p>
                  </a:txBody>
                  <a:tcPr>
                    <a:solidFill>
                      <a:srgbClr val="FFFFFF"/>
                    </a:solidFill>
                  </a:tcPr>
                </a:tc>
                <a:tc>
                  <a:txBody>
                    <a:bodyPr/>
                    <a:lstStyle/>
                    <a:p>
                      <a:pPr algn="ctr"/>
                      <a:r>
                        <a:rPr sz="900" b="1">
                          <a:solidFill>
                            <a:srgbClr val="333333"/>
                          </a:solidFill>
                          <a:latin typeface="Calibri"/>
                        </a:rPr>
                        <a:t>2 kişi</a:t>
                      </a:r>
                    </a:p>
                  </a:txBody>
                  <a:tcPr>
                    <a:solidFill>
                      <a:srgbClr val="FFFFFF"/>
                    </a:solidFill>
                  </a:tcPr>
                </a:tc>
                <a:tc>
                  <a:txBody>
                    <a:bodyPr/>
                    <a:lstStyle/>
                    <a:p>
                      <a:pPr algn="l"/>
                      <a:r>
                        <a:rPr sz="900" b="0">
                          <a:solidFill>
                            <a:srgbClr val="A6001A"/>
                          </a:solidFill>
                          <a:latin typeface="Calibri"/>
                        </a:rPr>
                        <a:t>çok erken alım azaldı</a:t>
                      </a:r>
                    </a:p>
                  </a:txBody>
                  <a:tcPr>
                    <a:solidFill>
                      <a:srgbClr val="FFFFFF"/>
                    </a:solidFill>
                  </a:tcPr>
                </a:tc>
              </a:tr>
              <a:tr h="182880">
                <a:tc>
                  <a:txBody>
                    <a:bodyPr/>
                    <a:lstStyle/>
                    <a:p>
                      <a:pPr algn="l"/>
                      <a:r>
                        <a:rPr sz="900" b="0">
                          <a:solidFill>
                            <a:srgbClr val="333333"/>
                          </a:solidFill>
                          <a:latin typeface="Calibri"/>
                        </a:rPr>
                        <a:t>1–14 Ağustos alınan</a:t>
                      </a:r>
                    </a:p>
                  </a:txBody>
                  <a:tcPr>
                    <a:solidFill>
                      <a:srgbClr val="FAFAFA"/>
                    </a:solidFill>
                  </a:tcPr>
                </a:tc>
                <a:tc>
                  <a:txBody>
                    <a:bodyPr/>
                    <a:lstStyle/>
                    <a:p>
                      <a:pPr algn="ctr"/>
                      <a:r>
                        <a:rPr sz="900" b="0">
                          <a:solidFill>
                            <a:srgbClr val="333333"/>
                          </a:solidFill>
                          <a:latin typeface="Calibri"/>
                        </a:rPr>
                        <a:t>12 kişi</a:t>
                      </a:r>
                    </a:p>
                  </a:txBody>
                  <a:tcPr>
                    <a:solidFill>
                      <a:srgbClr val="FAFAFA"/>
                    </a:solidFill>
                  </a:tcPr>
                </a:tc>
                <a:tc>
                  <a:txBody>
                    <a:bodyPr/>
                    <a:lstStyle/>
                    <a:p>
                      <a:pPr algn="ctr"/>
                      <a:r>
                        <a:rPr sz="900" b="1">
                          <a:solidFill>
                            <a:srgbClr val="333333"/>
                          </a:solidFill>
                          <a:latin typeface="Calibri"/>
                        </a:rPr>
                        <a:t>30 kişi</a:t>
                      </a:r>
                    </a:p>
                  </a:txBody>
                  <a:tcPr>
                    <a:solidFill>
                      <a:srgbClr val="FAFAFA"/>
                    </a:solidFill>
                  </a:tcPr>
                </a:tc>
                <a:tc>
                  <a:txBody>
                    <a:bodyPr/>
                    <a:lstStyle/>
                    <a:p>
                      <a:pPr algn="l"/>
                      <a:r>
                        <a:rPr sz="900" b="0">
                          <a:solidFill>
                            <a:srgbClr val="A6001A"/>
                          </a:solidFill>
                          <a:latin typeface="Calibri"/>
                        </a:rPr>
                        <a:t>artış bu iki haftada</a:t>
                      </a:r>
                    </a:p>
                  </a:txBody>
                  <a:tcPr>
                    <a:solidFill>
                      <a:srgbClr val="FAFAFA"/>
                    </a:solidFill>
                  </a:tcPr>
                </a:tc>
              </a:tr>
              <a:tr h="182880">
                <a:tc>
                  <a:txBody>
                    <a:bodyPr/>
                    <a:lstStyle/>
                    <a:p>
                      <a:pPr algn="l"/>
                      <a:r>
                        <a:rPr sz="900" b="0">
                          <a:solidFill>
                            <a:srgbClr val="333333"/>
                          </a:solidFill>
                          <a:latin typeface="Calibri"/>
                        </a:rPr>
                        <a:t>1–14 Ağustos ürün adedi</a:t>
                      </a:r>
                    </a:p>
                  </a:txBody>
                  <a:tcPr>
                    <a:solidFill>
                      <a:srgbClr val="FFFFFF"/>
                    </a:solidFill>
                  </a:tcPr>
                </a:tc>
                <a:tc>
                  <a:txBody>
                    <a:bodyPr/>
                    <a:lstStyle/>
                    <a:p>
                      <a:pPr algn="ctr"/>
                      <a:r>
                        <a:rPr sz="900" b="0">
                          <a:solidFill>
                            <a:srgbClr val="333333"/>
                          </a:solidFill>
                          <a:latin typeface="Calibri"/>
                        </a:rPr>
                        <a:t>137.483</a:t>
                      </a:r>
                    </a:p>
                  </a:txBody>
                  <a:tcPr>
                    <a:solidFill>
                      <a:srgbClr val="FFFFFF"/>
                    </a:solidFill>
                  </a:tcPr>
                </a:tc>
                <a:tc>
                  <a:txBody>
                    <a:bodyPr/>
                    <a:lstStyle/>
                    <a:p>
                      <a:pPr algn="ctr"/>
                      <a:r>
                        <a:rPr sz="900" b="1">
                          <a:solidFill>
                            <a:srgbClr val="333333"/>
                          </a:solidFill>
                          <a:latin typeface="Calibri"/>
                        </a:rPr>
                        <a:t>171.957</a:t>
                      </a:r>
                    </a:p>
                  </a:txBody>
                  <a:tcPr>
                    <a:solidFill>
                      <a:srgbClr val="FFFFFF"/>
                    </a:solidFill>
                  </a:tcPr>
                </a:tc>
                <a:tc>
                  <a:txBody>
                    <a:bodyPr/>
                    <a:lstStyle/>
                    <a:p>
                      <a:pPr algn="l"/>
                      <a:r>
                        <a:rPr sz="900" b="0">
                          <a:solidFill>
                            <a:srgbClr val="A6001A"/>
                          </a:solidFill>
                          <a:latin typeface="Calibri"/>
                        </a:rPr>
                        <a:t>iş +%25,1 büyüdü — alım işi takip etti</a:t>
                      </a:r>
                    </a:p>
                  </a:txBody>
                  <a:tcPr>
                    <a:solidFill>
                      <a:srgbClr val="FFFFFF"/>
                    </a:solidFill>
                  </a:tcPr>
                </a:tc>
              </a:tr>
              <a:tr h="182880">
                <a:tc>
                  <a:txBody>
                    <a:bodyPr/>
                    <a:lstStyle/>
                    <a:p>
                      <a:pPr algn="l"/>
                      <a:r>
                        <a:rPr sz="900" b="0">
                          <a:solidFill>
                            <a:srgbClr val="333333"/>
                          </a:solidFill>
                          <a:latin typeface="Calibri"/>
                        </a:rPr>
                        <a:t>15–31 Ağustos ürün adedi</a:t>
                      </a:r>
                    </a:p>
                  </a:txBody>
                  <a:tcPr>
                    <a:solidFill>
                      <a:srgbClr val="FAFAFA"/>
                    </a:solidFill>
                  </a:tcPr>
                </a:tc>
                <a:tc>
                  <a:txBody>
                    <a:bodyPr/>
                    <a:lstStyle/>
                    <a:p>
                      <a:pPr algn="ctr"/>
                      <a:r>
                        <a:rPr sz="900" b="0">
                          <a:solidFill>
                            <a:srgbClr val="333333"/>
                          </a:solidFill>
                          <a:latin typeface="Calibri"/>
                        </a:rPr>
                        <a:t>320.776</a:t>
                      </a:r>
                    </a:p>
                  </a:txBody>
                  <a:tcPr>
                    <a:solidFill>
                      <a:srgbClr val="FAFAFA"/>
                    </a:solidFill>
                  </a:tcPr>
                </a:tc>
                <a:tc>
                  <a:txBody>
                    <a:bodyPr/>
                    <a:lstStyle/>
                    <a:p>
                      <a:pPr algn="ctr"/>
                      <a:r>
                        <a:rPr sz="900" b="1">
                          <a:solidFill>
                            <a:srgbClr val="333333"/>
                          </a:solidFill>
                          <a:latin typeface="Calibri"/>
                        </a:rPr>
                        <a:t>311.542</a:t>
                      </a:r>
                    </a:p>
                  </a:txBody>
                  <a:tcPr>
                    <a:solidFill>
                      <a:srgbClr val="FAFAFA"/>
                    </a:solidFill>
                  </a:tcPr>
                </a:tc>
                <a:tc>
                  <a:txBody>
                    <a:bodyPr/>
                    <a:lstStyle/>
                    <a:p>
                      <a:pPr algn="l"/>
                      <a:r>
                        <a:rPr sz="900" b="0">
                          <a:solidFill>
                            <a:srgbClr val="A6001A"/>
                          </a:solidFill>
                          <a:latin typeface="Calibri"/>
                        </a:rPr>
                        <a:t>−%2,9 — dalga Eylül'e kaydı</a:t>
                      </a:r>
                    </a:p>
                  </a:txBody>
                  <a:tcPr>
                    <a:solidFill>
                      <a:srgbClr val="FAFAFA"/>
                    </a:solidFill>
                  </a:tcPr>
                </a:tc>
              </a:tr>
              <a:tr h="182880">
                <a:tc>
                  <a:txBody>
                    <a:bodyPr/>
                    <a:lstStyle/>
                    <a:p>
                      <a:pPr algn="l"/>
                      <a:r>
                        <a:rPr sz="900" b="0">
                          <a:solidFill>
                            <a:srgbClr val="333333"/>
                          </a:solidFill>
                          <a:latin typeface="Calibri"/>
                        </a:rPr>
                        <a:t>31.08'de çalışan sezonluk</a:t>
                      </a:r>
                    </a:p>
                  </a:txBody>
                  <a:tcPr>
                    <a:solidFill>
                      <a:srgbClr val="FFFFFF"/>
                    </a:solidFill>
                  </a:tcPr>
                </a:tc>
                <a:tc>
                  <a:txBody>
                    <a:bodyPr/>
                    <a:lstStyle/>
                    <a:p>
                      <a:pPr algn="ctr"/>
                      <a:r>
                        <a:rPr sz="900" b="0">
                          <a:solidFill>
                            <a:srgbClr val="333333"/>
                          </a:solidFill>
                          <a:latin typeface="Calibri"/>
                        </a:rPr>
                        <a:t>65 kişi</a:t>
                      </a:r>
                    </a:p>
                  </a:txBody>
                  <a:tcPr>
                    <a:solidFill>
                      <a:srgbClr val="FFFFFF"/>
                    </a:solidFill>
                  </a:tcPr>
                </a:tc>
                <a:tc>
                  <a:txBody>
                    <a:bodyPr/>
                    <a:lstStyle/>
                    <a:p>
                      <a:pPr algn="ctr"/>
                      <a:r>
                        <a:rPr sz="900" b="1">
                          <a:solidFill>
                            <a:srgbClr val="333333"/>
                          </a:solidFill>
                          <a:latin typeface="Calibri"/>
                        </a:rPr>
                        <a:t>62 kişi</a:t>
                      </a:r>
                    </a:p>
                  </a:txBody>
                  <a:tcPr>
                    <a:solidFill>
                      <a:srgbClr val="FFFFFF"/>
                    </a:solidFill>
                  </a:tcPr>
                </a:tc>
                <a:tc>
                  <a:txBody>
                    <a:bodyPr/>
                    <a:lstStyle/>
                    <a:p>
                      <a:pPr algn="l"/>
                      <a:r>
                        <a:rPr sz="900" b="0">
                          <a:solidFill>
                            <a:srgbClr val="A6001A"/>
                          </a:solidFill>
                          <a:latin typeface="Calibri"/>
                        </a:rPr>
                        <a:t>kesimde 3 kişi DAHA AZ</a:t>
                      </a:r>
                    </a:p>
                  </a:txBody>
                  <a:tcPr>
                    <a:solidFill>
                      <a:srgbClr val="FFFFFF"/>
                    </a:solidFill>
                  </a:tcPr>
                </a:tc>
              </a:tr>
              <a:tr h="182880">
                <a:tc>
                  <a:txBody>
                    <a:bodyPr/>
                    <a:lstStyle/>
                    <a:p>
                      <a:pPr algn="l"/>
                      <a:r>
                        <a:rPr sz="900" b="0">
                          <a:solidFill>
                            <a:srgbClr val="333333"/>
                          </a:solidFill>
                          <a:latin typeface="Calibri"/>
                        </a:rPr>
                        <a:t>   — Temmuz alımı</a:t>
                      </a:r>
                    </a:p>
                  </a:txBody>
                  <a:tcPr>
                    <a:solidFill>
                      <a:srgbClr val="FAFAFA"/>
                    </a:solidFill>
                  </a:tcPr>
                </a:tc>
                <a:tc>
                  <a:txBody>
                    <a:bodyPr/>
                    <a:lstStyle/>
                    <a:p>
                      <a:pPr algn="ctr"/>
                      <a:r>
                        <a:rPr sz="900" b="0">
                          <a:solidFill>
                            <a:srgbClr val="333333"/>
                          </a:solidFill>
                          <a:latin typeface="Calibri"/>
                        </a:rPr>
                        <a:t>4 kişi</a:t>
                      </a:r>
                    </a:p>
                  </a:txBody>
                  <a:tcPr>
                    <a:solidFill>
                      <a:srgbClr val="FAFAFA"/>
                    </a:solidFill>
                  </a:tcPr>
                </a:tc>
                <a:tc>
                  <a:txBody>
                    <a:bodyPr/>
                    <a:lstStyle/>
                    <a:p>
                      <a:pPr algn="ctr"/>
                      <a:r>
                        <a:rPr sz="900" b="1">
                          <a:solidFill>
                            <a:srgbClr val="333333"/>
                          </a:solidFill>
                          <a:latin typeface="Calibri"/>
                        </a:rPr>
                        <a:t>2 kişi</a:t>
                      </a:r>
                    </a:p>
                  </a:txBody>
                  <a:tcPr>
                    <a:solidFill>
                      <a:srgbClr val="FAFAFA"/>
                    </a:solidFill>
                  </a:tcPr>
                </a:tc>
                <a:tc>
                  <a:txBody>
                    <a:bodyPr/>
                    <a:lstStyle/>
                    <a:p>
                      <a:pPr algn="l"/>
                      <a:r>
                        <a:rPr sz="900" b="0">
                          <a:solidFill>
                            <a:srgbClr val="A6001A"/>
                          </a:solidFill>
                          <a:latin typeface="Calibri"/>
                        </a:rPr>
                        <a:t>erken alım payı düştü</a:t>
                      </a:r>
                    </a:p>
                  </a:txBody>
                  <a:tcPr>
                    <a:solidFill>
                      <a:srgbClr val="FAFAFA"/>
                    </a:solidFill>
                  </a:tcPr>
                </a:tc>
              </a:tr>
              <a:tr h="182880">
                <a:tc>
                  <a:txBody>
                    <a:bodyPr/>
                    <a:lstStyle/>
                    <a:p>
                      <a:pPr algn="l"/>
                      <a:r>
                        <a:rPr sz="900" b="0">
                          <a:solidFill>
                            <a:srgbClr val="333333"/>
                          </a:solidFill>
                          <a:latin typeface="Calibri"/>
                        </a:rPr>
                        <a:t>   — 1–14 Ağustos alımı</a:t>
                      </a:r>
                    </a:p>
                  </a:txBody>
                  <a:tcPr>
                    <a:solidFill>
                      <a:srgbClr val="FFFFFF"/>
                    </a:solidFill>
                  </a:tcPr>
                </a:tc>
                <a:tc>
                  <a:txBody>
                    <a:bodyPr/>
                    <a:lstStyle/>
                    <a:p>
                      <a:pPr algn="ctr"/>
                      <a:r>
                        <a:rPr sz="900" b="0">
                          <a:solidFill>
                            <a:srgbClr val="333333"/>
                          </a:solidFill>
                          <a:latin typeface="Calibri"/>
                        </a:rPr>
                        <a:t>12 kişi</a:t>
                      </a:r>
                    </a:p>
                  </a:txBody>
                  <a:tcPr>
                    <a:solidFill>
                      <a:srgbClr val="FFFFFF"/>
                    </a:solidFill>
                  </a:tcPr>
                </a:tc>
                <a:tc>
                  <a:txBody>
                    <a:bodyPr/>
                    <a:lstStyle/>
                    <a:p>
                      <a:pPr algn="ctr"/>
                      <a:r>
                        <a:rPr sz="900" b="1">
                          <a:solidFill>
                            <a:srgbClr val="333333"/>
                          </a:solidFill>
                          <a:latin typeface="Calibri"/>
                        </a:rPr>
                        <a:t>27 kişi</a:t>
                      </a:r>
                    </a:p>
                  </a:txBody>
                  <a:tcPr>
                    <a:solidFill>
                      <a:srgbClr val="FFFFFF"/>
                    </a:solidFill>
                  </a:tcPr>
                </a:tc>
                <a:tc>
                  <a:txBody>
                    <a:bodyPr/>
                    <a:lstStyle/>
                    <a:p>
                      <a:pPr algn="l"/>
                      <a:r>
                        <a:rPr sz="900" b="0">
                          <a:solidFill>
                            <a:srgbClr val="A6001A"/>
                          </a:solidFill>
                          <a:latin typeface="Calibri"/>
                        </a:rPr>
                        <a:t>iş +%25,1 büyüyen dönem</a:t>
                      </a:r>
                    </a:p>
                  </a:txBody>
                  <a:tcPr>
                    <a:solidFill>
                      <a:srgbClr val="FFFFFF"/>
                    </a:solidFill>
                  </a:tcPr>
                </a:tc>
              </a:tr>
              <a:tr h="182880">
                <a:tc>
                  <a:txBody>
                    <a:bodyPr/>
                    <a:lstStyle/>
                    <a:p>
                      <a:pPr algn="l"/>
                      <a:r>
                        <a:rPr sz="900" b="0">
                          <a:solidFill>
                            <a:srgbClr val="333333"/>
                          </a:solidFill>
                          <a:latin typeface="Calibri"/>
                        </a:rPr>
                        <a:t>   — 15–31 Ağustos alımı</a:t>
                      </a:r>
                    </a:p>
                  </a:txBody>
                  <a:tcPr>
                    <a:solidFill>
                      <a:srgbClr val="FAFAFA"/>
                    </a:solidFill>
                  </a:tcPr>
                </a:tc>
                <a:tc>
                  <a:txBody>
                    <a:bodyPr/>
                    <a:lstStyle/>
                    <a:p>
                      <a:pPr algn="ctr"/>
                      <a:r>
                        <a:rPr sz="900" b="0">
                          <a:solidFill>
                            <a:srgbClr val="333333"/>
                          </a:solidFill>
                          <a:latin typeface="Calibri"/>
                        </a:rPr>
                        <a:t>49 kişi</a:t>
                      </a:r>
                    </a:p>
                  </a:txBody>
                  <a:tcPr>
                    <a:solidFill>
                      <a:srgbClr val="FAFAFA"/>
                    </a:solidFill>
                  </a:tcPr>
                </a:tc>
                <a:tc>
                  <a:txBody>
                    <a:bodyPr/>
                    <a:lstStyle/>
                    <a:p>
                      <a:pPr algn="ctr"/>
                      <a:r>
                        <a:rPr sz="900" b="1">
                          <a:solidFill>
                            <a:srgbClr val="333333"/>
                          </a:solidFill>
                          <a:latin typeface="Calibri"/>
                        </a:rPr>
                        <a:t>32 kişi</a:t>
                      </a:r>
                    </a:p>
                  </a:txBody>
                  <a:tcPr>
                    <a:solidFill>
                      <a:srgbClr val="FAFAFA"/>
                    </a:solidFill>
                  </a:tcPr>
                </a:tc>
                <a:tc>
                  <a:txBody>
                    <a:bodyPr/>
                    <a:lstStyle/>
                    <a:p>
                      <a:pPr algn="l"/>
                      <a:r>
                        <a:rPr sz="900" b="0">
                          <a:solidFill>
                            <a:srgbClr val="A6001A"/>
                          </a:solidFill>
                          <a:latin typeface="Calibri"/>
                        </a:rPr>
                        <a:t>iş −%2,9 → alım azaltıldı</a:t>
                      </a:r>
                    </a:p>
                  </a:txBody>
                  <a:tcPr>
                    <a:solidFill>
                      <a:srgbClr val="FAFAFA"/>
                    </a:solidFill>
                  </a:tcPr>
                </a:tc>
              </a:tr>
            </a:tbl>
          </a:graphicData>
        </a:graphic>
      </p:graphicFrame>
      <p:sp>
        <p:nvSpPr>
          <p:cNvPr id="22" name="TextBox 21"/>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İK'da düzeltme bekleyen 1 kayıt: 2025 girişli bir sezonluk personel çıkış tarihi işlenmediği için 31.08'de aktif görünüyor; düzeltilince sezonluk 62 → 61 olur (rakamlar İK'nın resmi kaydıyla birebir tutulsun diye şimdilik düzeltilmedi) · Kapsam: beş mağaza (FSM · Özlüce · İst. Yolu · Heykel · Şura) · Kohortlar okul açılışına göre AYNI ofsette kesildi (T−12: 27.08.2025 ve 02.09.2026) · İş hacmi üç POS mağazası · ⚠ "açılıştan kaç gün önce" ölçüsü açılış 6 gün kaydığı için 2026'yı mekanik olarak erken gösterir, takvim ölçüsü esastır.</a:t>
            </a:r>
          </a:p>
        </p:txBody>
      </p:sp>
      <p:sp>
        <p:nvSpPr>
          <p:cNvPr id="23" name="TextBox 22"/>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Yöntem ve Açıklamalar</a:t>
            </a:r>
          </a:p>
        </p:txBody>
      </p:sp>
      <p:sp>
        <p:nvSpPr>
          <p:cNvPr id="3" name="Rectangle 2"/>
          <p:cNvSpPr/>
          <p:nvPr/>
        </p:nvSpPr>
        <p:spPr>
          <a:xfrm>
            <a:off x="548640" y="1325880"/>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25880"/>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check.png"/>
          <p:cNvPicPr>
            <a:picLocks noChangeAspect="1"/>
          </p:cNvPicPr>
          <p:nvPr/>
        </p:nvPicPr>
        <p:blipFill>
          <a:blip r:embed="rId3"/>
          <a:stretch>
            <a:fillRect/>
          </a:stretch>
        </p:blipFill>
        <p:spPr>
          <a:xfrm>
            <a:off x="777240" y="1453895"/>
            <a:ext cx="256032" cy="256032"/>
          </a:xfrm>
          <a:prstGeom prst="rect">
            <a:avLst/>
          </a:prstGeom>
        </p:spPr>
      </p:pic>
      <p:sp>
        <p:nvSpPr>
          <p:cNvPr id="6" name="TextBox 5"/>
          <p:cNvSpPr txBox="1"/>
          <p:nvPr/>
        </p:nvSpPr>
        <p:spPr>
          <a:xfrm>
            <a:off x="1143000" y="1389888"/>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Büyüme kurumsal kanaldan mı geldi?</a:t>
            </a:r>
          </a:p>
        </p:txBody>
      </p:sp>
      <p:sp>
        <p:nvSpPr>
          <p:cNvPr id="7" name="TextBox 6"/>
          <p:cNvSpPr txBox="1"/>
          <p:nvPr/>
        </p:nvSpPr>
        <p:spPr>
          <a:xfrm>
            <a:off x="1143000" y="1673352"/>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Tersi: Sınav Okulları küçüldü. Ocak–Ağustos cirosu 136,2 → 105,6 milyon TL (−%22,4). Mağaza tarafı +%54,9 büyüdü — büyümenin tamamı raftan geldi.</a:t>
            </a:r>
          </a:p>
        </p:txBody>
      </p:sp>
      <p:sp>
        <p:nvSpPr>
          <p:cNvPr id="8" name="Rectangle 7"/>
          <p:cNvSpPr/>
          <p:nvPr/>
        </p:nvSpPr>
        <p:spPr>
          <a:xfrm>
            <a:off x="548640" y="201929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1929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ircle-check.png"/>
          <p:cNvPicPr>
            <a:picLocks noChangeAspect="1"/>
          </p:cNvPicPr>
          <p:nvPr/>
        </p:nvPicPr>
        <p:blipFill>
          <a:blip r:embed="rId3"/>
          <a:stretch>
            <a:fillRect/>
          </a:stretch>
        </p:blipFill>
        <p:spPr>
          <a:xfrm>
            <a:off x="777240" y="2147316"/>
            <a:ext cx="256032" cy="256032"/>
          </a:xfrm>
          <a:prstGeom prst="rect">
            <a:avLst/>
          </a:prstGeom>
        </p:spPr>
      </p:pic>
      <p:sp>
        <p:nvSpPr>
          <p:cNvPr id="11" name="TextBox 10"/>
          <p:cNvSpPr txBox="1"/>
          <p:nvPr/>
        </p:nvSpPr>
        <p:spPr>
          <a:xfrm>
            <a:off x="1143000" y="208330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Ciro artışı enflasyon kaynaklı mı?</a:t>
            </a:r>
          </a:p>
        </p:txBody>
      </p:sp>
      <p:sp>
        <p:nvSpPr>
          <p:cNvPr id="12" name="TextBox 11"/>
          <p:cNvSpPr txBox="1"/>
          <p:nvPr/>
        </p:nvSpPr>
        <p:spPr>
          <a:xfrm>
            <a:off x="1143000" y="236677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Kısmen doğru: eşleşen ürünlerde fiyat endeksi +%19,8. Bu yüzden savunma ciroya değil ADEDE dayanıyor: ürün adedi +%34,9 ve adet fiyattan etkilenmez.</a:t>
            </a:r>
          </a:p>
        </p:txBody>
      </p:sp>
      <p:sp>
        <p:nvSpPr>
          <p:cNvPr id="13" name="Rectangle 12"/>
          <p:cNvSpPr/>
          <p:nvPr/>
        </p:nvSpPr>
        <p:spPr>
          <a:xfrm>
            <a:off x="548640" y="271271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71271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ircle-check.png"/>
          <p:cNvPicPr>
            <a:picLocks noChangeAspect="1"/>
          </p:cNvPicPr>
          <p:nvPr/>
        </p:nvPicPr>
        <p:blipFill>
          <a:blip r:embed="rId3"/>
          <a:stretch>
            <a:fillRect/>
          </a:stretch>
        </p:blipFill>
        <p:spPr>
          <a:xfrm>
            <a:off x="777240" y="2840736"/>
            <a:ext cx="256032" cy="256032"/>
          </a:xfrm>
          <a:prstGeom prst="rect">
            <a:avLst/>
          </a:prstGeom>
        </p:spPr>
      </p:pic>
      <p:sp>
        <p:nvSpPr>
          <p:cNvPr id="16" name="TextBox 15"/>
          <p:cNvSpPr txBox="1"/>
          <p:nvPr/>
        </p:nvSpPr>
        <p:spPr>
          <a:xfrm>
            <a:off x="1143000" y="277672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Kasa sistemi değişti, karşılaştırma geçerli mi?</a:t>
            </a:r>
          </a:p>
        </p:txBody>
      </p:sp>
      <p:sp>
        <p:nvSpPr>
          <p:cNvPr id="17" name="TextBox 16"/>
          <p:cNvSpPr txBox="1"/>
          <p:nvPr/>
        </p:nvSpPr>
        <p:spPr>
          <a:xfrm>
            <a:off x="1143000" y="306019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Bu yüzden ölçüm POS'tan değil ERP'den (DerinSIS) alındı — iki yılda da aynı kaynak, aynı belge tipi. Temmuz 2025 kasa geçişi ölçüye girmiyor.</a:t>
            </a:r>
          </a:p>
        </p:txBody>
      </p:sp>
      <p:sp>
        <p:nvSpPr>
          <p:cNvPr id="18" name="Rectangle 17"/>
          <p:cNvSpPr/>
          <p:nvPr/>
        </p:nvSpPr>
        <p:spPr>
          <a:xfrm>
            <a:off x="548640" y="340613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40613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png"/>
          <p:cNvPicPr>
            <a:picLocks noChangeAspect="1"/>
          </p:cNvPicPr>
          <p:nvPr/>
        </p:nvPicPr>
        <p:blipFill>
          <a:blip r:embed="rId3"/>
          <a:stretch>
            <a:fillRect/>
          </a:stretch>
        </p:blipFill>
        <p:spPr>
          <a:xfrm>
            <a:off x="777240" y="3534156"/>
            <a:ext cx="256032" cy="256032"/>
          </a:xfrm>
          <a:prstGeom prst="rect">
            <a:avLst/>
          </a:prstGeom>
        </p:spPr>
      </p:pic>
      <p:sp>
        <p:nvSpPr>
          <p:cNvPr id="21" name="TextBox 20"/>
          <p:cNvSpPr txBox="1"/>
          <p:nvPr/>
        </p:nvSpPr>
        <p:spPr>
          <a:xfrm>
            <a:off x="1143000" y="347014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Sezonluk personel erken mi alındı?</a:t>
            </a:r>
          </a:p>
        </p:txBody>
      </p:sp>
      <p:sp>
        <p:nvSpPr>
          <p:cNvPr id="22" name="TextBox 21"/>
          <p:cNvSpPr txBox="1"/>
          <p:nvPr/>
        </p:nvSpPr>
        <p:spPr>
          <a:xfrm>
            <a:off x="1143000" y="375361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Hayır: takvim ölçüsünde 2026 alımı ortalama 2,5 gün DAHA GEÇ; Temmuz ve öncesi alım 6 kişiden 2'ye indi. Artış 1–14 Ağustos'ta ve o iki haftada ürün adedi +%25,1 büyüdü — alım işi takip etti.</a:t>
            </a:r>
          </a:p>
        </p:txBody>
      </p:sp>
      <p:sp>
        <p:nvSpPr>
          <p:cNvPr id="23" name="Rectangle 22"/>
          <p:cNvSpPr/>
          <p:nvPr/>
        </p:nvSpPr>
        <p:spPr>
          <a:xfrm>
            <a:off x="548640" y="409955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09955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ircle-check.png"/>
          <p:cNvPicPr>
            <a:picLocks noChangeAspect="1"/>
          </p:cNvPicPr>
          <p:nvPr/>
        </p:nvPicPr>
        <p:blipFill>
          <a:blip r:embed="rId3"/>
          <a:stretch>
            <a:fillRect/>
          </a:stretch>
        </p:blipFill>
        <p:spPr>
          <a:xfrm>
            <a:off x="777240" y="4227575"/>
            <a:ext cx="256032" cy="256032"/>
          </a:xfrm>
          <a:prstGeom prst="rect">
            <a:avLst/>
          </a:prstGeom>
        </p:spPr>
      </p:pic>
      <p:sp>
        <p:nvSpPr>
          <p:cNvPr id="26" name="TextBox 25"/>
          <p:cNvSpPr txBox="1"/>
          <p:nvPr/>
        </p:nvSpPr>
        <p:spPr>
          <a:xfrm>
            <a:off x="1143000" y="416356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Personel maliyeti çok mu arttı?</a:t>
            </a:r>
          </a:p>
        </p:txBody>
      </p:sp>
      <p:sp>
        <p:nvSpPr>
          <p:cNvPr id="27" name="TextBox 26"/>
          <p:cNvSpPr txBox="1"/>
          <p:nvPr/>
        </p:nvSpPr>
        <p:spPr>
          <a:xfrm>
            <a:off x="1143000" y="444703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Sezonda maliyet +%54,6 artmıştır; artışın ana kaynağı FTE başına ücret (+%33,6), kadro artışı değil. Cironun içindeki personel yükü 1,59 puan GERİLEMİŞTİR: %14,30 → %12,71 (yıl geneli -0,70 puan).</a:t>
            </a:r>
          </a:p>
        </p:txBody>
      </p:sp>
      <p:sp>
        <p:nvSpPr>
          <p:cNvPr id="28" name="Rectangle 27"/>
          <p:cNvSpPr/>
          <p:nvPr/>
        </p:nvSpPr>
        <p:spPr>
          <a:xfrm>
            <a:off x="548640" y="479297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79297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ircle-check.png"/>
          <p:cNvPicPr>
            <a:picLocks noChangeAspect="1"/>
          </p:cNvPicPr>
          <p:nvPr/>
        </p:nvPicPr>
        <p:blipFill>
          <a:blip r:embed="rId3"/>
          <a:stretch>
            <a:fillRect/>
          </a:stretch>
        </p:blipFill>
        <p:spPr>
          <a:xfrm>
            <a:off x="777240" y="4920995"/>
            <a:ext cx="256032" cy="256032"/>
          </a:xfrm>
          <a:prstGeom prst="rect">
            <a:avLst/>
          </a:prstGeom>
        </p:spPr>
      </p:pic>
      <p:sp>
        <p:nvSpPr>
          <p:cNvPr id="31" name="TextBox 30"/>
          <p:cNvSpPr txBox="1"/>
          <p:nvPr/>
        </p:nvSpPr>
        <p:spPr>
          <a:xfrm>
            <a:off x="1143000" y="485698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Ağustos ayında ivme düşüşü var mı?</a:t>
            </a:r>
          </a:p>
        </p:txBody>
      </p:sp>
      <p:sp>
        <p:nvSpPr>
          <p:cNvPr id="32" name="TextBox 31"/>
          <p:cNvSpPr txBox="1"/>
          <p:nvPr/>
        </p:nvSpPr>
        <p:spPr>
          <a:xfrm>
            <a:off x="1143000" y="514045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Takvim etkisi: okullar 2025'te 8 Eylül, 2026'da 14 Eylül açıldı — sezon 6 gün geriye kaydı. Açılışa hizalanınca haftalık büyüme %65–79 bandında düz seyrediyor.</a:t>
            </a:r>
          </a:p>
        </p:txBody>
      </p:sp>
      <p:sp>
        <p:nvSpPr>
          <p:cNvPr id="33" name="TextBox 32"/>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Dönem: 01.01 – 31.08 (her iki yıl, kümülatif) (kurumsal/mağaza kıyası) · hizalı dönem: 01.07 – 25.08.2025 (2025) · 07.07 – 31.08.2026 (2026), her iki yıl 56 gün, okul açılışına hizalı</a:t>
            </a:r>
          </a:p>
        </p:txBody>
      </p:sp>
      <p:sp>
        <p:nvSpPr>
          <p:cNvPr id="34" name="TextBox 33"/>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İyileştirme Alanı</a:t>
            </a:r>
          </a:p>
        </p:txBody>
      </p:sp>
      <p:sp>
        <p:nvSpPr>
          <p:cNvPr id="3" name="Rectangle 2"/>
          <p:cNvSpPr/>
          <p:nvPr/>
        </p:nvSpPr>
        <p:spPr>
          <a:xfrm>
            <a:off x="548640" y="1371600"/>
            <a:ext cx="5394960" cy="22860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22860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png"/>
          <p:cNvPicPr>
            <a:picLocks noChangeAspect="1"/>
          </p:cNvPicPr>
          <p:nvPr/>
        </p:nvPicPr>
        <p:blipFill>
          <a:blip r:embed="rId3"/>
          <a:stretch>
            <a:fillRect/>
          </a:stretch>
        </p:blipFill>
        <p:spPr>
          <a:xfrm>
            <a:off x="5468112" y="1536192"/>
            <a:ext cx="274320" cy="274320"/>
          </a:xfrm>
          <a:prstGeom prst="rect">
            <a:avLst/>
          </a:prstGeom>
        </p:spPr>
      </p:pic>
      <p:sp>
        <p:nvSpPr>
          <p:cNvPr id="6" name="TextBox 5"/>
          <p:cNvSpPr txBox="1"/>
          <p:nvPr/>
        </p:nvSpPr>
        <p:spPr>
          <a:xfrm>
            <a:off x="777240" y="1481328"/>
            <a:ext cx="4572000" cy="329184"/>
          </a:xfrm>
          <a:prstGeom prst="rect">
            <a:avLst/>
          </a:prstGeom>
          <a:noFill/>
        </p:spPr>
        <p:txBody>
          <a:bodyPr wrap="square" anchor="t">
            <a:spAutoFit/>
          </a:bodyPr>
          <a:lstStyle/>
          <a:p>
            <a:pPr algn="l">
              <a:lnSpc>
                <a:spcPct val="100000"/>
              </a:lnSpc>
            </a:pPr>
            <a:r>
              <a:rPr sz="1000" b="1">
                <a:solidFill>
                  <a:srgbClr val="6E6E6E"/>
                </a:solidFill>
                <a:latin typeface="Calibri"/>
              </a:rPr>
              <a:t>KADROLU ALIMDA KALMA ORANI</a:t>
            </a:r>
          </a:p>
        </p:txBody>
      </p:sp>
      <p:sp>
        <p:nvSpPr>
          <p:cNvPr id="7" name="TextBox 6"/>
          <p:cNvSpPr txBox="1"/>
          <p:nvPr/>
        </p:nvSpPr>
        <p:spPr>
          <a:xfrm>
            <a:off x="777240" y="1847088"/>
            <a:ext cx="4937760" cy="786384"/>
          </a:xfrm>
          <a:prstGeom prst="rect">
            <a:avLst/>
          </a:prstGeom>
          <a:noFill/>
        </p:spPr>
        <p:txBody>
          <a:bodyPr wrap="square" anchor="t">
            <a:spAutoFit/>
          </a:bodyPr>
          <a:lstStyle/>
          <a:p>
            <a:pPr algn="l">
              <a:lnSpc>
                <a:spcPct val="100000"/>
              </a:lnSpc>
            </a:pPr>
            <a:r>
              <a:rPr sz="3000" b="1">
                <a:solidFill>
                  <a:srgbClr val="A6001A"/>
                </a:solidFill>
                <a:latin typeface="Calibri"/>
              </a:rPr>
              <a:t>%95,7 → %75,0</a:t>
            </a:r>
          </a:p>
        </p:txBody>
      </p:sp>
      <p:sp>
        <p:nvSpPr>
          <p:cNvPr id="8" name="TextBox 7"/>
          <p:cNvSpPr txBox="1"/>
          <p:nvPr/>
        </p:nvSpPr>
        <p:spPr>
          <a:xfrm>
            <a:off x="777240" y="2670048"/>
            <a:ext cx="4937760" cy="868680"/>
          </a:xfrm>
          <a:prstGeom prst="rect">
            <a:avLst/>
          </a:prstGeom>
          <a:noFill/>
        </p:spPr>
        <p:txBody>
          <a:bodyPr wrap="square" anchor="t">
            <a:spAutoFit/>
          </a:bodyPr>
          <a:lstStyle/>
          <a:p>
            <a:pPr algn="l">
              <a:lnSpc>
                <a:spcPct val="110000"/>
              </a:lnSpc>
            </a:pPr>
            <a:r>
              <a:rPr sz="1050" b="0">
                <a:solidFill>
                  <a:srgbClr val="333333"/>
                </a:solidFill>
                <a:latin typeface="Calibri"/>
              </a:rPr>
              <a:t>İlk 14 günü tamamlama oranı (22/23 → 21/28). 32 alımdan 10'si kesim tarihine kadar ayrılmıştır (önceki yıl 24 alımdan 2). Aynı pozisyonun iki kez doldurulması maliyet yaratmaktadır.</a:t>
            </a:r>
          </a:p>
        </p:txBody>
      </p:sp>
      <p:sp>
        <p:nvSpPr>
          <p:cNvPr id="9" name="Rectangle 8"/>
          <p:cNvSpPr/>
          <p:nvPr/>
        </p:nvSpPr>
        <p:spPr>
          <a:xfrm>
            <a:off x="6172200" y="1371600"/>
            <a:ext cx="5394960" cy="22860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371600"/>
            <a:ext cx="68580" cy="22860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4"/>
          <a:stretch>
            <a:fillRect/>
          </a:stretch>
        </p:blipFill>
        <p:spPr>
          <a:xfrm>
            <a:off x="11091672" y="1536192"/>
            <a:ext cx="274320" cy="274320"/>
          </a:xfrm>
          <a:prstGeom prst="rect">
            <a:avLst/>
          </a:prstGeom>
        </p:spPr>
      </p:pic>
      <p:sp>
        <p:nvSpPr>
          <p:cNvPr id="12" name="TextBox 11"/>
          <p:cNvSpPr txBox="1"/>
          <p:nvPr/>
        </p:nvSpPr>
        <p:spPr>
          <a:xfrm>
            <a:off x="6400800" y="1481328"/>
            <a:ext cx="4572000" cy="329184"/>
          </a:xfrm>
          <a:prstGeom prst="rect">
            <a:avLst/>
          </a:prstGeom>
          <a:noFill/>
        </p:spPr>
        <p:txBody>
          <a:bodyPr wrap="square" anchor="t">
            <a:spAutoFit/>
          </a:bodyPr>
          <a:lstStyle/>
          <a:p>
            <a:pPr algn="l">
              <a:lnSpc>
                <a:spcPct val="100000"/>
              </a:lnSpc>
            </a:pPr>
            <a:r>
              <a:rPr sz="1000" b="1">
                <a:solidFill>
                  <a:srgbClr val="6E6E6E"/>
                </a:solidFill>
                <a:latin typeface="Calibri"/>
              </a:rPr>
              <a:t>SEZONLUK KADRODA KALMA ORANI</a:t>
            </a:r>
          </a:p>
        </p:txBody>
      </p:sp>
      <p:sp>
        <p:nvSpPr>
          <p:cNvPr id="13" name="TextBox 12"/>
          <p:cNvSpPr txBox="1"/>
          <p:nvPr/>
        </p:nvSpPr>
        <p:spPr>
          <a:xfrm>
            <a:off x="6400800" y="1847088"/>
            <a:ext cx="4937760" cy="786384"/>
          </a:xfrm>
          <a:prstGeom prst="rect">
            <a:avLst/>
          </a:prstGeom>
          <a:noFill/>
        </p:spPr>
        <p:txBody>
          <a:bodyPr wrap="square" anchor="t">
            <a:spAutoFit/>
          </a:bodyPr>
          <a:lstStyle/>
          <a:p>
            <a:pPr algn="l">
              <a:lnSpc>
                <a:spcPct val="100000"/>
              </a:lnSpc>
            </a:pPr>
            <a:r>
              <a:rPr sz="3000" b="1">
                <a:solidFill>
                  <a:srgbClr val="9A9A9A"/>
                </a:solidFill>
                <a:latin typeface="Calibri"/>
              </a:rPr>
              <a:t>%93,9 → %95,1</a:t>
            </a:r>
          </a:p>
        </p:txBody>
      </p:sp>
      <p:sp>
        <p:nvSpPr>
          <p:cNvPr id="14" name="TextBox 13"/>
          <p:cNvSpPr txBox="1"/>
          <p:nvPr/>
        </p:nvSpPr>
        <p:spPr>
          <a:xfrm>
            <a:off x="6400800" y="2670048"/>
            <a:ext cx="4937760" cy="868680"/>
          </a:xfrm>
          <a:prstGeom prst="rect">
            <a:avLst/>
          </a:prstGeom>
          <a:noFill/>
        </p:spPr>
        <p:txBody>
          <a:bodyPr wrap="square" anchor="t">
            <a:spAutoFit/>
          </a:bodyPr>
          <a:lstStyle/>
          <a:p>
            <a:pPr algn="l">
              <a:lnSpc>
                <a:spcPct val="110000"/>
              </a:lnSpc>
            </a:pPr>
            <a:r>
              <a:rPr sz="1050" b="0">
                <a:solidFill>
                  <a:srgbClr val="333333"/>
                </a:solidFill>
                <a:latin typeface="Calibri"/>
              </a:rPr>
              <a:t>Sezonluk kadroda kalma oranı yükselmiştir (46/49 → 39/41). Sorun sezonluk alımda değil, kadrolu alımın ilk haftasındadır.</a:t>
            </a:r>
          </a:p>
        </p:txBody>
      </p:sp>
      <p:sp>
        <p:nvSpPr>
          <p:cNvPr id="15" name="Rounded Rectangle 14"/>
          <p:cNvSpPr/>
          <p:nvPr/>
        </p:nvSpPr>
        <p:spPr>
          <a:xfrm>
            <a:off x="548640" y="3840480"/>
            <a:ext cx="11018520" cy="16002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77639"/>
            <a:ext cx="10515600" cy="1371600"/>
          </a:xfrm>
          <a:prstGeom prst="rect">
            <a:avLst/>
          </a:prstGeom>
          <a:noFill/>
        </p:spPr>
        <p:txBody>
          <a:bodyPr wrap="square" anchor="t">
            <a:spAutoFit/>
          </a:bodyPr>
          <a:lstStyle/>
          <a:p>
            <a:pPr algn="l">
              <a:lnSpc>
                <a:spcPct val="125000"/>
              </a:lnSpc>
            </a:pPr>
            <a:r>
              <a:rPr sz="1350" b="1">
                <a:solidFill>
                  <a:srgbClr val="A6001A"/>
                </a:solidFill>
                <a:latin typeface="Calibri"/>
              </a:rPr>
              <a:t>Planlanan Aksiyonlar</a:t>
            </a:r>
          </a:p>
          <a:p>
            <a:pPr algn="l">
              <a:lnSpc>
                <a:spcPct val="125000"/>
              </a:lnSpc>
            </a:pPr>
            <a:r>
              <a:rPr sz="1200" b="0">
                <a:solidFill>
                  <a:srgbClr val="333333"/>
                </a:solidFill>
                <a:latin typeface="Calibri"/>
              </a:rPr>
              <a:t>• En bozuk üç nokta: Özlüce, Heykel, Merkez Depo → ilk hafta karşılama protokolü.
• İdari İşler pozisyonunda ücret–vardiya revizyonu.
• Ölçüt: gelecek sezon Eylül öncesi kayıp %20'den %12'ye (2025 seviyesi).</a:t>
            </a:r>
          </a:p>
        </p:txBody>
      </p:sp>
      <p:sp>
        <p:nvSpPr>
          <p:cNvPr id="17" name="TextBox 1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 Tutunma ölçümü mağaza kadrosu üzerinden yapılmıştır.</a:t>
            </a:r>
          </a:p>
        </p:txBody>
      </p:sp>
      <p:sp>
        <p:nvSpPr>
          <p:cNvPr id="18" name="TextBox 1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ctrTitle"/>
          </p:nvPr>
        </p:nvSpPr>
        <p:spPr/>
        <p:txBody>
          <a:bodyPr/>
          <a:lstStyle/>
          <a:p>
            <a:r>
              <a:t>Sonuç</a:t>
            </a:r>
          </a:p>
        </p:txBody>
      </p:sp>
      <p:sp>
        <p:nvSpPr>
          <p:cNvPr id="3" name="Subtitle 2"/>
          <p:cNvSpPr>
            <a:spLocks noGrp="1"/>
          </p:cNvSpPr>
          <p:nvPr>
            <p:ph type="subTitle" idx="1"/>
          </p:nvPr>
        </p:nvSpPr>
        <p:spPr/>
        <p:txBody>
          <a:bodyPr/>
          <a:lstStyle/>
          <a:p>
            <a:r>
              <a:t>Norma göre -28 kişi · kadrolu −4 · ürün adedi +%34,9 · personel başına iş +%20,5</a:t>
            </a:r>
          </a:p>
        </p:txBody>
      </p:sp>
    </p:spTree>
  </p:cSld>
  <p:clrMapOvr>
    <a:masterClrMapping/>
  </p:clrMapOvr>
</p:sld>
</file>

<file path=ppt/theme/theme1.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10211</TotalTime>
  <Words>12</Words>
  <Application>Microsoft Office PowerPoint</Application>
  <PresentationFormat>Geniş ekran</PresentationFormat>
  <Paragraphs>6</Paragraphs>
  <Slides>3</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3</vt:i4>
      </vt:variant>
    </vt:vector>
  </HeadingPairs>
  <TitlesOfParts>
    <vt:vector size="7" baseType="lpstr">
      <vt:lpstr>Arial</vt:lpstr>
      <vt:lpstr>Calibri</vt:lpstr>
      <vt:lpstr>Calibri Light</vt:lpstr>
      <vt:lpstr>Office Teması</vt:lpstr>
      <vt:lpstr>PowerPoint Sunusu</vt:lpstr>
      <vt:lpstr>PowerPoint Sunusu</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creator>Microsoft Office User</dc:creator>
  <cp:lastModifiedBy>Fikri EREN</cp:lastModifiedBy>
  <cp:revision>38</cp:revision>
  <dcterms:created xsi:type="dcterms:W3CDTF">2021-08-17T14:49:48Z</dcterms:created>
  <dcterms:modified xsi:type="dcterms:W3CDTF">2026-06-03T21:08:53Z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2026-04-28T14:42:08Z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ce838670-1954-4442-b940-eac0d507ddc2</vt:lpwstr>
  </property>
  <property fmtid="{D5CDD505-2E9C-101B-9397-08002B2CF9AE}" pid="7" name="MSIP_Label_defa4170-0d19-0005-0004-bc88714345d2_ActionId">
    <vt:lpwstr>6985f007-4c57-476a-a6d9-44ba75cd90f5</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